
<file path=[Content_Types].xml><?xml version="1.0" encoding="utf-8"?>
<ns0:Types xmlns:ns0="http://schemas.openxmlformats.org/package/2006/content-types">
  <ns0:Default Extension="fntdata" ContentType="application/x-fontdata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heme/theme1.xml" ContentType="application/vnd.openxmlformats-officedocument.theme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</ns0: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 xmlns:ns1="http://schemas.openxmlformats.org/officeDocument/2006/relationships" embedTrueTypeFonts="1">
  <ns0:sldMasterIdLst>
    <ns0:sldMasterId id="2147483648" ns1:id="rId2"/>
  </ns0:sldMasterIdLst>
  <ns0:sldIdLst>
    <ns0:sldId id="256" ns1:id="rId3"/>
    <ns0:sldId id="257" ns1:id="rId4"/>
    <ns0:sldId id="258" ns1:id="rId5"/>
    <ns0:sldId id="259" ns1:id="rId6"/>
    <ns0:sldId id="260" ns1:id="rId7"/>
    <ns0:sldId id="261" ns1:id="rId8"/>
    <ns0:sldId id="262" ns1:id="rId9"/>
    <ns0:sldId id="263" ns1:id="rId10"/>
    <ns0:sldId id="264" ns1:id="rId11"/>
    <ns0:sldId id="265" ns1:id="rId12"/>
    <ns0:sldId id="266" ns1:id="rId13"/>
    <ns0:sldId id="267" ns1:id="rId14"/>
    <ns0:sldId id="268" ns1:id="rId15"/>
    <ns0:sldId id="269" ns1:id="rId16"/>
    <ns0:sldId id="270" ns1:id="rId17"/>
    <ns0:sldId id="271" ns1:id="rId18"/>
    <ns0:sldId id="272" ns1:id="rId19"/>
    <ns0:sldId id="273" ns1:id="rId20"/>
  </ns0:sldIdLst>
  <ns0:sldSz cx="12192000" cy="6858000"/>
  <ns0:notesSz cx="7772400" cy="10058400"/>
  <ns0:embeddedFontLst>
    <ns0:embeddedFont>
      <ns0:font typeface="Noto Sans SC"/>
      <ns0:regular ns1:id="rId22"/>
      <ns0:bold ns1:id="rId23"/>
    </ns0:embeddedFont>
  </ns0:embeddedFontLst>
  <ns0:notesMasterIdLst>
    <ns0:notesMasterId ns1:id="rId_nm1"/>
  </ns0:notesMasterId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theme" Target="theme/theme1.xml" /><ns0:Relationship Id="rId2" Type="http://schemas.openxmlformats.org/officeDocument/2006/relationships/slideMaster" Target="slideMasters/slideMaster1.xml" /><ns0:Relationship Id="rId3" Type="http://schemas.openxmlformats.org/officeDocument/2006/relationships/slide" Target="slides/slide1.xml" /><ns0:Relationship Id="rId4" Type="http://schemas.openxmlformats.org/officeDocument/2006/relationships/slide" Target="slides/slide2.xml" /><ns0:Relationship Id="rId5" Type="http://schemas.openxmlformats.org/officeDocument/2006/relationships/slide" Target="slides/slide3.xml" /><ns0:Relationship Id="rId6" Type="http://schemas.openxmlformats.org/officeDocument/2006/relationships/slide" Target="slides/slide4.xml" /><ns0:Relationship Id="rId7" Type="http://schemas.openxmlformats.org/officeDocument/2006/relationships/slide" Target="slides/slide5.xml" /><ns0:Relationship Id="rId8" Type="http://schemas.openxmlformats.org/officeDocument/2006/relationships/slide" Target="slides/slide6.xml" /><ns0:Relationship Id="rId9" Type="http://schemas.openxmlformats.org/officeDocument/2006/relationships/slide" Target="slides/slide7.xml" /><ns0:Relationship Id="rId10" Type="http://schemas.openxmlformats.org/officeDocument/2006/relationships/slide" Target="slides/slide8.xml" /><ns0:Relationship Id="rId11" Type="http://schemas.openxmlformats.org/officeDocument/2006/relationships/slide" Target="slides/slide9.xml" /><ns0:Relationship Id="rId12" Type="http://schemas.openxmlformats.org/officeDocument/2006/relationships/slide" Target="slides/slide10.xml" /><ns0:Relationship Id="rId13" Type="http://schemas.openxmlformats.org/officeDocument/2006/relationships/slide" Target="slides/slide11.xml" /><ns0:Relationship Id="rId14" Type="http://schemas.openxmlformats.org/officeDocument/2006/relationships/slide" Target="slides/slide12.xml" /><ns0:Relationship Id="rId15" Type="http://schemas.openxmlformats.org/officeDocument/2006/relationships/slide" Target="slides/slide13.xml" /><ns0:Relationship Id="rId16" Type="http://schemas.openxmlformats.org/officeDocument/2006/relationships/slide" Target="slides/slide14.xml" /><ns0:Relationship Id="rId17" Type="http://schemas.openxmlformats.org/officeDocument/2006/relationships/slide" Target="slides/slide15.xml" /><ns0:Relationship Id="rId18" Type="http://schemas.openxmlformats.org/officeDocument/2006/relationships/slide" Target="slides/slide16.xml" /><ns0:Relationship Id="rId19" Type="http://schemas.openxmlformats.org/officeDocument/2006/relationships/slide" Target="slides/slide17.xml" /><ns0:Relationship Id="rId20" Type="http://schemas.openxmlformats.org/officeDocument/2006/relationships/slide" Target="slides/slide18.xml" /><ns0:Relationship Id="rId21" Type="http://schemas.openxmlformats.org/officeDocument/2006/relationships/presProps" Target="presProps.xml" /><ns0:Relationship Id="rId22" Type="http://schemas.openxmlformats.org/officeDocument/2006/relationships/font" Target="fonts/font1.fntdata" /><ns0:Relationship Id="rId23" Type="http://schemas.openxmlformats.org/officeDocument/2006/relationships/font" Target="fonts/font2.fntdata" /><Relationship Id="rId_nm1" Type="http://schemas.openxmlformats.org/officeDocument/2006/relationships/notesMaster" Target="notesMasters/notesMaster1.xml" /></ns0: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stStyle/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  <Relationship Id="rId2" Type="http://schemas.openxmlformats.org/officeDocument/2006/relationships/notesMaster" Target="../notesMasters/notesMaster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  <Relationship Id="rId2" Type="http://schemas.openxmlformats.org/officeDocument/2006/relationships/notesMaster" Target="../notesMasters/notesMaster1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  <Relationship Id="rId2" Type="http://schemas.openxmlformats.org/officeDocument/2006/relationships/notesMaster" Target="../notesMasters/notesMaster1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  <Relationship Id="rId2" Type="http://schemas.openxmlformats.org/officeDocument/2006/relationships/notesMaster" Target="../notesMasters/notesMaster1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  <Relationship Id="rId2" Type="http://schemas.openxmlformats.org/officeDocument/2006/relationships/notesMaster" Target="../notesMasters/notesMaster1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  <Relationship Id="rId2" Type="http://schemas.openxmlformats.org/officeDocument/2006/relationships/notesMaster" Target="../notesMasters/notesMaster1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  <Relationship Id="rId2" Type="http://schemas.openxmlformats.org/officeDocument/2006/relationships/notesMaster" Target="../notesMasters/notesMaster1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  <Relationship Id="rId2" Type="http://schemas.openxmlformats.org/officeDocument/2006/relationships/notesMaster" Target="../notesMasters/notesMaster1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  <Relationship Id="rId2" Type="http://schemas.openxmlformats.org/officeDocument/2006/relationships/notesMaster" Target="../notesMasters/notesMaster1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  <Relationship Id="rId2" Type="http://schemas.openxmlformats.org/officeDocument/2006/relationships/notesMaster" Target="../notesMasters/notesMaster1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  <Relationship Id="rId2" Type="http://schemas.openxmlformats.org/officeDocument/2006/relationships/notesMaster" Target="../notesMasters/notesMaster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  <Relationship Id="rId2" Type="http://schemas.openxmlformats.org/officeDocument/2006/relationships/notesMaster" Target="../notesMasters/notesMaster1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  <Relationship Id="rId2" Type="http://schemas.openxmlformats.org/officeDocument/2006/relationships/notesMaster" Target="../notesMasters/notesMaster1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  <Relationship Id="rId2" Type="http://schemas.openxmlformats.org/officeDocument/2006/relationships/notesMaster" Target="../notesMasters/notesMaster1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  <Relationship Id="rId2" Type="http://schemas.openxmlformats.org/officeDocument/2006/relationships/notesMaster" Target="../notesMasters/notesMaster1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  <Relationship Id="rId2" Type="http://schemas.openxmlformats.org/officeDocument/2006/relationships/notesMaster" Target="../notesMasters/notesMaster1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  <Relationship Id="rId2" Type="http://schemas.openxmlformats.org/officeDocument/2006/relationships/notesMaster" Target="../notesMasters/notesMaster1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  <Relationship Id="rId2" Type="http://schemas.openxmlformats.org/officeDocument/2006/relationships/notesMaster" Target="../notesMasters/notesMaster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今天汇报分两部分：第一部分是用真实trace做的现象确证实验——证明任务漂移确实存在，并系统性地破坏频率缓存；第二部分是在此基础上提出的FineMoE改造方向。整个故事有一条实证驱动的主线，先把问题说死，再谈怎么解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先对齐基本概念。MoE的核心思路是稀疏激活——每个token只走少数几个专家，其余不参与计算。offload是目前主流部署方式。ρ这个无量纲比值：ρ大意味着搬运一次专家的代价远超计算，缓存命中率的重要性被放大很多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PbC的结论——路由有规律——我们并不整体否定，G和T在单一任务内确实成立，我们自己的实验也复现了这两点。我们的切入点更精准：PbC的评测里不同任务的trace混在一起，它没有问「如果任务变了会怎样」。这是它的盲区，也是我们的楔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任务漂移不是我们人为构造的假设，而是数据里就存在的现象。Jaccard是最直观的集合相似度：两个集合完全一样=1，完全不重叠=0。我们测的是做代码题时最常用的专家，和做考试题时最常用的专家，有多大交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这是整个论文最硬的一块地基，完全独立于缓存仿真。顺带说一句：余弦相似度没有发现这个差异，但集合Jaccard发现了；这说明了为什么要用集合而不是向量度量。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这里做一个清晰的区分：PbC说的「有规律」在单一任务内我们也复现了，不是它错了。我们证明的是它这个结论适用的边界——一旦换任务，专家集合的稳定性就消失了。我们把这个边界量化出来，这才是我们对这篇论文的批判性贡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ρ可以理解为「搬错一个专家有多贵」。ρ=65意味着一次专家缺失的等待时间是它计算时间的65倍。SSD更极端：ρ可以到300。常驻显存的机器上缓存几乎无所谓，但offload场景里缓存策略是性能命脉。真机实测给了我们一个坚实的物理锚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1.33–2.05这个范围是用实测miss率差和真机ρ，通过延迟代价模型算出来的。两个口径分开报是诚实的——「检索命中错任务」是最坏情况代理，「在线LFU被毒化」是实际运行时发生的事。α扫描最锋利：即使一半缓存已是正确答案，延迟还是接近1.88×，说明静态缓存结构性缺陷不是「填对几个」就能解决的，必须有在线更新的时序机制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先解释D：把四个命中率做一个差中差，目的是把「任务切换专门对频率缓存的额外伤害」隔离出来。数字上方向一直是正的、随容量越来越大，说明效应是真实存在的。但在标准的多样mmlu下，样本量还不足以把这个1~2个百分点的效应从噪声里拎出来达到per-C统计显著。它是佐证，主地基是Jaccard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「forced区」（C≤top-k）是一个陷阱：缓存每步都被完全替换，预热状态根本留不住，所以D≈0不是因为漂移不存在，而是容量设得太小。论文里常用5%容量惯例，一些大模型在这个容量下刚好落进forced区，就会得到「漂移不影响」的错误结论。top-1模型Llama4的D最大不是偶然——top-1单专家承载全部计算，一次miss最贵，漂移代价也最严重，物理上是自洽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FineMoE不是靶子——它在它评测的场景里做到了SOTA，我们要复用它的基础设施。我们的角色是「把它没测的场景测出来，并在它没有的地方加一层」。FineMoE在计算相似度预取时已经算出了一个相似度分数，但只用来调节预取阈值，没有用来做漂移检测——我们下一页说这个分数就是我们的零成本漂移信号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我们不是说FineMoE错了，而是说「最优策略随场景变化」——这是一个比「A比B好」更深刻的结论。FineMoE在准平稳负载下选LFU是完全正确的；我们的贡献是证明了另一个regime的存在，并提供了切换机制。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「零开销」专指零计算额外开销，不是零内存。由于FineMoE的C++基座里已经有last_access_time字段并持续维护，连内存都基本不用增加。代码里甚至有一段被注释掉的旧LRU驱逐代码，说明FineMoE自己曾经有过LRU路径，然后主动换掉了——我们的CP1相当于在漂移条件下把这条被弃用的recency信号有条件地重新接回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CP2和FineMoE的分歧是最本质的：FineMoE认为越不确定越应该多预取来对冲，我们认为越不确定加带宽越贵，预取的期望价值越低，不如不预取。M1的特征化实验就是要测出δ对冲在漂移+紧预算下是否真的无效或有害。CP3的窗口W是为了区分「真正的任务切换」和「偶发的离群prompt」，防止把异常请求的路由模式写进Store污染未来检索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新颖性不来自某一个单独的策略——recency驱逐、激进预取这些单极策略都有先例。我们的贡献是「用什么信号、在什么条件下、在哪些极点之间切换」这一层元决策。SwapMoE最像潜在竞争者，但它建立在「局部性恒定」的假设上——而我们的整个工作恰恰是在攻击这个假设被破坏时的情况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M0是整个方向的低风险验证——在做DAC之前先把动机数据的方法论质量保证好。等容量bug这个细节值得一提：原始实验里hybrid缓存用了1.5C的容量相当于作弊，修正后结论更保守、也更诚实。M1是最关键的实验：如果δ对冲在漂移+紧预算下真的有害，DAC的CP2就有了实验铁证支撑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这页很重要——我们在汇报里主动把结论的边界说清楚，比被老师问到再解释要好得多。特别是缓存D的显著性：我们有点估计、有方向、有机制，但没有per-C的统计显著，这个差距要诚实交代。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用一句话收尾：我们在一个FineMoE没有测过的regime里，用FineMoE自己已经算出的信号，来修复FineMoE在那个regime下的失效——这是增量而非替代，贡献是把「最优策略随任务分布变化」这一层显式做出来。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image" Target="../media/image1.png"/>
  <Relationship Id="rId3" Type="http://schemas.openxmlformats.org/officeDocument/2006/relationships/slideLayout" Target="../slideLayouts/slideLayout1.xml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1.png"/>
  <Relationship Id="rId3" Type="http://schemas.openxmlformats.org/officeDocument/2006/relationships/slideLayout" Target="../slideLayouts/slideLayout1.xml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image" Target="../media/image3.png"/>
  <Relationship Id="rId3" Type="http://schemas.openxmlformats.org/officeDocument/2006/relationships/slideLayout" Target="../slideLayouts/slideLayout1.xml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png"/>
  <Relationship Id="rId2" Type="http://schemas.openxmlformats.org/officeDocument/2006/relationships/image" Target="../media/image5.png"/>
  <Relationship Id="rId3" Type="http://schemas.openxmlformats.org/officeDocument/2006/relationships/slideLayout" Target="../slideLayouts/slideLayout1.xml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pn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png"/>
  <Relationship Id="rId2" Type="http://schemas.openxmlformats.org/officeDocument/2006/relationships/image" Target="../media/image8.png"/>
  <Relationship Id="rId3" Type="http://schemas.openxmlformats.org/officeDocument/2006/relationships/image" Target="../media/image1.png"/>
  <Relationship Id="rId4" Type="http://schemas.openxmlformats.org/officeDocument/2006/relationships/image" Target="../media/image1.png"/>
  <Relationship Id="rId5" Type="http://schemas.openxmlformats.org/officeDocument/2006/relationships/image" Target="../media/image1.png"/>
  <Relationship Id="rId6" Type="http://schemas.openxmlformats.org/officeDocument/2006/relationships/slideLayout" Target="../slideLayouts/slideLayout1.xml"/>
  <Relationship Id="rId7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9.png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0.png"/>
  <Relationship Id="rId2" Type="http://schemas.openxmlformats.org/officeDocument/2006/relationships/image" Target="../media/image11.png"/>
  <Relationship Id="rId3" Type="http://schemas.openxmlformats.org/officeDocument/2006/relationships/slideLayout" Target="../slideLayouts/slideLayout1.xml"/>
  <Relationship Id="rId4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456840" y="456840"/>
            <a:ext cx="610200" cy="48240"/>
          </a:xfrm>
          <a:custGeom>
            <a:avLst/>
            <a:gdLst/>
            <a:ahLst/>
            <a:rect l="0" t="0" r="r" b="b"/>
            <a:pathLst>
              <a:path w="1695" h="134">
                <a:moveTo>
                  <a:pt x="1695" y="0"/>
                </a:moveTo>
                <a:lnTo>
                  <a:pt x="1695" y="134"/>
                </a:lnTo>
                <a:lnTo>
                  <a:pt x="130" y="134"/>
                </a:lnTo>
                <a:lnTo>
                  <a:pt x="0" y="3"/>
                </a:lnTo>
                <a:lnTo>
                  <a:pt x="1695" y="0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456840" y="456840"/>
            <a:ext cx="48240" cy="610200"/>
          </a:xfrm>
          <a:custGeom>
            <a:avLst/>
            <a:gdLst/>
            <a:ahLst/>
            <a:rect l="0" t="0" r="r" b="b"/>
            <a:pathLst>
              <a:path w="134" h="1695">
                <a:moveTo>
                  <a:pt x="134" y="130"/>
                </a:moveTo>
                <a:lnTo>
                  <a:pt x="134" y="1695"/>
                </a:lnTo>
                <a:lnTo>
                  <a:pt x="0" y="1695"/>
                </a:lnTo>
                <a:lnTo>
                  <a:pt x="0" y="0"/>
                </a:lnTo>
                <a:lnTo>
                  <a:pt x="3" y="0"/>
                </a:lnTo>
                <a:lnTo>
                  <a:pt x="134" y="130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11125080" y="6364440"/>
            <a:ext cx="587880" cy="36360"/>
          </a:xfrm>
          <a:custGeom>
            <a:avLst/>
            <a:gdLst/>
            <a:ahLst/>
            <a:rect l="0" t="0" r="r" b="b"/>
            <a:pathLst>
              <a:path w="1633" h="101">
                <a:moveTo>
                  <a:pt x="1633" y="37"/>
                </a:moveTo>
                <a:cubicBezTo>
                  <a:pt x="1633" y="38"/>
                  <a:pt x="1633" y="38"/>
                  <a:pt x="1632" y="39"/>
                </a:cubicBezTo>
                <a:cubicBezTo>
                  <a:pt x="1612" y="58"/>
                  <a:pt x="1589" y="75"/>
                  <a:pt x="1563" y="85"/>
                </a:cubicBezTo>
                <a:cubicBezTo>
                  <a:pt x="1538" y="96"/>
                  <a:pt x="1511" y="101"/>
                  <a:pt x="1482" y="101"/>
                </a:cubicBezTo>
                <a:lnTo>
                  <a:pt x="0" y="101"/>
                </a:lnTo>
                <a:lnTo>
                  <a:pt x="0" y="48"/>
                </a:lnTo>
                <a:lnTo>
                  <a:pt x="1482" y="48"/>
                </a:lnTo>
                <a:cubicBezTo>
                  <a:pt x="1504" y="48"/>
                  <a:pt x="1524" y="44"/>
                  <a:pt x="1543" y="35"/>
                </a:cubicBezTo>
                <a:cubicBezTo>
                  <a:pt x="1563" y="27"/>
                  <a:pt x="1580" y="16"/>
                  <a:pt x="1595" y="1"/>
                </a:cubicBezTo>
                <a:lnTo>
                  <a:pt x="1596" y="0"/>
                </a:lnTo>
                <a:lnTo>
                  <a:pt x="1633" y="37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11698200" y="5790960"/>
            <a:ext cx="36720" cy="588240"/>
          </a:xfrm>
          <a:custGeom>
            <a:avLst/>
            <a:gdLst/>
            <a:ahLst/>
            <a:rect l="0" t="0" r="r" b="b"/>
            <a:pathLst>
              <a:path w="102" h="1634">
                <a:moveTo>
                  <a:pt x="0" y="1596"/>
                </a:moveTo>
                <a:cubicBezTo>
                  <a:pt x="1" y="1596"/>
                  <a:pt x="1" y="1596"/>
                  <a:pt x="2" y="1595"/>
                </a:cubicBezTo>
                <a:cubicBezTo>
                  <a:pt x="17" y="1580"/>
                  <a:pt x="28" y="1563"/>
                  <a:pt x="36" y="1544"/>
                </a:cubicBezTo>
                <a:cubicBezTo>
                  <a:pt x="44" y="1524"/>
                  <a:pt x="48" y="1504"/>
                  <a:pt x="48" y="1483"/>
                </a:cubicBezTo>
                <a:lnTo>
                  <a:pt x="48" y="0"/>
                </a:lnTo>
                <a:lnTo>
                  <a:pt x="102" y="0"/>
                </a:lnTo>
                <a:lnTo>
                  <a:pt x="102" y="1483"/>
                </a:lnTo>
                <a:cubicBezTo>
                  <a:pt x="102" y="1511"/>
                  <a:pt x="97" y="1538"/>
                  <a:pt x="86" y="1564"/>
                </a:cubicBezTo>
                <a:cubicBezTo>
                  <a:pt x="75" y="1590"/>
                  <a:pt x="60" y="1613"/>
                  <a:pt x="39" y="1633"/>
                </a:cubicBezTo>
                <a:cubicBezTo>
                  <a:pt x="39" y="1633"/>
                  <a:pt x="38" y="1633"/>
                  <a:pt x="38" y="1634"/>
                </a:cubicBezTo>
                <a:lnTo>
                  <a:pt x="0" y="1596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514600" y="1909440"/>
            <a:ext cx="6840853" cy="53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6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任务漂移下的MoE专家缓存失效：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2044440" y="2480760"/>
            <a:ext cx="8089011" cy="53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6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现象确证与漂移感知FineMoE改造方案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5714640" y="38764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3"/>
                </a:moveTo>
                <a:cubicBezTo>
                  <a:pt x="0" y="46"/>
                  <a:pt x="2" y="39"/>
                  <a:pt x="5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4" y="0"/>
                </a:lnTo>
                <a:cubicBezTo>
                  <a:pt x="2071" y="0"/>
                  <a:pt x="2078" y="1"/>
                  <a:pt x="2084" y="4"/>
                </a:cubicBezTo>
                <a:cubicBezTo>
                  <a:pt x="2091" y="7"/>
                  <a:pt x="2097" y="11"/>
                  <a:pt x="2102" y="16"/>
                </a:cubicBezTo>
                <a:cubicBezTo>
                  <a:pt x="2107" y="21"/>
                  <a:pt x="2110" y="26"/>
                  <a:pt x="2114" y="33"/>
                </a:cubicBezTo>
                <a:cubicBezTo>
                  <a:pt x="2117" y="39"/>
                  <a:pt x="2118" y="46"/>
                  <a:pt x="2118" y="53"/>
                </a:cubicBezTo>
                <a:cubicBezTo>
                  <a:pt x="2118" y="60"/>
                  <a:pt x="2117" y="67"/>
                  <a:pt x="2114" y="73"/>
                </a:cubicBezTo>
                <a:cubicBezTo>
                  <a:pt x="2110" y="80"/>
                  <a:pt x="2107" y="85"/>
                  <a:pt x="2102" y="90"/>
                </a:cubicBezTo>
                <a:cubicBezTo>
                  <a:pt x="2097" y="95"/>
                  <a:pt x="2091" y="99"/>
                  <a:pt x="2084" y="103"/>
                </a:cubicBezTo>
                <a:cubicBezTo>
                  <a:pt x="2078" y="106"/>
                  <a:pt x="2071" y="107"/>
                  <a:pt x="2064" y="107"/>
                </a:cubicBezTo>
                <a:lnTo>
                  <a:pt x="53" y="107"/>
                </a:lnTo>
                <a:cubicBezTo>
                  <a:pt x="46" y="107"/>
                  <a:pt x="40" y="106"/>
                  <a:pt x="33" y="103"/>
                </a:cubicBezTo>
                <a:cubicBezTo>
                  <a:pt x="27" y="99"/>
                  <a:pt x="21" y="95"/>
                  <a:pt x="16" y="90"/>
                </a:cubicBezTo>
                <a:cubicBezTo>
                  <a:pt x="11" y="85"/>
                  <a:pt x="7" y="80"/>
                  <a:pt x="5" y="73"/>
                </a:cubicBezTo>
                <a:cubicBezTo>
                  <a:pt x="2" y="67"/>
                  <a:pt x="0" y="60"/>
                  <a:pt x="0" y="53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143320" y="3309480"/>
            <a:ext cx="20955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批判性复现与系统扩展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596560" y="5535360"/>
            <a:ext cx="366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汇报⼈：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206040" y="5535360"/>
            <a:ext cx="225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[姓名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6553080" y="553896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]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554800" y="5848560"/>
            <a:ext cx="239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⽇期：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5954760" y="5851440"/>
            <a:ext cx="678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2026-08-28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744800" y="6220080"/>
            <a:ext cx="239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⽅向：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145120" y="6222960"/>
            <a:ext cx="310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MoE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5456160" y="6220080"/>
            <a:ext cx="159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推理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5722920" y="622296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 / 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5834160" y="6220080"/>
            <a:ext cx="322707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0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专家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100920" y="6220080"/>
            <a:ext cx="10242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 offload / 在线缓存策略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2" name=""/>
          <ns0:cNvSpPr/>
          <ns0:nvPr/>
        </ns0:nvSpPr>
        <ns0:spPr>
          <ns1:xfrm>
            <ns1:off x="0" y="0"/>
            <ns1:ext cx="12192120" cy="6858000"/>
          </ns1:xfrm>
          <ns1:custGeom>
            <ns1:avLst/>
            <ns1:gdLst/>
            <ns1:ahLst/>
            <ns1:rect l="0" t="0" r="r" b="b"/>
            <ns1:pathLst>
              <ns1:path w="33867" h="19050">
                <ns1:moveTo>
                  <ns1:pt x="0" y="0"/>
                </ns1:moveTo>
                <ns1:lnTo>
                  <ns1:pt x="33867" y="0"/>
                </ns1:lnTo>
                <ns1:lnTo>
                  <ns1:pt x="33867" y="19050"/>
                </ns1:lnTo>
                <ns1:lnTo>
                  <ns1:pt x="0" y="1905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8f9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33" name=""/>
          <ns0:cNvSpPr/>
          <ns0:nvPr/>
        </ns0:nvSpPr>
        <ns0:spPr>
          <ns1:xfrm>
            <ns1:off x="4680" y="4680"/>
            <ns1:ext cx="12182760" cy="6848640"/>
          </ns1:xfrm>
          <ns1:custGeom>
            <ns1:avLst/>
            <ns1:gdLst/>
            <ns1:ahLst/>
            <ns1:rect l="0" t="0" r="r" b="b"/>
            <ns1:pathLst>
              <ns1:path fill="none" w="33841" h="19024">
                <ns1:moveTo>
                  <ns1:pt x="0" y="0"/>
                </ns1:moveTo>
                <ns1:lnTo>
                  <ns1:pt x="33841" y="0"/>
                </ns1:lnTo>
                <ns1:lnTo>
                  <ns1:pt x="33841" y="19024"/>
                </ns1:lnTo>
                <ns1:lnTo>
                  <ns1:pt x="0" y="19024"/>
                </ns1:lnTo>
                <ns1:lnTo>
                  <ns1:pt x="0" y="0"/>
                </ns1:lnTo>
              </ns1:path>
            </ns1:pathLst>
          </ns1:custGeom>
          <ns1:ln w="9360">
            <ns1:solidFill>
              <ns1:srgbClr val="c0c0c0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34" name=""/>
          <ns0:cNvSpPr/>
          <ns0:nvPr/>
        </ns0:nvSpPr>
        <ns0:spPr>
          <ns1:xfrm>
            <ns1:off x="456840" y="1066680"/>
            <ns1:ext cx="762480" cy="38520"/>
          </ns1:xfrm>
          <ns1:custGeom>
            <ns1:avLst/>
            <ns1:gdLst/>
            <ns1:ahLst/>
            <ns1:rect l="0" t="0" r="r" b="b"/>
            <ns1:pathLst>
              <ns1:path w="2118" h="107">
                <ns1:moveTo>
                  <ns1:pt x="0" y="54"/>
                </ns1:moveTo>
                <ns1:cubicBezTo>
                  <ns1:pt x="0" y="47"/>
                  <ns1:pt x="2" y="40"/>
                  <ns1:pt x="5" y="33"/>
                </ns1:cubicBezTo>
                <ns1:cubicBezTo>
                  <ns1:pt x="7" y="26"/>
                  <ns1:pt x="11" y="20"/>
                  <ns1:pt x="16" y="15"/>
                </ns1:cubicBezTo>
                <ns1:cubicBezTo>
                  <ns1:pt x="21" y="10"/>
                  <ns1:pt x="27" y="7"/>
                  <ns1:pt x="33" y="4"/>
                </ns1:cubicBezTo>
                <ns1:cubicBezTo>
                  <ns1:pt x="40" y="1"/>
                  <ns1:pt x="46" y="0"/>
                  <ns1:pt x="53" y="0"/>
                </ns1:cubicBezTo>
                <ns1:lnTo>
                  <ns1:pt x="2065" y="0"/>
                </ns1:lnTo>
                <ns1:cubicBezTo>
                  <ns1:pt x="2072" y="0"/>
                  <ns1:pt x="2079" y="1"/>
                  <ns1:pt x="2085" y="4"/>
                </ns1:cubicBezTo>
                <ns1:cubicBezTo>
                  <ns1:pt x="2092" y="7"/>
                  <ns1:pt x="2098" y="10"/>
                  <ns1:pt x="2103" y="15"/>
                </ns1:cubicBezTo>
                <ns1:cubicBezTo>
                  <ns1:pt x="2108" y="20"/>
                  <ns1:pt x="2111" y="26"/>
                  <ns1:pt x="2114" y="33"/>
                </ns1:cubicBezTo>
                <ns1:cubicBezTo>
                  <ns1:pt x="2117" y="40"/>
                  <ns1:pt x="2118" y="47"/>
                  <ns1:pt x="2118" y="54"/>
                </ns1:cubicBezTo>
                <ns1:cubicBezTo>
                  <ns1:pt x="2118" y="61"/>
                  <ns1:pt x="2117" y="68"/>
                  <ns1:pt x="2114" y="74"/>
                </ns1:cubicBezTo>
                <ns1:cubicBezTo>
                  <ns1:pt x="2111" y="80"/>
                  <ns1:pt x="2108" y="86"/>
                  <ns1:pt x="2103" y="91"/>
                </ns1:cubicBezTo>
                <ns1:cubicBezTo>
                  <ns1:pt x="2098" y="96"/>
                  <ns1:pt x="2092" y="100"/>
                  <ns1:pt x="2085" y="103"/>
                </ns1:cubicBezTo>
                <ns1:cubicBezTo>
                  <ns1:pt x="2079" y="105"/>
                  <ns1:pt x="2072" y="107"/>
                  <ns1:pt x="2065" y="107"/>
                </ns1:cubicBezTo>
                <ns1:lnTo>
                  <ns1:pt x="53" y="107"/>
                </ns1:lnTo>
                <ns1:cubicBezTo>
                  <ns1:pt x="46" y="107"/>
                  <ns1:pt x="40" y="105"/>
                  <ns1:pt x="33" y="103"/>
                </ns1:cubicBezTo>
                <ns1:cubicBezTo>
                  <ns1:pt x="27" y="100"/>
                  <ns1:pt x="21" y="96"/>
                  <ns1:pt x="16" y="91"/>
                </ns1:cubicBezTo>
                <ns1:cubicBezTo>
                  <ns1:pt x="11" y="86"/>
                  <ns1:pt x="7" y="80"/>
                  <ns1:pt x="5" y="74"/>
                </ns1:cubicBezTo>
                <ns1:cubicBezTo>
                  <ns1:pt x="2" y="68"/>
                  <ns1:pt x="0" y="61"/>
                  <ns1:pt x="0" y="54"/>
                </ns1:cubicBezTo>
                <ns1:close/>
              </ns1:path>
            </ns1:pathLst>
          </ns1:custGeom>
          <ns1:solidFill>
            <ns1:srgbClr val="3b82f6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35" name=""/>
          <ns0:cNvSpPr txBox="1"/>
          <ns0:nvPr/>
        </ns0:nvSpPr>
        <ns0:spPr>
          <ns1:xfrm>
            <ns1:off x="457200" y="465480"/>
            <ns1:ext cx="3700462" cy="4438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30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背景：MoE与专家缓存</ns1:t>
            </ns1:r>
            <ns1:endParaRPr b="0" lang="en-US" sz="30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38" name=""/>
          <ns0:cNvSpPr txBox="1"/>
          <ns0:nvPr/>
        </ns0:nvSpPr>
        <ns0:spPr>
          <ns1:xfrm>
            <ns1:off x="457200" y="2098440"/>
            <ns1:ext cx="1017126" cy="198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35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MoE稀疏激活</ns1:t>
            </ns1:r>
            <ns1:endParaRPr b="0" lang="en-US" sz="1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0" name=""/>
          <ns0:cNvSpPr txBox="1"/>
          <ns0:nvPr/>
        </ns0:nvSpPr>
        <ns0:spPr>
          <ns1:xfrm>
            <ns1:off x="457200" y="2439720"/>
            <ns1:ext cx="3904488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每层N个专家子网络，每次推理仅激活top-k个（k=1或8）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" name=""/>
          <ns0:cNvSpPr txBox="1"/>
          <ns0:nvPr/>
        </ns0:nvSpPr>
        <ns0:spPr>
          <ns1:xfrm>
            <ns1:off x="457200" y="2917440"/>
            <ns1:ext cx="829818" cy="198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35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显存瓶颈</ns1:t>
            </ns1:r>
            <ns1:endParaRPr b="0" lang="en-US" sz="1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" name=""/>
          <ns0:cNvSpPr txBox="1"/>
          <ns0:nvPr/>
        </ns0:nvSpPr>
        <ns0:spPr>
          <ns1:xfrm>
            <ns1:off x="457200" y="3259080"/>
            <ns1:ext cx="546900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DeepSeek-R1 / Llama4-Maverick / Kimi-K2等模型参数量达数百GB，单GPU无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" name=""/>
          <ns0:cNvSpPr txBox="1"/>
          <ns0:nvPr/>
        </ns0:nvSpPr>
        <ns0:spPr>
          <ns1:xfrm>
            <ns1:off x="457200" y="3497040"/>
            <ns1:ext cx="83820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法全部驻留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" name=""/>
          <ns0:cNvSpPr txBox="1"/>
          <ns0:nvPr/>
        </ns0:nvSpPr>
        <ns0:spPr>
          <ns1:xfrm>
            <ns1:off x="457200" y="3974760"/>
            <ns1:ext cx="1053131" cy="198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35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专家Offload</ns1:t>
            </ns1:r>
            <ns1:endParaRPr b="0" lang="en-US" sz="1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9" name=""/>
          <ns0:cNvSpPr txBox="1"/>
          <ns0:nvPr/>
        </ns0:nvSpPr>
        <ns0:spPr>
          <ns1:xfrm>
            <ns1:off x="457200" y="4316400"/>
            <ns1:ext cx="4920615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GPU仅放小批专家（容量C），其余放CPU/SSD；miss →搬运，hit →直接用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" name=""/>
          <ns0:cNvSpPr txBox="1"/>
          <ns0:nvPr/>
        </ns0:nvSpPr>
        <ns0:spPr>
          <ns1:xfrm>
            <ns1:off x="457200" y="4793760"/>
            <ns1:ext cx="1659636" cy="198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35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命中率是性能关键</ns1:t>
            </ns1:r>
            <ns1:endParaRPr b="0" lang="en-US" sz="1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" name=""/>
          <ns0:cNvSpPr txBox="1"/>
          <ns0:nvPr/>
        </ns0:nvSpPr>
        <ns0:spPr>
          <ns1:xfrm>
            <ns1:off x="457200" y="5135400"/>
            <ns1:ext cx="5328666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ρ = miss延迟/计算延迟（无量纲比值）：ρ越大，一次miss代价越贵，缓存策略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8" name=""/>
          <ns0:cNvSpPr/>
          <ns0:nvPr/>
        </ns0:nvSpPr>
        <ns0:spPr>
          <ns1:xfrm>
            <ns1:off x="8124480" y="456840"/>
            <ns1:ext cx="76680" cy="5943960"/>
          </ns1:xfrm>
          <ns1:custGeom>
            <ns1:avLst/>
            <ns1:gdLst/>
            <ns1:ahLst/>
            <ns1:rect l="0" t="0" r="r" b="b"/>
            <ns1:pathLst>
              <ns1:path w="213" h="16511">
                <ns1:moveTo>
                  <ns1:pt x="17" y="131"/>
                </ns1:moveTo>
                <ns1:cubicBezTo>
                  <ns1:pt x="27" y="105"/>
                  <ns1:pt x="43" y="82"/>
                  <ns1:pt x="62" y="62"/>
                </ns1:cubicBezTo>
                <ns1:cubicBezTo>
                  <ns1:pt x="82" y="43"/>
                  <ns1:pt x="105" y="27"/>
                  <ns1:pt x="132" y="17"/>
                </ns1:cubicBezTo>
                <ns1:cubicBezTo>
                  <ns1:pt x="158" y="6"/>
                  <ns1:pt x="185" y="1"/>
                  <ns1:pt x="213" y="0"/>
                </ns1:cubicBezTo>
                <ns1:lnTo>
                  <ns1:pt x="213" y="16511"/>
                </ns1:lnTo>
                <ns1:cubicBezTo>
                  <ns1:pt x="185" y="16511"/>
                  <ns1:pt x="158" y="16506"/>
                  <ns1:pt x="132" y="16495"/>
                </ns1:cubicBezTo>
                <ns1:cubicBezTo>
                  <ns1:pt x="105" y="16485"/>
                  <ns1:pt x="82" y="16469"/>
                  <ns1:pt x="62" y="16450"/>
                </ns1:cubicBezTo>
                <ns1:cubicBezTo>
                  <ns1:pt x="43" y="16430"/>
                  <ns1:pt x="27" y="16407"/>
                  <ns1:pt x="17" y="16381"/>
                </ns1:cubicBezTo>
                <ns1:cubicBezTo>
                  <ns1:pt x="6" y="16355"/>
                  <ns1:pt x="0" y="16328"/>
                  <ns1:pt x="0" y="16300"/>
                </ns1:cubicBezTo>
                <ns1:lnTo>
                  <ns1:pt x="0" y="212"/>
                </ns1:lnTo>
                <ns1:cubicBezTo>
                  <ns1:pt x="0" y="184"/>
                  <ns1:pt x="6" y="157"/>
                  <ns1:pt x="17" y="131"/>
                </ns1:cubicBezTo>
                <ns1:close/>
              </ns1:path>
            </ns1:pathLst>
          </ns1:custGeom>
          <ns1:solidFill>
            <ns1:srgbClr val="3b82f6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pic>
        <ns0:nvPicPr>
          <ns0:cNvPr id="79" name="" descr=""/>
          <ns0:cNvPicPr/>
          <ns0:nvPr/>
        </ns0:nvPicPr>
        <ns0:blipFill>
          <ns1:blip ns2:embed="rId1"/>
          <ns1:stretch/>
        </ns0:blipFill>
        <ns0:spPr>
          <ns1:xfrm>
            <ns1:off x="8124840" y="457200"/>
            <ns1:ext cx="151920" cy="151920"/>
          </ns1:xfrm>
          <ns1:prstGeom prst="rect">
            <ns1:avLst/>
          </ns1:prstGeom>
          <ns1:noFill/>
          <ns1:ln w="0">
            <ns1:noFill/>
          </ns1:ln>
        </ns0:spPr>
      </ns0:pic>
      <ns0:sp>
        <ns0:nvSpPr>
          <ns0:cNvPr id="80" name=""/>
          <ns0:cNvSpPr txBox="1"/>
          <ns0:nvPr/>
        </ns0:nvSpPr>
        <ns0:spPr>
          <ns1:xfrm>
            <ns1:off x="457200" y="5373720"/>
            <ns1:ext cx="5029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越关键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pic>
        <ns0:nvPicPr>
          <ns0:cNvPr id="82" name="" descr=""/>
          <ns0:cNvPicPr/>
          <ns0:nvPr/>
        </ns0:nvPicPr>
        <ns0:blipFill>
          <ns1:blip ns2:embed="rId2"/>
          <ns1:stretch/>
        </ns0:blipFill>
        <ns0:spPr>
          <ns1:xfrm>
            <ns1:off x="8124840" y="704880"/>
            <ns1:ext cx="151920" cy="151920"/>
          </ns1:xfrm>
          <ns1:prstGeom prst="rect">
            <ns1:avLst/>
          </ns1:prstGeom>
          <ns1:noFill/>
          <ns1:ln w="0">
            <ns1:noFill/>
          </ns1:ln>
        </ns0:spPr>
      </ns0:pic>
    </ns0:spTree>
  </ns0:cSld>
  <ns3:AlternateContent>
    <ns3:Choice Requires="p14">
      <ns0:transition spd="slow" ns4:dur="2000"/>
    </ns3:Choice>
    <ns3:Fallback>
      <ns0:transition spd="slow"/>
    </ns3:Fallback>
  </ns3:AlternateContent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8" name=""/>
          <ns0:cNvSpPr/>
          <ns0:nvPr/>
        </ns0:nvSpPr>
        <ns0:spPr>
          <ns1:xfrm>
            <ns1:off x="0" y="0"/>
            <ns1:ext cx="12192120" cy="6858000"/>
          </ns1:xfrm>
          <ns1:custGeom>
            <ns1:avLst/>
            <ns1:gdLst/>
            <ns1:ahLst/>
            <ns1:rect l="0" t="0" r="r" b="b"/>
            <ns1:pathLst>
              <ns1:path w="33867" h="19050">
                <ns1:moveTo>
                  <ns1:pt x="0" y="0"/>
                </ns1:moveTo>
                <ns1:lnTo>
                  <ns1:pt x="33867" y="0"/>
                </ns1:lnTo>
                <ns1:lnTo>
                  <ns1:pt x="33867" y="19050"/>
                </ns1:lnTo>
                <ns1:lnTo>
                  <ns1:pt x="0" y="1905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8f9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89" name=""/>
          <ns0:cNvSpPr/>
          <ns0:nvPr/>
        </ns0:nvSpPr>
        <ns0:spPr>
          <ns1:xfrm>
            <ns1:off x="4680" y="4680"/>
            <ns1:ext cx="12182760" cy="6848640"/>
          </ns1:xfrm>
          <ns1:custGeom>
            <ns1:avLst/>
            <ns1:gdLst/>
            <ns1:ahLst/>
            <ns1:rect l="0" t="0" r="r" b="b"/>
            <ns1:pathLst>
              <ns1:path fill="none" w="33841" h="19024">
                <ns1:moveTo>
                  <ns1:pt x="0" y="0"/>
                </ns1:moveTo>
                <ns1:lnTo>
                  <ns1:pt x="33841" y="0"/>
                </ns1:lnTo>
                <ns1:lnTo>
                  <ns1:pt x="33841" y="19024"/>
                </ns1:lnTo>
                <ns1:lnTo>
                  <ns1:pt x="0" y="19024"/>
                </ns1:lnTo>
                <ns1:lnTo>
                  <ns1:pt x="0" y="0"/>
                </ns1:lnTo>
              </ns1:path>
            </ns1:pathLst>
          </ns1:custGeom>
          <ns1:ln w="9360">
            <ns1:solidFill>
              <ns1:srgbClr val="c0c0c0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pic>
        <ns0:nvPicPr>
          <ns0:cNvPr id="90" name="" descr=""/>
          <ns0:cNvPicPr/>
          <ns0:nvPr/>
        </ns0:nvPicPr>
        <ns0:blipFill>
          <ns1:blip ns2:embed="rId1"/>
          <ns1:stretch/>
        </ns0:blipFill>
        <ns0:spPr>
          <ns1:xfrm>
            <ns1:off x="0" y="0"/>
            <ns1:ext cx="2209320" cy="2495880"/>
          </ns1:xfrm>
          <ns1:prstGeom prst="rect">
            <ns1:avLst/>
          </ns1:prstGeom>
          <ns1:noFill/>
          <ns1:ln w="0">
            <ns1:noFill/>
          </ns1:ln>
        </ns0:spPr>
      </ns0:pic>
      <ns0:sp>
        <ns0:nvSpPr>
          <ns0:cNvPr id="91" name=""/>
          <ns0:cNvSpPr/>
          <ns0:nvPr/>
        </ns0:nvSpPr>
        <ns0:spPr>
          <ns1:xfrm>
            <ns1:off x="10934640" y="5410080"/>
            <ns1:ext cx="1257480" cy="1447920"/>
          </ns1:xfrm>
          <ns1:custGeom>
            <ns1:avLst/>
            <ns1:gdLst/>
            <ns1:ahLst/>
            <ns1:rect l="0" t="0" r="r" b="b"/>
            <ns1:pathLst>
              <ns1:path fill="none" w="3493" h="4022">
                <ns1:moveTo>
                  <ns1:pt x="84" y="4022"/>
                </ns1:moveTo>
                <ns1:cubicBezTo>
                  <ns1:pt x="77" y="3989"/>
                  <ns1:pt x="69" y="3955"/>
                  <ns1:pt x="63" y="3922"/>
                </ns1:cubicBezTo>
                <ns1:cubicBezTo>
                  <ns1:pt x="52" y="3869"/>
                  <ns1:pt x="43" y="3816"/>
                  <ns1:pt x="35" y="3763"/>
                </ns1:cubicBezTo>
                <ns1:cubicBezTo>
                  <ns1:pt x="27" y="3710"/>
                  <ns1:pt x="21" y="3657"/>
                  <ns1:pt x="15" y="3603"/>
                </ns1:cubicBezTo>
                <ns1:cubicBezTo>
                  <ns1:pt x="10" y="3550"/>
                  <ns1:pt x="6" y="3496"/>
                  <ns1:pt x="4" y="3443"/>
                </ns1:cubicBezTo>
                <ns1:cubicBezTo>
                  <ns1:pt x="1" y="3389"/>
                  <ns1:pt x="0" y="3335"/>
                  <ns1:pt x="0" y="3282"/>
                </ns1:cubicBezTo>
                <ns1:cubicBezTo>
                  <ns1:pt x="0" y="3228"/>
                  <ns1:pt x="1" y="3174"/>
                  <ns1:pt x="4" y="3121"/>
                </ns1:cubicBezTo>
                <ns1:cubicBezTo>
                  <ns1:pt x="6" y="3066"/>
                  <ns1:pt x="10" y="3013"/>
                  <ns1:pt x="15" y="2959"/>
                </ns1:cubicBezTo>
                <ns1:cubicBezTo>
                  <ns1:pt x="21" y="2906"/>
                  <ns1:pt x="27" y="2852"/>
                  <ns1:pt x="35" y="2799"/>
                </ns1:cubicBezTo>
                <ns1:cubicBezTo>
                  <ns1:pt x="43" y="2746"/>
                  <ns1:pt x="52" y="2693"/>
                  <ns1:pt x="63" y="2641"/>
                </ns1:cubicBezTo>
                <ns1:cubicBezTo>
                  <ns1:pt x="73" y="2588"/>
                  <ns1:pt x="85" y="2536"/>
                  <ns1:pt x="98" y="2483"/>
                </ns1:cubicBezTo>
                <ns1:cubicBezTo>
                  <ns1:pt x="111" y="2431"/>
                  <ns1:pt x="125" y="2380"/>
                  <ns1:pt x="141" y="2328"/>
                </ns1:cubicBezTo>
                <ns1:cubicBezTo>
                  <ns1:pt x="157" y="2277"/>
                  <ns1:pt x="173" y="2226"/>
                  <ns1:pt x="191" y="2175"/>
                </ns1:cubicBezTo>
                <ns1:cubicBezTo>
                  <ns1:pt x="210" y="2125"/>
                  <ns1:pt x="229" y="2075"/>
                  <ns1:pt x="249" y="2025"/>
                </ns1:cubicBezTo>
                <ns1:cubicBezTo>
                  <ns1:pt x="270" y="1976"/>
                  <ns1:pt x="292" y="1926"/>
                  <ns1:pt x="315" y="1878"/>
                </ns1:cubicBezTo>
                <ns1:cubicBezTo>
                  <ns1:pt x="338" y="1829"/>
                  <ns1:pt x="362" y="1781"/>
                  <ns1:pt x="387" y="1734"/>
                </ns1:cubicBezTo>
                <ns1:cubicBezTo>
                  <ns1:pt x="412" y="1687"/>
                  <ns1:pt x="439" y="1640"/>
                  <ns1:pt x="466" y="1594"/>
                </ns1:cubicBezTo>
                <ns1:cubicBezTo>
                  <ns1:pt x="494" y="1548"/>
                  <ns1:pt x="523" y="1503"/>
                  <ns1:pt x="553" y="1458"/>
                </ns1:cubicBezTo>
                <ns1:cubicBezTo>
                  <ns1:pt x="582" y="1413"/>
                  <ns1:pt x="613" y="1369"/>
                  <ns1:pt x="645" y="1326"/>
                </ns1:cubicBezTo>
                <ns1:cubicBezTo>
                  <ns1:pt x="677" y="1283"/>
                  <ns1:pt x="710" y="1241"/>
                  <ns1:pt x="744" y="1199"/>
                </ns1:cubicBezTo>
                <ns1:cubicBezTo>
                  <ns1:pt x="778" y="1158"/>
                  <ns1:pt x="813" y="1117"/>
                  <ns1:pt x="850" y="1077"/>
                </ns1:cubicBezTo>
                <ns1:cubicBezTo>
                  <ns1:pt x="886" y="1038"/>
                  <ns1:pt x="923" y="999"/>
                  <ns1:pt x="961" y="961"/>
                </ns1:cubicBezTo>
                <ns1:cubicBezTo>
                  <ns1:pt x="999" y="923"/>
                  <ns1:pt x="1037" y="886"/>
                  <ns1:pt x="1077" y="850"/>
                </ns1:cubicBezTo>
                <ns1:cubicBezTo>
                  <ns1:pt x="1117" y="814"/>
                  <ns1:pt x="1158" y="779"/>
                  <ns1:pt x="1199" y="745"/>
                </ns1:cubicBezTo>
                <ns1:cubicBezTo>
                  <ns1:pt x="1241" y="710"/>
                  <ns1:pt x="1283" y="677"/>
                  <ns1:pt x="1326" y="645"/>
                </ns1:cubicBezTo>
                <ns1:cubicBezTo>
                  <ns1:pt x="1369" y="613"/>
                  <ns1:pt x="1413" y="583"/>
                  <ns1:pt x="1458" y="553"/>
                </ns1:cubicBezTo>
                <ns1:cubicBezTo>
                  <ns1:pt x="1502" y="523"/>
                  <ns1:pt x="1548" y="494"/>
                  <ns1:pt x="1594" y="467"/>
                </ns1:cubicBezTo>
                <ns1:cubicBezTo>
                  <ns1:pt x="1640" y="439"/>
                  <ns1:pt x="1687" y="413"/>
                  <ns1:pt x="1734" y="387"/>
                </ns1:cubicBezTo>
                <ns1:cubicBezTo>
                  <ns1:pt x="1781" y="362"/>
                  <ns1:pt x="1829" y="338"/>
                  <ns1:pt x="1878" y="315"/>
                </ns1:cubicBezTo>
                <ns1:cubicBezTo>
                  <ns1:pt x="1926" y="292"/>
                  <ns1:pt x="1975" y="270"/>
                  <ns1:pt x="2025" y="250"/>
                </ns1:cubicBezTo>
                <ns1:cubicBezTo>
                  <ns1:pt x="2075" y="229"/>
                  <ns1:pt x="2125" y="210"/>
                  <ns1:pt x="2175" y="192"/>
                </ns1:cubicBezTo>
                <ns1:cubicBezTo>
                  <ns1:pt x="2226" y="174"/>
                  <ns1:pt x="2277" y="157"/>
                  <ns1:pt x="2328" y="141"/>
                </ns1:cubicBezTo>
                <ns1:cubicBezTo>
                  <ns1:pt x="2380" y="126"/>
                  <ns1:pt x="2431" y="111"/>
                  <ns1:pt x="2483" y="98"/>
                </ns1:cubicBezTo>
                <ns1:cubicBezTo>
                  <ns1:pt x="2535" y="85"/>
                  <ns1:pt x="2588" y="73"/>
                  <ns1:pt x="2640" y="63"/>
                </ns1:cubicBezTo>
                <ns1:cubicBezTo>
                  <ns1:pt x="2693" y="52"/>
                  <ns1:pt x="2746" y="43"/>
                  <ns1:pt x="2799" y="35"/>
                </ns1:cubicBezTo>
                <ns1:cubicBezTo>
                  <ns1:pt x="2853" y="27"/>
                  <ns1:pt x="2906" y="21"/>
                  <ns1:pt x="2960" y="16"/>
                </ns1:cubicBezTo>
                <ns1:cubicBezTo>
                  <ns1:pt x="3013" y="10"/>
                  <ns1:pt x="3067" y="6"/>
                  <ns1:pt x="3121" y="4"/>
                </ns1:cubicBezTo>
                <ns1:cubicBezTo>
                  <ns1:pt x="3174" y="1"/>
                  <ns1:pt x="3228" y="0"/>
                  <ns1:pt x="3281" y="0"/>
                </ns1:cubicBezTo>
                <ns1:cubicBezTo>
                  <ns1:pt x="3335" y="0"/>
                  <ns1:pt x="3389" y="1"/>
                  <ns1:pt x="3442" y="4"/>
                </ns1:cubicBezTo>
                <ns1:cubicBezTo>
                  <ns1:pt x="3459" y="5"/>
                  <ns1:pt x="3476" y="6"/>
                  <ns1:pt x="3493" y="7"/>
                </ns1:cubicBezTo>
              </ns1:path>
            </ns1:pathLst>
          </ns1:custGeom>
          <ns1:ln w="75960">
            <ns1:solidFill>
              <ns1:srgbClr val="bfdbfe"/>
            </ns1:solidFill>
            <ns1:miter/>
          </ns1:ln>
        </ns0:spPr>
        <ns0:txBody>
          <ns1:bodyPr lIns="37800" rIns="37800" tIns="37800" bIns="3780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92" name=""/>
          <ns0:cNvSpPr/>
          <ns0:nvPr/>
        </ns0:nvSpPr>
        <ns0:spPr>
          <ns1:xfrm>
            <ns1:off x="5714640" y="1409400"/>
            <ns1:ext cx="762480" cy="38520"/>
          </ns1:xfrm>
          <ns1:custGeom>
            <ns1:avLst/>
            <ns1:gdLst/>
            <ns1:ahLst/>
            <ns1:rect l="0" t="0" r="r" b="b"/>
            <ns1:pathLst>
              <ns1:path w="2118" h="107">
                <ns1:moveTo>
                  <ns1:pt x="0" y="54"/>
                </ns1:moveTo>
                <ns1:cubicBezTo>
                  <ns1:pt x="0" y="47"/>
                  <ns1:pt x="2" y="40"/>
                  <ns1:pt x="5" y="34"/>
                </ns1:cubicBezTo>
                <ns1:cubicBezTo>
                  <ns1:pt x="7" y="28"/>
                  <ns1:pt x="11" y="21"/>
                  <ns1:pt x="16" y="16"/>
                </ns1:cubicBezTo>
                <ns1:cubicBezTo>
                  <ns1:pt x="21" y="11"/>
                  <ns1:pt x="27" y="7"/>
                  <ns1:pt x="33" y="4"/>
                </ns1:cubicBezTo>
                <ns1:cubicBezTo>
                  <ns1:pt x="40" y="2"/>
                  <ns1:pt x="46" y="0"/>
                  <ns1:pt x="53" y="0"/>
                </ns1:cubicBezTo>
                <ns1:lnTo>
                  <ns1:pt x="2064" y="0"/>
                </ns1:lnTo>
                <ns1:cubicBezTo>
                  <ns1:pt x="2071" y="0"/>
                  <ns1:pt x="2078" y="2"/>
                  <ns1:pt x="2084" y="4"/>
                </ns1:cubicBezTo>
                <ns1:cubicBezTo>
                  <ns1:pt x="2091" y="7"/>
                  <ns1:pt x="2097" y="11"/>
                  <ns1:pt x="2102" y="16"/>
                </ns1:cubicBezTo>
                <ns1:cubicBezTo>
                  <ns1:pt x="2107" y="21"/>
                  <ns1:pt x="2110" y="28"/>
                  <ns1:pt x="2114" y="34"/>
                </ns1:cubicBezTo>
                <ns1:cubicBezTo>
                  <ns1:pt x="2117" y="40"/>
                  <ns1:pt x="2118" y="47"/>
                  <ns1:pt x="2118" y="54"/>
                </ns1:cubicBezTo>
                <ns1:cubicBezTo>
                  <ns1:pt x="2118" y="61"/>
                  <ns1:pt x="2117" y="68"/>
                  <ns1:pt x="2114" y="74"/>
                </ns1:cubicBezTo>
                <ns1:cubicBezTo>
                  <ns1:pt x="2110" y="81"/>
                  <ns1:pt x="2107" y="87"/>
                  <ns1:pt x="2102" y="92"/>
                </ns1:cubicBezTo>
                <ns1:cubicBezTo>
                  <ns1:pt x="2097" y="97"/>
                  <ns1:pt x="2091" y="100"/>
                  <ns1:pt x="2084" y="103"/>
                </ns1:cubicBezTo>
                <ns1:cubicBezTo>
                  <ns1:pt x="2078" y="106"/>
                  <ns1:pt x="2071" y="107"/>
                  <ns1:pt x="2064" y="107"/>
                </ns1:cubicBezTo>
                <ns1:lnTo>
                  <ns1:pt x="53" y="107"/>
                </ns1:lnTo>
                <ns1:cubicBezTo>
                  <ns1:pt x="46" y="107"/>
                  <ns1:pt x="40" y="106"/>
                  <ns1:pt x="33" y="103"/>
                </ns1:cubicBezTo>
                <ns1:cubicBezTo>
                  <ns1:pt x="27" y="100"/>
                  <ns1:pt x="21" y="97"/>
                  <ns1:pt x="16" y="92"/>
                </ns1:cubicBezTo>
                <ns1:cubicBezTo>
                  <ns1:pt x="11" y="87"/>
                  <ns1:pt x="7" y="81"/>
                  <ns1:pt x="5" y="74"/>
                </ns1:cubicBezTo>
                <ns1:cubicBezTo>
                  <ns1:pt x="2" y="68"/>
                  <ns1:pt x="0" y="61"/>
                  <ns1:pt x="0" y="54"/>
                </ns1:cubicBezTo>
                <ns1:close/>
              </ns1:path>
            </ns1:pathLst>
          </ns1:custGeom>
          <ns1:solidFill>
            <ns1:srgbClr val="3b82f6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93" name=""/>
          <ns0:cNvSpPr txBox="1"/>
          <ns0:nvPr/>
        </ns0:nvSpPr>
        <ns0:spPr>
          <ns1:xfrm>
            <ns1:off x="5715000" y="891360"/>
            <ns1:ext cx="2970371" cy="399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7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被挑战的论文：PbC</ns1:t>
            </ns1:r>
            <ns1:endParaRPr b="0" lang="en-US" sz="27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94" name=""/>
          <ns0:cNvSpPr/>
          <ns0:nvPr/>
        </ns0:nvSpPr>
        <ns0:spPr>
          <ns1:xfrm>
            <ns1:off x="5714640" y="4981320"/>
            <ns1:ext cx="38520" cy="991080"/>
          </ns1:xfrm>
          <ns1:custGeom>
            <ns1:avLst/>
            <ns1:gdLst/>
            <ns1:ahLst/>
            <ns1:rect l="0" t="0" r="r" b="b"/>
            <ns1:pathLst>
              <ns1:path w="107" h="2753">
                <ns1:moveTo>
                  <ns1:pt x="0" y="0"/>
                </ns1:moveTo>
                <ns1:lnTo>
                  <ns1:pt x="107" y="0"/>
                </ns1:lnTo>
                <ns1:lnTo>
                  <ns1:pt x="107" y="2753"/>
                </ns1:lnTo>
                <ns1:lnTo>
                  <ns1:pt x="0" y="2753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3b82f6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96" name=""/>
          <ns0:cNvSpPr txBox="1"/>
          <ns0:nvPr/>
        </ns0:nvSpPr>
        <ns0:spPr>
          <ns1:xfrm>
            <ns1:off x="5715000" y="1911960"/>
            <ns1:ext cx="1106424" cy="2656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8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论文主张</ns1:t>
            </ns1:r>
            <ns1:endParaRPr b="0" lang="en-US" sz="18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97" name=""/>
          <ns0:cNvSpPr txBox="1"/>
          <ns0:nvPr/>
        </ns0:nvSpPr>
        <ns0:spPr>
          <ns1:xfrm>
            <ns1:off x="5715000" y="2334960"/>
            <ns1:ext cx="5560695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《Patterns behind Chaos》（PbC）：MoE专家路由并非随机，存在可利用的全局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4" name=""/>
          <ns0:cNvSpPr txBox="1"/>
          <ns0:nvPr/>
        </ns0:nvSpPr>
        <ns0:spPr>
          <ns1:xfrm>
            <ns1:off x="5715000" y="2582640"/>
            <ns1:ext cx="200025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集中性（G）和时间局部性（T）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9" name=""/>
          <ns0:cNvSpPr txBox="1"/>
          <ns0:nvPr/>
        </ns0:nvSpPr>
        <ns0:spPr>
          <ns1:xfrm>
            <ns1:off x="5715000" y="3035880"/>
            <ns1:ext cx="1106424" cy="2656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8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核心证据</ns1:t>
            </ns1:r>
            <ns1:endParaRPr b="0" lang="en-US" sz="18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10" name=""/>
          <ns0:cNvSpPr txBox="1"/>
          <ns0:nvPr/>
        </ns0:nvSpPr>
        <ns0:spPr>
          <ns1:xfrm>
            <ns1:off x="5715000" y="3458880"/>
            <ns1:ext cx="368808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热专家跨层跨模型稳定存在；近期访问具有重复性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11" name=""/>
          <ns0:cNvSpPr txBox="1"/>
          <ns0:nvPr/>
        </ns0:nvSpPr>
        <ns0:spPr>
          <ns1:xfrm>
            <ns1:off x="5715000" y="3912120"/>
            <ns1:ext cx="1106424" cy="2656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8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评测盲区</ns1:t>
            </ns1:r>
            <ns1:endParaRPr b="0" lang="en-US" sz="18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12" name=""/>
          <ns0:cNvSpPr txBox="1"/>
          <ns0:nvPr/>
        </ns0:nvSpPr>
        <ns0:spPr>
          <ns1:xfrm>
            <ns1:off x="5715000" y="4335480"/>
            <ns1:ext cx="5400675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该论文未区分任务类型——所有benchmark混合评测，默认路由分布在整个使用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17" name=""/>
          <ns0:cNvSpPr txBox="1"/>
          <ns0:nvPr/>
        </ns0:nvSpPr>
        <ns0:spPr>
          <ns1:xfrm>
            <ns1:off x="5715000" y="4582800"/>
            <ns1:ext cx="1232154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过程中"足够稳定"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1" name=""/>
          <ns0:cNvSpPr txBox="1"/>
          <ns0:nvPr/>
        </ns0:nvSpPr>
        <ns0:spPr>
          <ns1:xfrm>
            <ns1:off x="5905440" y="5178960"/>
            <ns1:ext cx="1659636" cy="2656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800" strike="noStrike" u="none" i="0">
                <ns1:solidFill>
                  <ns1:srgbClr val="3b82f6"/>
                </ns1:solidFill>
                <ns1:effectLst/>
                <ns1:uFillTx/>
                <ns1:latin typeface="Noto Sans SC"/>
                <ns1:ea typeface="Noto Sans SC"/>
              </ns1:rPr>
              <ns1:t>我们的切入点</ns1:t>
            </ns1:r>
            <ns1:endParaRPr b="0" lang="en-US" sz="18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pic>
        <ns0:nvPicPr>
          <ns0:cNvPr id="122" name="" descr=""/>
          <ns0:cNvPicPr/>
          <ns0:nvPr/>
        </ns0:nvPicPr>
        <ns0:blipFill>
          <ns1:blip ns2:embed="rId2"/>
          <ns1:stretch/>
        </ns0:blipFill>
        <ns0:spPr>
          <ns1:xfrm>
            <ns1:off x="457200" y="457200"/>
            <ns1:ext cx="151920" cy="151920"/>
          </ns1:xfrm>
          <ns1:prstGeom prst="rect">
            <ns1:avLst/>
          </ns1:prstGeom>
          <ns1:noFill/>
          <ns1:ln w="0">
            <ns1:noFill/>
          </ns1:ln>
        </ns0:spPr>
      </ns0:pic>
      <ns0:sp>
        <ns0:nvSpPr>
          <ns0:cNvPr id="123" name=""/>
          <ns0:cNvSpPr txBox="1"/>
          <ns0:nvPr/>
        </ns0:nvSpPr>
        <ns0:spPr>
          <ns1:xfrm>
            <ns1:off x="5905440" y="5611680"/>
            <ns1:ext cx="46939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一旦请求流的任务类型发生切换，这个「稳定」假设还成立吗？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" name=""/>
          <ns0:cNvSpPr txBox="1"/>
          <ns0:nvPr/>
        </ns0:nvSpPr>
        <ns0:spPr>
          <ns1:xfrm>
            <ns1:off x="4419720" y="487080"/>
            <ns1:ext cx="744093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MoE专家路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</ns0:spTree>
  </ns0:cSld>
  <ns3:AlternateContent>
    <ns3:Choice Requires="p14">
      <ns0:transition spd="slow" ns4:dur="2000"/>
    </ns3:Choice>
    <ns3:Fallback>
      <ns0:transition spd="slow"/>
    </ns3:Fallback>
  </ns3:AlternateContent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29" name=""/>
          <ns0:cNvSpPr/>
          <ns0:nvPr/>
        </ns0:nvSpPr>
        <ns0:spPr>
          <ns1:xfrm>
            <ns1:off x="0" y="0"/>
            <ns1:ext cx="12192120" cy="6858000"/>
          </ns1:xfrm>
          <ns1:custGeom>
            <ns1:avLst/>
            <ns1:gdLst/>
            <ns1:ahLst/>
            <ns1:rect l="0" t="0" r="r" b="b"/>
            <ns1:pathLst>
              <ns1:path w="33867" h="19050">
                <ns1:moveTo>
                  <ns1:pt x="0" y="0"/>
                </ns1:moveTo>
                <ns1:lnTo>
                  <ns1:pt x="33867" y="0"/>
                </ns1:lnTo>
                <ns1:lnTo>
                  <ns1:pt x="33867" y="19050"/>
                </ns1:lnTo>
                <ns1:lnTo>
                  <ns1:pt x="0" y="1905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8f9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0" name=""/>
          <ns0:cNvSpPr/>
          <ns0:nvPr/>
        </ns0:nvSpPr>
        <ns0:spPr>
          <ns1:xfrm>
            <ns1:off x="4680" y="4680"/>
            <ns1:ext cx="12182760" cy="6848640"/>
          </ns1:xfrm>
          <ns1:custGeom>
            <ns1:avLst/>
            <ns1:gdLst/>
            <ns1:ahLst/>
            <ns1:rect l="0" t="0" r="r" b="b"/>
            <ns1:pathLst>
              <ns1:path fill="none" w="33841" h="19024">
                <ns1:moveTo>
                  <ns1:pt x="0" y="0"/>
                </ns1:moveTo>
                <ns1:lnTo>
                  <ns1:pt x="33841" y="0"/>
                </ns1:lnTo>
                <ns1:lnTo>
                  <ns1:pt x="33841" y="19024"/>
                </ns1:lnTo>
                <ns1:lnTo>
                  <ns1:pt x="0" y="19024"/>
                </ns1:lnTo>
                <ns1:lnTo>
                  <ns1:pt x="0" y="0"/>
                </ns1:lnTo>
              </ns1:path>
            </ns1:pathLst>
          </ns1:custGeom>
          <ns1:ln w="9360">
            <ns1:solidFill>
              <ns1:srgbClr val="c0c0c0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" name=""/>
          <ns0:cNvSpPr/>
          <ns0:nvPr/>
        </ns0:nvSpPr>
        <ns0:spPr>
          <ns1:xfrm>
            <ns1:off x="5714640" y="3504960"/>
            <ns1:ext cx="762480" cy="38520"/>
          </ns1:xfrm>
          <ns1:custGeom>
            <ns1:avLst/>
            <ns1:gdLst/>
            <ns1:ahLst/>
            <ns1:rect l="0" t="0" r="r" b="b"/>
            <ns1:pathLst>
              <ns1:path w="2118" h="107">
                <ns1:moveTo>
                  <ns1:pt x="0" y="53"/>
                </ns1:moveTo>
                <ns1:cubicBezTo>
                  <ns1:pt x="0" y="46"/>
                  <ns1:pt x="2" y="39"/>
                  <ns1:pt x="5" y="33"/>
                </ns1:cubicBezTo>
                <ns1:cubicBezTo>
                  <ns1:pt x="7" y="26"/>
                  <ns1:pt x="11" y="21"/>
                  <ns1:pt x="16" y="16"/>
                </ns1:cubicBezTo>
                <ns1:cubicBezTo>
                  <ns1:pt x="21" y="11"/>
                  <ns1:pt x="27" y="7"/>
                  <ns1:pt x="33" y="4"/>
                </ns1:cubicBezTo>
                <ns1:cubicBezTo>
                  <ns1:pt x="40" y="2"/>
                  <ns1:pt x="46" y="0"/>
                  <ns1:pt x="53" y="0"/>
                </ns1:cubicBezTo>
                <ns1:lnTo>
                  <ns1:pt x="2064" y="0"/>
                </ns1:lnTo>
                <ns1:cubicBezTo>
                  <ns1:pt x="2071" y="0"/>
                  <ns1:pt x="2078" y="2"/>
                  <ns1:pt x="2084" y="4"/>
                </ns1:cubicBezTo>
                <ns1:cubicBezTo>
                  <ns1:pt x="2091" y="7"/>
                  <ns1:pt x="2097" y="11"/>
                  <ns1:pt x="2102" y="16"/>
                </ns1:cubicBezTo>
                <ns1:cubicBezTo>
                  <ns1:pt x="2107" y="21"/>
                  <ns1:pt x="2110" y="26"/>
                  <ns1:pt x="2114" y="33"/>
                </ns1:cubicBezTo>
                <ns1:cubicBezTo>
                  <ns1:pt x="2117" y="39"/>
                  <ns1:pt x="2118" y="46"/>
                  <ns1:pt x="2118" y="53"/>
                </ns1:cubicBezTo>
                <ns1:cubicBezTo>
                  <ns1:pt x="2118" y="60"/>
                  <ns1:pt x="2117" y="67"/>
                  <ns1:pt x="2114" y="73"/>
                </ns1:cubicBezTo>
                <ns1:cubicBezTo>
                  <ns1:pt x="2110" y="80"/>
                  <ns1:pt x="2107" y="87"/>
                  <ns1:pt x="2102" y="91"/>
                </ns1:cubicBezTo>
                <ns1:cubicBezTo>
                  <ns1:pt x="2097" y="96"/>
                  <ns1:pt x="2091" y="100"/>
                  <ns1:pt x="2084" y="103"/>
                </ns1:cubicBezTo>
                <ns1:cubicBezTo>
                  <ns1:pt x="2078" y="106"/>
                  <ns1:pt x="2071" y="107"/>
                  <ns1:pt x="2064" y="107"/>
                </ns1:cubicBezTo>
                <ns1:lnTo>
                  <ns1:pt x="53" y="107"/>
                </ns1:lnTo>
                <ns1:cubicBezTo>
                  <ns1:pt x="46" y="107"/>
                  <ns1:pt x="40" y="106"/>
                  <ns1:pt x="33" y="103"/>
                </ns1:cubicBezTo>
                <ns1:cubicBezTo>
                  <ns1:pt x="27" y="100"/>
                  <ns1:pt x="21" y="96"/>
                  <ns1:pt x="16" y="91"/>
                </ns1:cubicBezTo>
                <ns1:cubicBezTo>
                  <ns1:pt x="11" y="87"/>
                  <ns1:pt x="7" y="80"/>
                  <ns1:pt x="5" y="73"/>
                </ns1:cubicBezTo>
                <ns1:cubicBezTo>
                  <ns1:pt x="2" y="67"/>
                  <ns1:pt x="0" y="60"/>
                  <ns1:pt x="0" y="53"/>
                </ns1:cubicBezTo>
                <ns1:close/>
              </ns1:path>
            </ns1:pathLst>
          </ns1:custGeom>
          <ns1:solidFill>
            <ns1:srgbClr val="3b82f6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2" name=""/>
          <ns0:cNvSpPr/>
          <ns0:nvPr/>
        </ns0:nvSpPr>
        <ns0:spPr>
          <ns1:xfrm>
            <ns1:off x="309240" y="3852720"/>
            <ns1:ext cx="5629680" cy="2696040"/>
          </ns1:xfrm>
          <ns1:custGeom>
            <ns1:avLst/>
            <ns1:gdLst/>
            <ns1:ahLst/>
            <ns1:rect l="0" t="0" r="r" b="b"/>
            <ns1:pathLst>
              <ns1:path w="15638" h="7489">
                <ns1:moveTo>
                  <ns1:pt x="0" y="7290"/>
                </ns1:moveTo>
                <ns1:lnTo>
                  <ns1:pt x="0" y="198"/>
                </ns1:lnTo>
                <ns1:cubicBezTo>
                  <ns1:pt x="0" y="185"/>
                  <ns1:pt x="2" y="172"/>
                  <ns1:pt x="4" y="160"/>
                </ns1:cubicBezTo>
                <ns1:cubicBezTo>
                  <ns1:pt x="7" y="147"/>
                  <ns1:pt x="11" y="134"/>
                  <ns1:pt x="16" y="122"/>
                </ns1:cubicBezTo>
                <ns1:cubicBezTo>
                  <ns1:pt x="20" y="110"/>
                  <ns1:pt x="27" y="99"/>
                  <ns1:pt x="34" y="88"/>
                </ns1:cubicBezTo>
                <ns1:cubicBezTo>
                  <ns1:pt x="41" y="77"/>
                  <ns1:pt x="49" y="67"/>
                  <ns1:pt x="59" y="58"/>
                </ns1:cubicBezTo>
                <ns1:cubicBezTo>
                  <ns1:pt x="68" y="49"/>
                  <ns1:pt x="78" y="41"/>
                  <ns1:pt x="89" y="33"/>
                </ns1:cubicBezTo>
                <ns1:cubicBezTo>
                  <ns1:pt x="99" y="26"/>
                  <ns1:pt x="111" y="20"/>
                  <ns1:pt x="123" y="15"/>
                </ns1:cubicBezTo>
                <ns1:cubicBezTo>
                  <ns1:pt x="135" y="10"/>
                  <ns1:pt x="147" y="6"/>
                  <ns1:pt x="160" y="4"/>
                </ns1:cubicBezTo>
                <ns1:cubicBezTo>
                  <ns1:pt x="173" y="1"/>
                  <ns1:pt x="186" y="0"/>
                  <ns1:pt x="199" y="0"/>
                </ns1:cubicBezTo>
                <ns1:lnTo>
                  <ns1:pt x="15440" y="0"/>
                </ns1:lnTo>
                <ns1:cubicBezTo>
                  <ns1:pt x="15453" y="0"/>
                  <ns1:pt x="15466" y="1"/>
                  <ns1:pt x="15479" y="4"/>
                </ns1:cubicBezTo>
                <ns1:cubicBezTo>
                  <ns1:pt x="15491" y="6"/>
                  <ns1:pt x="15504" y="10"/>
                  <ns1:pt x="15516" y="15"/>
                </ns1:cubicBezTo>
                <ns1:cubicBezTo>
                  <ns1:pt x="15528" y="20"/>
                  <ns1:pt x="15539" y="26"/>
                  <ns1:pt x="15550" y="33"/>
                </ns1:cubicBezTo>
                <ns1:cubicBezTo>
                  <ns1:pt x="15561" y="41"/>
                  <ns1:pt x="15571" y="49"/>
                  <ns1:pt x="15580" y="58"/>
                </ns1:cubicBezTo>
                <ns1:cubicBezTo>
                  <ns1:pt x="15589" y="67"/>
                  <ns1:pt x="15598" y="77"/>
                  <ns1:pt x="15605" y="88"/>
                </ns1:cubicBezTo>
                <ns1:cubicBezTo>
                  <ns1:pt x="15612" y="99"/>
                  <ns1:pt x="15618" y="110"/>
                  <ns1:pt x="15623" y="122"/>
                </ns1:cubicBezTo>
                <ns1:cubicBezTo>
                  <ns1:pt x="15628" y="134"/>
                  <ns1:pt x="15632" y="147"/>
                  <ns1:pt x="15634" y="160"/>
                </ns1:cubicBezTo>
                <ns1:cubicBezTo>
                  <ns1:pt x="15637" y="172"/>
                  <ns1:pt x="15638" y="185"/>
                  <ns1:pt x="15638" y="198"/>
                </ns1:cubicBezTo>
                <ns1:lnTo>
                  <ns1:pt x="15638" y="7290"/>
                </ns1:lnTo>
                <ns1:cubicBezTo>
                  <ns1:pt x="15638" y="7303"/>
                  <ns1:pt x="15637" y="7316"/>
                  <ns1:pt x="15634" y="7329"/>
                </ns1:cubicBezTo>
                <ns1:cubicBezTo>
                  <ns1:pt x="15632" y="7342"/>
                  <ns1:pt x="15628" y="7354"/>
                  <ns1:pt x="15623" y="7366"/>
                </ns1:cubicBezTo>
                <ns1:cubicBezTo>
                  <ns1:pt x="15618" y="7378"/>
                  <ns1:pt x="15612" y="7390"/>
                  <ns1:pt x="15605" y="7400"/>
                </ns1:cubicBezTo>
                <ns1:cubicBezTo>
                  <ns1:pt x="15598" y="7411"/>
                  <ns1:pt x="15589" y="7421"/>
                  <ns1:pt x="15580" y="7430"/>
                </ns1:cubicBezTo>
                <ns1:cubicBezTo>
                  <ns1:pt x="15571" y="7440"/>
                  <ns1:pt x="15561" y="7448"/>
                  <ns1:pt x="15550" y="7455"/>
                </ns1:cubicBezTo>
                <ns1:cubicBezTo>
                  <ns1:pt x="15539" y="7462"/>
                  <ns1:pt x="15528" y="7469"/>
                  <ns1:pt x="15516" y="7473"/>
                </ns1:cubicBezTo>
                <ns1:cubicBezTo>
                  <ns1:pt x="15504" y="7478"/>
                  <ns1:pt x="15491" y="7482"/>
                  <ns1:pt x="15479" y="7485"/>
                </ns1:cubicBezTo>
                <ns1:cubicBezTo>
                  <ns1:pt x="15466" y="7487"/>
                  <ns1:pt x="15453" y="7489"/>
                  <ns1:pt x="15440" y="7489"/>
                </ns1:cubicBezTo>
                <ns1:lnTo>
                  <ns1:pt x="199" y="7489"/>
                </ns1:lnTo>
                <ns1:cubicBezTo>
                  <ns1:pt x="186" y="7489"/>
                  <ns1:pt x="173" y="7487"/>
                  <ns1:pt x="160" y="7485"/>
                </ns1:cubicBezTo>
                <ns1:cubicBezTo>
                  <ns1:pt x="147" y="7482"/>
                  <ns1:pt x="135" y="7478"/>
                  <ns1:pt x="123" y="7473"/>
                </ns1:cubicBezTo>
                <ns1:cubicBezTo>
                  <ns1:pt x="111" y="7469"/>
                  <ns1:pt x="99" y="7462"/>
                  <ns1:pt x="89" y="7455"/>
                </ns1:cubicBezTo>
                <ns1:cubicBezTo>
                  <ns1:pt x="78" y="7448"/>
                  <ns1:pt x="68" y="7440"/>
                  <ns1:pt x="59" y="7430"/>
                </ns1:cubicBezTo>
                <ns1:cubicBezTo>
                  <ns1:pt x="49" y="7421"/>
                  <ns1:pt x="41" y="7411"/>
                  <ns1:pt x="34" y="7400"/>
                </ns1:cubicBezTo>
                <ns1:cubicBezTo>
                  <ns1:pt x="27" y="7390"/>
                  <ns1:pt x="20" y="7378"/>
                  <ns1:pt x="16" y="7366"/>
                </ns1:cubicBezTo>
                <ns1:cubicBezTo>
                  <ns1:pt x="11" y="7354"/>
                  <ns1:pt x="7" y="7342"/>
                  <ns1:pt x="4" y="7329"/>
                </ns1:cubicBezTo>
                <ns1:cubicBezTo>
                  <ns1:pt x="2" y="7316"/>
                  <ns1:pt x="0" y="7303"/>
                  <ns1:pt x="0" y="7290"/>
                </ns1:cubicBezTo>
                <ns1:close/>
              </ns1:path>
            </ns1:pathLst>
          </ns1:custGeom>
          <ns1:solidFill>
            <ns1:srgbClr val="fffff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3" name=""/>
          <ns0:cNvSpPr/>
          <ns0:nvPr/>
        </ns0:nvSpPr>
        <ns0:spPr>
          <ns1:xfrm>
            <ns1:off x="309240" y="3852720"/>
            <ns1:ext cx="5629680" cy="2696040"/>
          </ns1:xfrm>
          <ns1:custGeom>
            <ns1:avLst/>
            <ns1:gdLst/>
            <ns1:ahLst/>
            <ns1:rect l="0" t="0" r="r" b="b"/>
            <ns1:pathLst>
              <ns1:path fill="none" w="15638" h="7489">
                <ns1:moveTo>
                  <ns1:pt x="0" y="7290"/>
                </ns1:moveTo>
                <ns1:lnTo>
                  <ns1:pt x="0" y="198"/>
                </ns1:lnTo>
                <ns1:cubicBezTo>
                  <ns1:pt x="0" y="185"/>
                  <ns1:pt x="2" y="172"/>
                  <ns1:pt x="4" y="160"/>
                </ns1:cubicBezTo>
                <ns1:cubicBezTo>
                  <ns1:pt x="7" y="147"/>
                  <ns1:pt x="11" y="134"/>
                  <ns1:pt x="16" y="122"/>
                </ns1:cubicBezTo>
                <ns1:cubicBezTo>
                  <ns1:pt x="20" y="110"/>
                  <ns1:pt x="27" y="99"/>
                  <ns1:pt x="34" y="88"/>
                </ns1:cubicBezTo>
                <ns1:cubicBezTo>
                  <ns1:pt x="41" y="77"/>
                  <ns1:pt x="49" y="67"/>
                  <ns1:pt x="59" y="58"/>
                </ns1:cubicBezTo>
                <ns1:cubicBezTo>
                  <ns1:pt x="68" y="49"/>
                  <ns1:pt x="78" y="41"/>
                  <ns1:pt x="89" y="33"/>
                </ns1:cubicBezTo>
                <ns1:cubicBezTo>
                  <ns1:pt x="99" y="26"/>
                  <ns1:pt x="111" y="20"/>
                  <ns1:pt x="123" y="15"/>
                </ns1:cubicBezTo>
                <ns1:cubicBezTo>
                  <ns1:pt x="135" y="10"/>
                  <ns1:pt x="147" y="6"/>
                  <ns1:pt x="160" y="4"/>
                </ns1:cubicBezTo>
                <ns1:cubicBezTo>
                  <ns1:pt x="173" y="1"/>
                  <ns1:pt x="186" y="0"/>
                  <ns1:pt x="199" y="0"/>
                </ns1:cubicBezTo>
                <ns1:lnTo>
                  <ns1:pt x="15440" y="0"/>
                </ns1:lnTo>
                <ns1:cubicBezTo>
                  <ns1:pt x="15453" y="0"/>
                  <ns1:pt x="15466" y="1"/>
                  <ns1:pt x="15479" y="4"/>
                </ns1:cubicBezTo>
                <ns1:cubicBezTo>
                  <ns1:pt x="15491" y="6"/>
                  <ns1:pt x="15504" y="10"/>
                  <ns1:pt x="15516" y="15"/>
                </ns1:cubicBezTo>
                <ns1:cubicBezTo>
                  <ns1:pt x="15528" y="20"/>
                  <ns1:pt x="15539" y="26"/>
                  <ns1:pt x="15550" y="33"/>
                </ns1:cubicBezTo>
                <ns1:cubicBezTo>
                  <ns1:pt x="15561" y="41"/>
                  <ns1:pt x="15571" y="49"/>
                  <ns1:pt x="15580" y="58"/>
                </ns1:cubicBezTo>
                <ns1:cubicBezTo>
                  <ns1:pt x="15589" y="67"/>
                  <ns1:pt x="15598" y="77"/>
                  <ns1:pt x="15605" y="88"/>
                </ns1:cubicBezTo>
                <ns1:cubicBezTo>
                  <ns1:pt x="15612" y="99"/>
                  <ns1:pt x="15618" y="110"/>
                  <ns1:pt x="15623" y="122"/>
                </ns1:cubicBezTo>
                <ns1:cubicBezTo>
                  <ns1:pt x="15628" y="134"/>
                  <ns1:pt x="15632" y="147"/>
                  <ns1:pt x="15634" y="160"/>
                </ns1:cubicBezTo>
                <ns1:cubicBezTo>
                  <ns1:pt x="15637" y="172"/>
                  <ns1:pt x="15638" y="185"/>
                  <ns1:pt x="15638" y="198"/>
                </ns1:cubicBezTo>
                <ns1:lnTo>
                  <ns1:pt x="15638" y="7290"/>
                </ns1:lnTo>
                <ns1:cubicBezTo>
                  <ns1:pt x="15638" y="7303"/>
                  <ns1:pt x="15637" y="7316"/>
                  <ns1:pt x="15634" y="7329"/>
                </ns1:cubicBezTo>
                <ns1:cubicBezTo>
                  <ns1:pt x="15632" y="7342"/>
                  <ns1:pt x="15628" y="7354"/>
                  <ns1:pt x="15623" y="7366"/>
                </ns1:cubicBezTo>
                <ns1:cubicBezTo>
                  <ns1:pt x="15618" y="7378"/>
                  <ns1:pt x="15612" y="7390"/>
                  <ns1:pt x="15605" y="7400"/>
                </ns1:cubicBezTo>
                <ns1:cubicBezTo>
                  <ns1:pt x="15598" y="7411"/>
                  <ns1:pt x="15589" y="7421"/>
                  <ns1:pt x="15580" y="7430"/>
                </ns1:cubicBezTo>
                <ns1:cubicBezTo>
                  <ns1:pt x="15571" y="7440"/>
                  <ns1:pt x="15561" y="7448"/>
                  <ns1:pt x="15550" y="7455"/>
                </ns1:cubicBezTo>
                <ns1:cubicBezTo>
                  <ns1:pt x="15539" y="7462"/>
                  <ns1:pt x="15528" y="7469"/>
                  <ns1:pt x="15516" y="7473"/>
                </ns1:cubicBezTo>
                <ns1:cubicBezTo>
                  <ns1:pt x="15504" y="7478"/>
                  <ns1:pt x="15491" y="7482"/>
                  <ns1:pt x="15479" y="7485"/>
                </ns1:cubicBezTo>
                <ns1:cubicBezTo>
                  <ns1:pt x="15466" y="7487"/>
                  <ns1:pt x="15453" y="7489"/>
                  <ns1:pt x="15440" y="7489"/>
                </ns1:cubicBezTo>
                <ns1:lnTo>
                  <ns1:pt x="199" y="7489"/>
                </ns1:lnTo>
                <ns1:cubicBezTo>
                  <ns1:pt x="186" y="7489"/>
                  <ns1:pt x="173" y="7487"/>
                  <ns1:pt x="160" y="7485"/>
                </ns1:cubicBezTo>
                <ns1:cubicBezTo>
                  <ns1:pt x="147" y="7482"/>
                  <ns1:pt x="135" y="7478"/>
                  <ns1:pt x="123" y="7473"/>
                </ns1:cubicBezTo>
                <ns1:cubicBezTo>
                  <ns1:pt x="111" y="7469"/>
                  <ns1:pt x="99" y="7462"/>
                  <ns1:pt x="89" y="7455"/>
                </ns1:cubicBezTo>
                <ns1:cubicBezTo>
                  <ns1:pt x="78" y="7448"/>
                  <ns1:pt x="68" y="7440"/>
                  <ns1:pt x="59" y="7430"/>
                </ns1:cubicBezTo>
                <ns1:cubicBezTo>
                  <ns1:pt x="49" y="7421"/>
                  <ns1:pt x="41" y="7411"/>
                  <ns1:pt x="34" y="7400"/>
                </ns1:cubicBezTo>
                <ns1:cubicBezTo>
                  <ns1:pt x="27" y="7390"/>
                  <ns1:pt x="20" y="7378"/>
                  <ns1:pt x="16" y="7366"/>
                </ns1:cubicBezTo>
                <ns1:cubicBezTo>
                  <ns1:pt x="11" y="7354"/>
                  <ns1:pt x="7" y="7342"/>
                  <ns1:pt x="4" y="7329"/>
                </ns1:cubicBezTo>
                <ns1:cubicBezTo>
                  <ns1:pt x="2" y="7316"/>
                  <ns1:pt x="0" y="7303"/>
                  <ns1:pt x="0" y="7290"/>
                </ns1:cubicBezTo>
              </ns1:path>
            </ns1:pathLst>
          </ns1:custGeom>
          <ns1:ln w="9360">
            <ns1:solidFill>
              <ns1:srgbClr val="e5e7eb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4" name=""/>
          <ns0:cNvSpPr txBox="1"/>
          <ns0:nvPr/>
        </ns0:nvSpPr>
        <ns0:spPr>
          <ns1:xfrm>
            <ns1:off x="542880" y="4133880"/>
            <ns1:ext cx="1936242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三个真实来源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5" name=""/>
          <ns0:cNvSpPr txBox="1"/>
          <ns0:nvPr/>
        </ns0:nvSpPr>
        <ns0:spPr>
          <ns1:xfrm>
            <ns1:off x="581040" y="4697280"/>
            <ns1:ext cx="653796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3b82f6"/>
                </ns1:solidFill>
                <ns1:effectLst/>
                <ns1:uFillTx/>
                <ns1:latin typeface="Noto Sans SC"/>
                <ns1:ea typeface="Noto Sans SC"/>
              </ns1:rPr>
              <ns1:t>①</ns1:t>
            </ns1:r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多租戶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6" name=""/>
          <ns0:cNvSpPr txBox="1"/>
          <ns0:nvPr/>
        </ns0:nvSpPr>
        <ns0:spPr>
          <ns1:xfrm>
            <ns1:off x="1343160" y="4697280"/>
            <ns1:ext cx="2280283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serving（代码+数学+问答混流）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42" name=""/>
          <ns0:cNvSpPr txBox="1"/>
          <ns0:nvPr/>
        </ns0:nvSpPr>
        <ns0:spPr>
          <ns1:xfrm>
            <ns1:off x="581040" y="5049720"/>
            <ns1:ext cx="1519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3b82f6"/>
                </ns1:solidFill>
                <ns1:effectLst/>
                <ns1:uFillTx/>
                <ns1:latin typeface="Noto Sans SC"/>
                <ns1:ea typeface="Noto Sans SC"/>
              </ns1:rPr>
              <ns1:t>②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43" name=""/>
          <ns0:cNvSpPr txBox="1"/>
          <ns0:nvPr/>
        </ns0:nvSpPr>
        <ns0:spPr>
          <ns1:xfrm>
            <ns1:off x="885960" y="5049720"/>
            <ns1:ext cx="2888361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Agentic流水线（同一会话内跨任务跳转）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45" name=""/>
          <ns0:cNvSpPr/>
          <ns0:nvPr/>
        </ns0:nvSpPr>
        <ns0:spPr>
          <ns1:xfrm>
            <ns1:off x="542880" y="5628960"/>
            <ns1:ext cx="5162760" cy="10080"/>
          </ns1:xfrm>
          <ns1:custGeom>
            <ns1:avLst/>
            <ns1:gdLst/>
            <ns1:ahLst/>
            <ns1:rect l="0" t="0" r="r" b="b"/>
            <ns1:pathLst>
              <ns1:path w="14341" h="28">
                <ns1:moveTo>
                  <ns1:pt x="0" y="0"/>
                </ns1:moveTo>
                <ns1:lnTo>
                  <ns1:pt x="14341" y="0"/>
                </ns1:lnTo>
                <ns1:lnTo>
                  <ns1:pt x="14341" y="28"/>
                </ns1:lnTo>
                <ns1:lnTo>
                  <ns1:pt x="0" y="28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e5e7e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46" name=""/>
          <ns0:cNvSpPr txBox="1"/>
          <ns0:nvPr/>
        </ns0:nvSpPr>
        <ns0:spPr>
          <ns1:xfrm>
            <ns1:off x="581040" y="5411520"/>
            <ns1:ext cx="1475232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3b82f6"/>
                </ns1:solidFill>
                <ns1:effectLst/>
                <ns1:uFillTx/>
                <ns1:latin typeface="Noto Sans SC"/>
                <ns1:ea typeface="Noto Sans SC"/>
              </ns1:rPr>
              <ns1:t>③</ns1:t>
            </ns1:r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长会话主题漂移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47" name=""/>
          <ns0:cNvSpPr txBox="1"/>
          <ns0:nvPr/>
        </ns0:nvSpPr>
        <ns0:spPr>
          <ns1:xfrm>
            <ns1:off x="542880" y="5838840"/>
            <ns1:ext cx="1613535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主评测场景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48" name=""/>
          <ns0:cNvSpPr txBox="1"/>
          <ns0:nvPr/>
        </ns0:nvSpPr>
        <ns0:spPr>
          <ns1:xfrm>
            <ns1:off x="542880" y="6392880"/>
            <ns1:ext cx="1696212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顺序漂移（任务A →任务B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52" name=""/>
          <ns0:cNvSpPr txBox="1"/>
          <ns0:nvPr/>
        </ns0:nvSpPr>
        <ns0:spPr>
          <ns1:xfrm>
            <ns1:off x="2473560" y="6392880"/>
            <ns1:ext cx="2900172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的顺序切换），对应来源②③；多租戶为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53" name=""/>
          <ns0:cNvSpPr/>
          <ns0:nvPr/>
        </ns0:nvSpPr>
        <ns0:spPr>
          <ns1:xfrm>
            <ns1:off x="6252840" y="3852720"/>
            <ns1:ext cx="5629680" cy="2696040"/>
          </ns1:xfrm>
          <ns1:custGeom>
            <ns1:avLst/>
            <ns1:gdLst/>
            <ns1:ahLst/>
            <ns1:rect l="0" t="0" r="r" b="b"/>
            <ns1:pathLst>
              <ns1:path w="15638" h="7489">
                <ns1:moveTo>
                  <ns1:pt x="0" y="7290"/>
                </ns1:moveTo>
                <ns1:lnTo>
                  <ns1:pt x="0" y="198"/>
                </ns1:lnTo>
                <ns1:cubicBezTo>
                  <ns1:pt x="0" y="185"/>
                  <ns1:pt x="2" y="172"/>
                  <ns1:pt x="4" y="160"/>
                </ns1:cubicBezTo>
                <ns1:cubicBezTo>
                  <ns1:pt x="7" y="147"/>
                  <ns1:pt x="11" y="134"/>
                  <ns1:pt x="15" y="122"/>
                </ns1:cubicBezTo>
                <ns1:cubicBezTo>
                  <ns1:pt x="20" y="110"/>
                  <ns1:pt x="27" y="99"/>
                  <ns1:pt x="34" y="88"/>
                </ns1:cubicBezTo>
                <ns1:cubicBezTo>
                  <ns1:pt x="41" y="77"/>
                  <ns1:pt x="49" y="67"/>
                  <ns1:pt x="59" y="58"/>
                </ns1:cubicBezTo>
                <ns1:cubicBezTo>
                  <ns1:pt x="68" y="49"/>
                  <ns1:pt x="78" y="41"/>
                  <ns1:pt x="89" y="33"/>
                </ns1:cubicBezTo>
                <ns1:cubicBezTo>
                  <ns1:pt x="99" y="26"/>
                  <ns1:pt x="111" y="20"/>
                  <ns1:pt x="123" y="15"/>
                </ns1:cubicBezTo>
                <ns1:cubicBezTo>
                  <ns1:pt x="135" y="10"/>
                  <ns1:pt x="147" y="6"/>
                  <ns1:pt x="160" y="4"/>
                </ns1:cubicBezTo>
                <ns1:cubicBezTo>
                  <ns1:pt x="173" y="1"/>
                  <ns1:pt x="186" y="0"/>
                  <ns1:pt x="199" y="0"/>
                </ns1:cubicBezTo>
                <ns1:lnTo>
                  <ns1:pt x="15440" y="0"/>
                </ns1:lnTo>
                <ns1:cubicBezTo>
                  <ns1:pt x="15453" y="0"/>
                  <ns1:pt x="15466" y="1"/>
                  <ns1:pt x="15479" y="4"/>
                </ns1:cubicBezTo>
                <ns1:cubicBezTo>
                  <ns1:pt x="15491" y="6"/>
                  <ns1:pt x="15504" y="10"/>
                  <ns1:pt x="15516" y="15"/>
                </ns1:cubicBezTo>
                <ns1:cubicBezTo>
                  <ns1:pt x="15528" y="20"/>
                  <ns1:pt x="15539" y="26"/>
                  <ns1:pt x="15550" y="33"/>
                </ns1:cubicBezTo>
                <ns1:cubicBezTo>
                  <ns1:pt x="15561" y="41"/>
                  <ns1:pt x="15571" y="49"/>
                  <ns1:pt x="15580" y="58"/>
                </ns1:cubicBezTo>
                <ns1:cubicBezTo>
                  <ns1:pt x="15589" y="67"/>
                  <ns1:pt x="15598" y="77"/>
                  <ns1:pt x="15605" y="88"/>
                </ns1:cubicBezTo>
                <ns1:cubicBezTo>
                  <ns1:pt x="15612" y="99"/>
                  <ns1:pt x="15618" y="110"/>
                  <ns1:pt x="15623" y="122"/>
                </ns1:cubicBezTo>
                <ns1:cubicBezTo>
                  <ns1:pt x="15628" y="134"/>
                  <ns1:pt x="15632" y="147"/>
                  <ns1:pt x="15634" y="160"/>
                </ns1:cubicBezTo>
                <ns1:cubicBezTo>
                  <ns1:pt x="15637" y="172"/>
                  <ns1:pt x="15638" y="185"/>
                  <ns1:pt x="15638" y="198"/>
                </ns1:cubicBezTo>
                <ns1:lnTo>
                  <ns1:pt x="15638" y="7290"/>
                </ns1:lnTo>
                <ns1:cubicBezTo>
                  <ns1:pt x="15638" y="7303"/>
                  <ns1:pt x="15637" y="7316"/>
                  <ns1:pt x="15634" y="7329"/>
                </ns1:cubicBezTo>
                <ns1:cubicBezTo>
                  <ns1:pt x="15632" y="7342"/>
                  <ns1:pt x="15628" y="7354"/>
                  <ns1:pt x="15623" y="7366"/>
                </ns1:cubicBezTo>
                <ns1:cubicBezTo>
                  <ns1:pt x="15618" y="7378"/>
                  <ns1:pt x="15612" y="7390"/>
                  <ns1:pt x="15605" y="7400"/>
                </ns1:cubicBezTo>
                <ns1:cubicBezTo>
                  <ns1:pt x="15598" y="7411"/>
                  <ns1:pt x="15589" y="7421"/>
                  <ns1:pt x="15580" y="7430"/>
                </ns1:cubicBezTo>
                <ns1:cubicBezTo>
                  <ns1:pt x="15571" y="7440"/>
                  <ns1:pt x="15561" y="7448"/>
                  <ns1:pt x="15550" y="7455"/>
                </ns1:cubicBezTo>
                <ns1:cubicBezTo>
                  <ns1:pt x="15539" y="7462"/>
                  <ns1:pt x="15528" y="7469"/>
                  <ns1:pt x="15516" y="7473"/>
                </ns1:cubicBezTo>
                <ns1:cubicBezTo>
                  <ns1:pt x="15504" y="7478"/>
                  <ns1:pt x="15491" y="7482"/>
                  <ns1:pt x="15479" y="7485"/>
                </ns1:cubicBezTo>
                <ns1:cubicBezTo>
                  <ns1:pt x="15466" y="7487"/>
                  <ns1:pt x="15453" y="7489"/>
                  <ns1:pt x="15440" y="7489"/>
                </ns1:cubicBezTo>
                <ns1:lnTo>
                  <ns1:pt x="199" y="7489"/>
                </ns1:lnTo>
                <ns1:cubicBezTo>
                  <ns1:pt x="186" y="7489"/>
                  <ns1:pt x="173" y="7487"/>
                  <ns1:pt x="160" y="7485"/>
                </ns1:cubicBezTo>
                <ns1:cubicBezTo>
                  <ns1:pt x="147" y="7482"/>
                  <ns1:pt x="135" y="7478"/>
                  <ns1:pt x="123" y="7473"/>
                </ns1:cubicBezTo>
                <ns1:cubicBezTo>
                  <ns1:pt x="111" y="7469"/>
                  <ns1:pt x="99" y="7462"/>
                  <ns1:pt x="89" y="7455"/>
                </ns1:cubicBezTo>
                <ns1:cubicBezTo>
                  <ns1:pt x="78" y="7448"/>
                  <ns1:pt x="68" y="7440"/>
                  <ns1:pt x="59" y="7430"/>
                </ns1:cubicBezTo>
                <ns1:cubicBezTo>
                  <ns1:pt x="49" y="7421"/>
                  <ns1:pt x="41" y="7411"/>
                  <ns1:pt x="34" y="7400"/>
                </ns1:cubicBezTo>
                <ns1:cubicBezTo>
                  <ns1:pt x="27" y="7390"/>
                  <ns1:pt x="20" y="7378"/>
                  <ns1:pt x="15" y="7366"/>
                </ns1:cubicBezTo>
                <ns1:cubicBezTo>
                  <ns1:pt x="11" y="7354"/>
                  <ns1:pt x="7" y="7342"/>
                  <ns1:pt x="4" y="7329"/>
                </ns1:cubicBezTo>
                <ns1:cubicBezTo>
                  <ns1:pt x="2" y="7316"/>
                  <ns1:pt x="0" y="7303"/>
                  <ns1:pt x="0" y="7290"/>
                </ns1:cubicBezTo>
                <ns1:close/>
              </ns1:path>
            </ns1:pathLst>
          </ns1:custGeom>
          <ns1:solidFill>
            <ns1:srgbClr val="fffff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54" name=""/>
          <ns0:cNvSpPr/>
          <ns0:nvPr/>
        </ns0:nvSpPr>
        <ns0:spPr>
          <ns1:xfrm>
            <ns1:off x="6252840" y="3852720"/>
            <ns1:ext cx="5629680" cy="2696040"/>
          </ns1:xfrm>
          <ns1:custGeom>
            <ns1:avLst/>
            <ns1:gdLst/>
            <ns1:ahLst/>
            <ns1:rect l="0" t="0" r="r" b="b"/>
            <ns1:pathLst>
              <ns1:path fill="none" w="15638" h="7489">
                <ns1:moveTo>
                  <ns1:pt x="0" y="7290"/>
                </ns1:moveTo>
                <ns1:lnTo>
                  <ns1:pt x="0" y="198"/>
                </ns1:lnTo>
                <ns1:cubicBezTo>
                  <ns1:pt x="0" y="185"/>
                  <ns1:pt x="2" y="172"/>
                  <ns1:pt x="4" y="160"/>
                </ns1:cubicBezTo>
                <ns1:cubicBezTo>
                  <ns1:pt x="7" y="147"/>
                  <ns1:pt x="11" y="134"/>
                  <ns1:pt x="15" y="122"/>
                </ns1:cubicBezTo>
                <ns1:cubicBezTo>
                  <ns1:pt x="20" y="110"/>
                  <ns1:pt x="27" y="99"/>
                  <ns1:pt x="34" y="88"/>
                </ns1:cubicBezTo>
                <ns1:cubicBezTo>
                  <ns1:pt x="41" y="77"/>
                  <ns1:pt x="49" y="67"/>
                  <ns1:pt x="59" y="58"/>
                </ns1:cubicBezTo>
                <ns1:cubicBezTo>
                  <ns1:pt x="68" y="49"/>
                  <ns1:pt x="78" y="41"/>
                  <ns1:pt x="89" y="33"/>
                </ns1:cubicBezTo>
                <ns1:cubicBezTo>
                  <ns1:pt x="99" y="26"/>
                  <ns1:pt x="111" y="20"/>
                  <ns1:pt x="123" y="15"/>
                </ns1:cubicBezTo>
                <ns1:cubicBezTo>
                  <ns1:pt x="135" y="10"/>
                  <ns1:pt x="147" y="6"/>
                  <ns1:pt x="160" y="4"/>
                </ns1:cubicBezTo>
                <ns1:cubicBezTo>
                  <ns1:pt x="173" y="1"/>
                  <ns1:pt x="186" y="0"/>
                  <ns1:pt x="199" y="0"/>
                </ns1:cubicBezTo>
                <ns1:lnTo>
                  <ns1:pt x="15440" y="0"/>
                </ns1:lnTo>
                <ns1:cubicBezTo>
                  <ns1:pt x="15453" y="0"/>
                  <ns1:pt x="15466" y="1"/>
                  <ns1:pt x="15479" y="4"/>
                </ns1:cubicBezTo>
                <ns1:cubicBezTo>
                  <ns1:pt x="15491" y="6"/>
                  <ns1:pt x="15504" y="10"/>
                  <ns1:pt x="15516" y="15"/>
                </ns1:cubicBezTo>
                <ns1:cubicBezTo>
                  <ns1:pt x="15528" y="20"/>
                  <ns1:pt x="15539" y="26"/>
                  <ns1:pt x="15550" y="33"/>
                </ns1:cubicBezTo>
                <ns1:cubicBezTo>
                  <ns1:pt x="15561" y="41"/>
                  <ns1:pt x="15571" y="49"/>
                  <ns1:pt x="15580" y="58"/>
                </ns1:cubicBezTo>
                <ns1:cubicBezTo>
                  <ns1:pt x="15589" y="67"/>
                  <ns1:pt x="15598" y="77"/>
                  <ns1:pt x="15605" y="88"/>
                </ns1:cubicBezTo>
                <ns1:cubicBezTo>
                  <ns1:pt x="15612" y="99"/>
                  <ns1:pt x="15618" y="110"/>
                  <ns1:pt x="15623" y="122"/>
                </ns1:cubicBezTo>
                <ns1:cubicBezTo>
                  <ns1:pt x="15628" y="134"/>
                  <ns1:pt x="15632" y="147"/>
                  <ns1:pt x="15634" y="160"/>
                </ns1:cubicBezTo>
                <ns1:cubicBezTo>
                  <ns1:pt x="15637" y="172"/>
                  <ns1:pt x="15638" y="185"/>
                  <ns1:pt x="15638" y="198"/>
                </ns1:cubicBezTo>
                <ns1:lnTo>
                  <ns1:pt x="15638" y="7290"/>
                </ns1:lnTo>
                <ns1:cubicBezTo>
                  <ns1:pt x="15638" y="7303"/>
                  <ns1:pt x="15637" y="7316"/>
                  <ns1:pt x="15634" y="7329"/>
                </ns1:cubicBezTo>
                <ns1:cubicBezTo>
                  <ns1:pt x="15632" y="7342"/>
                  <ns1:pt x="15628" y="7354"/>
                  <ns1:pt x="15623" y="7366"/>
                </ns1:cubicBezTo>
                <ns1:cubicBezTo>
                  <ns1:pt x="15618" y="7378"/>
                  <ns1:pt x="15612" y="7390"/>
                  <ns1:pt x="15605" y="7400"/>
                </ns1:cubicBezTo>
                <ns1:cubicBezTo>
                  <ns1:pt x="15598" y="7411"/>
                  <ns1:pt x="15589" y="7421"/>
                  <ns1:pt x="15580" y="7430"/>
                </ns1:cubicBezTo>
                <ns1:cubicBezTo>
                  <ns1:pt x="15571" y="7440"/>
                  <ns1:pt x="15561" y="7448"/>
                  <ns1:pt x="15550" y="7455"/>
                </ns1:cubicBezTo>
                <ns1:cubicBezTo>
                  <ns1:pt x="15539" y="7462"/>
                  <ns1:pt x="15528" y="7469"/>
                  <ns1:pt x="15516" y="7473"/>
                </ns1:cubicBezTo>
                <ns1:cubicBezTo>
                  <ns1:pt x="15504" y="7478"/>
                  <ns1:pt x="15491" y="7482"/>
                  <ns1:pt x="15479" y="7485"/>
                </ns1:cubicBezTo>
                <ns1:cubicBezTo>
                  <ns1:pt x="15466" y="7487"/>
                  <ns1:pt x="15453" y="7489"/>
                  <ns1:pt x="15440" y="7489"/>
                </ns1:cubicBezTo>
                <ns1:lnTo>
                  <ns1:pt x="199" y="7489"/>
                </ns1:lnTo>
                <ns1:cubicBezTo>
                  <ns1:pt x="186" y="7489"/>
                  <ns1:pt x="173" y="7487"/>
                  <ns1:pt x="160" y="7485"/>
                </ns1:cubicBezTo>
                <ns1:cubicBezTo>
                  <ns1:pt x="147" y="7482"/>
                  <ns1:pt x="135" y="7478"/>
                  <ns1:pt x="123" y="7473"/>
                </ns1:cubicBezTo>
                <ns1:cubicBezTo>
                  <ns1:pt x="111" y="7469"/>
                  <ns1:pt x="99" y="7462"/>
                  <ns1:pt x="89" y="7455"/>
                </ns1:cubicBezTo>
                <ns1:cubicBezTo>
                  <ns1:pt x="78" y="7448"/>
                  <ns1:pt x="68" y="7440"/>
                  <ns1:pt x="59" y="7430"/>
                </ns1:cubicBezTo>
                <ns1:cubicBezTo>
                  <ns1:pt x="49" y="7421"/>
                  <ns1:pt x="41" y="7411"/>
                  <ns1:pt x="34" y="7400"/>
                </ns1:cubicBezTo>
                <ns1:cubicBezTo>
                  <ns1:pt x="27" y="7390"/>
                  <ns1:pt x="20" y="7378"/>
                  <ns1:pt x="15" y="7366"/>
                </ns1:cubicBezTo>
                <ns1:cubicBezTo>
                  <ns1:pt x="11" y="7354"/>
                  <ns1:pt x="7" y="7342"/>
                  <ns1:pt x="4" y="7329"/>
                </ns1:cubicBezTo>
                <ns1:cubicBezTo>
                  <ns1:pt x="2" y="7316"/>
                  <ns1:pt x="0" y="7303"/>
                  <ns1:pt x="0" y="7290"/>
                </ns1:cubicBezTo>
              </ns1:path>
            </ns1:pathLst>
          </ns1:custGeom>
          <ns1:ln w="9360">
            <ns1:solidFill>
              <ns1:srgbClr val="e5e7eb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55" name=""/>
          <ns0:cNvSpPr txBox="1"/>
          <ns0:nvPr/>
        </ns0:nvSpPr>
        <ns0:spPr>
          <ns1:xfrm>
            <ns1:off x="5140440" y="6396120"/>
            <ns1:ext cx="64008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stretch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56" name=""/>
          <ns0:cNvSpPr/>
          <ns0:nvPr/>
        </ns0:nvSpPr>
        <ns0:spPr>
          <ns1:xfrm>
            <ns1:off x="6491160" y="4767120"/>
            <ns1:ext cx="2400480" cy="1448280"/>
          </ns1:xfrm>
          <ns1:custGeom>
            <ns1:avLst/>
            <ns1:gdLst/>
            <ns1:ahLst/>
            <ns1:rect l="0" t="0" r="r" b="b"/>
            <ns1:pathLst>
              <ns1:path w="6668" h="4023">
                <ns1:moveTo>
                  <ns1:pt x="0" y="3824"/>
                </ns1:moveTo>
                <ns1:lnTo>
                  <ns1:pt x="0" y="198"/>
                </ns1:lnTo>
                <ns1:cubicBezTo>
                  <ns1:pt x="0" y="185"/>
                  <ns1:pt x="1" y="172"/>
                  <ns1:pt x="4" y="160"/>
                </ns1:cubicBezTo>
                <ns1:cubicBezTo>
                  <ns1:pt x="6" y="147"/>
                  <ns1:pt x="10" y="134"/>
                  <ns1:pt x="15" y="122"/>
                </ns1:cubicBezTo>
                <ns1:cubicBezTo>
                  <ns1:pt x="20" y="110"/>
                  <ns1:pt x="26" y="99"/>
                  <ns1:pt x="33" y="88"/>
                </ns1:cubicBezTo>
                <ns1:cubicBezTo>
                  <ns1:pt x="41" y="77"/>
                  <ns1:pt x="49" y="67"/>
                  <ns1:pt x="58" y="58"/>
                </ns1:cubicBezTo>
                <ns1:cubicBezTo>
                  <ns1:pt x="67" y="49"/>
                  <ns1:pt x="77" y="41"/>
                  <ns1:pt x="88" y="33"/>
                </ns1:cubicBezTo>
                <ns1:cubicBezTo>
                  <ns1:pt x="99" y="26"/>
                  <ns1:pt x="110" y="20"/>
                  <ns1:pt x="122" y="15"/>
                </ns1:cubicBezTo>
                <ns1:cubicBezTo>
                  <ns1:pt x="134" y="10"/>
                  <ns1:pt x="147" y="6"/>
                  <ns1:pt x="160" y="4"/>
                </ns1:cubicBezTo>
                <ns1:cubicBezTo>
                  <ns1:pt x="172" y="1"/>
                  <ns1:pt x="185" y="0"/>
                  <ns1:pt x="198" y="0"/>
                </ns1:cubicBezTo>
                <ns1:lnTo>
                  <ns1:pt x="6470" y="0"/>
                </ns1:lnTo>
                <ns1:cubicBezTo>
                  <ns1:pt x="6483" y="0"/>
                  <ns1:pt x="6496" y="1"/>
                  <ns1:pt x="6509" y="4"/>
                </ns1:cubicBezTo>
                <ns1:cubicBezTo>
                  <ns1:pt x="6521" y="6"/>
                  <ns1:pt x="6534" y="10"/>
                  <ns1:pt x="6546" y="15"/>
                </ns1:cubicBezTo>
                <ns1:cubicBezTo>
                  <ns1:pt x="6558" y="20"/>
                  <ns1:pt x="6569" y="26"/>
                  <ns1:pt x="6580" y="33"/>
                </ns1:cubicBezTo>
                <ns1:cubicBezTo>
                  <ns1:pt x="6591" y="41"/>
                  <ns1:pt x="6601" y="49"/>
                  <ns1:pt x="6610" y="58"/>
                </ns1:cubicBezTo>
                <ns1:cubicBezTo>
                  <ns1:pt x="6619" y="67"/>
                  <ns1:pt x="6628" y="77"/>
                  <ns1:pt x="6635" y="88"/>
                </ns1:cubicBezTo>
                <ns1:cubicBezTo>
                  <ns1:pt x="6642" y="99"/>
                  <ns1:pt x="6648" y="110"/>
                  <ns1:pt x="6653" y="122"/>
                </ns1:cubicBezTo>
                <ns1:cubicBezTo>
                  <ns1:pt x="6658" y="134"/>
                  <ns1:pt x="6662" y="147"/>
                  <ns1:pt x="6665" y="160"/>
                </ns1:cubicBezTo>
                <ns1:cubicBezTo>
                  <ns1:pt x="6667" y="172"/>
                  <ns1:pt x="6668" y="185"/>
                  <ns1:pt x="6668" y="198"/>
                </ns1:cubicBezTo>
                <ns1:lnTo>
                  <ns1:pt x="6668" y="3824"/>
                </ns1:lnTo>
                <ns1:cubicBezTo>
                  <ns1:pt x="6668" y="3837"/>
                  <ns1:pt x="6667" y="3850"/>
                  <ns1:pt x="6665" y="3863"/>
                </ns1:cubicBezTo>
                <ns1:cubicBezTo>
                  <ns1:pt x="6662" y="3876"/>
                  <ns1:pt x="6658" y="3888"/>
                  <ns1:pt x="6653" y="3900"/>
                </ns1:cubicBezTo>
                <ns1:cubicBezTo>
                  <ns1:pt x="6648" y="3912"/>
                  <ns1:pt x="6642" y="3924"/>
                  <ns1:pt x="6635" y="3934"/>
                </ns1:cubicBezTo>
                <ns1:cubicBezTo>
                  <ns1:pt x="6628" y="3945"/>
                  <ns1:pt x="6619" y="3955"/>
                  <ns1:pt x="6610" y="3964"/>
                </ns1:cubicBezTo>
                <ns1:cubicBezTo>
                  <ns1:pt x="6601" y="3974"/>
                  <ns1:pt x="6591" y="3982"/>
                  <ns1:pt x="6580" y="3989"/>
                </ns1:cubicBezTo>
                <ns1:cubicBezTo>
                  <ns1:pt x="6569" y="3996"/>
                  <ns1:pt x="6558" y="4002"/>
                  <ns1:pt x="6546" y="4007"/>
                </ns1:cubicBezTo>
                <ns1:cubicBezTo>
                  <ns1:pt x="6534" y="4012"/>
                  <ns1:pt x="6521" y="4016"/>
                  <ns1:pt x="6509" y="4019"/>
                </ns1:cubicBezTo>
                <ns1:cubicBezTo>
                  <ns1:pt x="6496" y="4021"/>
                  <ns1:pt x="6483" y="4023"/>
                  <ns1:pt x="6470" y="4023"/>
                </ns1:cubicBezTo>
                <ns1:lnTo>
                  <ns1:pt x="198" y="4023"/>
                </ns1:lnTo>
                <ns1:cubicBezTo>
                  <ns1:pt x="185" y="4023"/>
                  <ns1:pt x="172" y="4021"/>
                  <ns1:pt x="160" y="4019"/>
                </ns1:cubicBezTo>
                <ns1:cubicBezTo>
                  <ns1:pt x="147" y="4016"/>
                  <ns1:pt x="134" y="4012"/>
                  <ns1:pt x="122" y="4007"/>
                </ns1:cubicBezTo>
                <ns1:cubicBezTo>
                  <ns1:pt x="110" y="4002"/>
                  <ns1:pt x="99" y="3996"/>
                  <ns1:pt x="88" y="3989"/>
                </ns1:cubicBezTo>
                <ns1:cubicBezTo>
                  <ns1:pt x="77" y="3982"/>
                  <ns1:pt x="67" y="3974"/>
                  <ns1:pt x="58" y="3964"/>
                </ns1:cubicBezTo>
                <ns1:cubicBezTo>
                  <ns1:pt x="49" y="3955"/>
                  <ns1:pt x="41" y="3945"/>
                  <ns1:pt x="33" y="3934"/>
                </ns1:cubicBezTo>
                <ns1:cubicBezTo>
                  <ns1:pt x="26" y="3924"/>
                  <ns1:pt x="20" y="3912"/>
                  <ns1:pt x="15" y="3900"/>
                </ns1:cubicBezTo>
                <ns1:cubicBezTo>
                  <ns1:pt x="10" y="3888"/>
                  <ns1:pt x="6" y="3876"/>
                  <ns1:pt x="4" y="3863"/>
                </ns1:cubicBezTo>
                <ns1:cubicBezTo>
                  <ns1:pt x="1" y="3850"/>
                  <ns1:pt x="0" y="3837"/>
                  <ns1:pt x="0" y="3824"/>
                </ns1:cubicBezTo>
                <ns1:close/>
              </ns1:path>
            </ns1:pathLst>
          </ns1:custGeom>
          <ns1:solidFill>
            <ns1:srgbClr val="bfdbfe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57" name=""/>
          <ns0:cNvSpPr/>
          <ns0:nvPr/>
        </ns0:nvSpPr>
        <ns0:spPr>
          <ns1:xfrm>
            <ns1:off x="6491160" y="4767120"/>
            <ns1:ext cx="2400480" cy="1448280"/>
          </ns1:xfrm>
          <ns1:custGeom>
            <ns1:avLst/>
            <ns1:gdLst/>
            <ns1:ahLst/>
            <ns1:rect l="0" t="0" r="r" b="b"/>
            <ns1:pathLst>
              <ns1:path fill="none" w="6668" h="4023">
                <ns1:moveTo>
                  <ns1:pt x="0" y="3824"/>
                </ns1:moveTo>
                <ns1:lnTo>
                  <ns1:pt x="0" y="198"/>
                </ns1:lnTo>
                <ns1:cubicBezTo>
                  <ns1:pt x="0" y="185"/>
                  <ns1:pt x="1" y="172"/>
                  <ns1:pt x="4" y="160"/>
                </ns1:cubicBezTo>
                <ns1:cubicBezTo>
                  <ns1:pt x="6" y="147"/>
                  <ns1:pt x="10" y="134"/>
                  <ns1:pt x="15" y="122"/>
                </ns1:cubicBezTo>
                <ns1:cubicBezTo>
                  <ns1:pt x="20" y="110"/>
                  <ns1:pt x="26" y="99"/>
                  <ns1:pt x="33" y="88"/>
                </ns1:cubicBezTo>
                <ns1:cubicBezTo>
                  <ns1:pt x="41" y="77"/>
                  <ns1:pt x="49" y="67"/>
                  <ns1:pt x="58" y="58"/>
                </ns1:cubicBezTo>
                <ns1:cubicBezTo>
                  <ns1:pt x="67" y="49"/>
                  <ns1:pt x="77" y="41"/>
                  <ns1:pt x="88" y="33"/>
                </ns1:cubicBezTo>
                <ns1:cubicBezTo>
                  <ns1:pt x="99" y="26"/>
                  <ns1:pt x="110" y="20"/>
                  <ns1:pt x="122" y="15"/>
                </ns1:cubicBezTo>
                <ns1:cubicBezTo>
                  <ns1:pt x="134" y="10"/>
                  <ns1:pt x="147" y="6"/>
                  <ns1:pt x="160" y="4"/>
                </ns1:cubicBezTo>
                <ns1:cubicBezTo>
                  <ns1:pt x="172" y="1"/>
                  <ns1:pt x="185" y="0"/>
                  <ns1:pt x="198" y="0"/>
                </ns1:cubicBezTo>
                <ns1:lnTo>
                  <ns1:pt x="6470" y="0"/>
                </ns1:lnTo>
                <ns1:cubicBezTo>
                  <ns1:pt x="6483" y="0"/>
                  <ns1:pt x="6496" y="1"/>
                  <ns1:pt x="6509" y="4"/>
                </ns1:cubicBezTo>
                <ns1:cubicBezTo>
                  <ns1:pt x="6521" y="6"/>
                  <ns1:pt x="6534" y="10"/>
                  <ns1:pt x="6546" y="15"/>
                </ns1:cubicBezTo>
                <ns1:cubicBezTo>
                  <ns1:pt x="6558" y="20"/>
                  <ns1:pt x="6569" y="26"/>
                  <ns1:pt x="6580" y="33"/>
                </ns1:cubicBezTo>
                <ns1:cubicBezTo>
                  <ns1:pt x="6591" y="41"/>
                  <ns1:pt x="6601" y="49"/>
                  <ns1:pt x="6610" y="58"/>
                </ns1:cubicBezTo>
                <ns1:cubicBezTo>
                  <ns1:pt x="6619" y="67"/>
                  <ns1:pt x="6628" y="77"/>
                  <ns1:pt x="6635" y="88"/>
                </ns1:cubicBezTo>
                <ns1:cubicBezTo>
                  <ns1:pt x="6642" y="99"/>
                  <ns1:pt x="6648" y="110"/>
                  <ns1:pt x="6653" y="122"/>
                </ns1:cubicBezTo>
                <ns1:cubicBezTo>
                  <ns1:pt x="6658" y="134"/>
                  <ns1:pt x="6662" y="147"/>
                  <ns1:pt x="6665" y="160"/>
                </ns1:cubicBezTo>
                <ns1:cubicBezTo>
                  <ns1:pt x="6667" y="172"/>
                  <ns1:pt x="6668" y="185"/>
                  <ns1:pt x="6668" y="198"/>
                </ns1:cubicBezTo>
                <ns1:lnTo>
                  <ns1:pt x="6668" y="3824"/>
                </ns1:lnTo>
                <ns1:cubicBezTo>
                  <ns1:pt x="6668" y="3837"/>
                  <ns1:pt x="6667" y="3850"/>
                  <ns1:pt x="6665" y="3863"/>
                </ns1:cubicBezTo>
                <ns1:cubicBezTo>
                  <ns1:pt x="6662" y="3876"/>
                  <ns1:pt x="6658" y="3888"/>
                  <ns1:pt x="6653" y="3900"/>
                </ns1:cubicBezTo>
                <ns1:cubicBezTo>
                  <ns1:pt x="6648" y="3912"/>
                  <ns1:pt x="6642" y="3924"/>
                  <ns1:pt x="6635" y="3934"/>
                </ns1:cubicBezTo>
                <ns1:cubicBezTo>
                  <ns1:pt x="6628" y="3945"/>
                  <ns1:pt x="6619" y="3955"/>
                  <ns1:pt x="6610" y="3964"/>
                </ns1:cubicBezTo>
                <ns1:cubicBezTo>
                  <ns1:pt x="6601" y="3974"/>
                  <ns1:pt x="6591" y="3982"/>
                  <ns1:pt x="6580" y="3989"/>
                </ns1:cubicBezTo>
                <ns1:cubicBezTo>
                  <ns1:pt x="6569" y="3996"/>
                  <ns1:pt x="6558" y="4002"/>
                  <ns1:pt x="6546" y="4007"/>
                </ns1:cubicBezTo>
                <ns1:cubicBezTo>
                  <ns1:pt x="6534" y="4012"/>
                  <ns1:pt x="6521" y="4016"/>
                  <ns1:pt x="6509" y="4019"/>
                </ns1:cubicBezTo>
                <ns1:cubicBezTo>
                  <ns1:pt x="6496" y="4021"/>
                  <ns1:pt x="6483" y="4023"/>
                  <ns1:pt x="6470" y="4023"/>
                </ns1:cubicBezTo>
                <ns1:lnTo>
                  <ns1:pt x="198" y="4023"/>
                </ns1:lnTo>
                <ns1:cubicBezTo>
                  <ns1:pt x="185" y="4023"/>
                  <ns1:pt x="172" y="4021"/>
                  <ns1:pt x="160" y="4019"/>
                </ns1:cubicBezTo>
                <ns1:cubicBezTo>
                  <ns1:pt x="147" y="4016"/>
                  <ns1:pt x="134" y="4012"/>
                  <ns1:pt x="122" y="4007"/>
                </ns1:cubicBezTo>
                <ns1:cubicBezTo>
                  <ns1:pt x="110" y="4002"/>
                  <ns1:pt x="99" y="3996"/>
                  <ns1:pt x="88" y="3989"/>
                </ns1:cubicBezTo>
                <ns1:cubicBezTo>
                  <ns1:pt x="77" y="3982"/>
                  <ns1:pt x="67" y="3974"/>
                  <ns1:pt x="58" y="3964"/>
                </ns1:cubicBezTo>
                <ns1:cubicBezTo>
                  <ns1:pt x="49" y="3955"/>
                  <ns1:pt x="41" y="3945"/>
                  <ns1:pt x="33" y="3934"/>
                </ns1:cubicBezTo>
                <ns1:cubicBezTo>
                  <ns1:pt x="26" y="3924"/>
                  <ns1:pt x="20" y="3912"/>
                  <ns1:pt x="15" y="3900"/>
                </ns1:cubicBezTo>
                <ns1:cubicBezTo>
                  <ns1:pt x="10" y="3888"/>
                  <ns1:pt x="6" y="3876"/>
                  <ns1:pt x="4" y="3863"/>
                </ns1:cubicBezTo>
                <ns1:cubicBezTo>
                  <ns1:pt x="1" y="3850"/>
                  <ns1:pt x="0" y="3837"/>
                  <ns1:pt x="0" y="3824"/>
                </ns1:cubicBezTo>
              </ns1:path>
            </ns1:pathLst>
          </ns1:custGeom>
          <ns1:ln w="9360">
            <ns1:solidFill>
              <ns1:srgbClr val="e5e7eb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58" name=""/>
          <ns0:cNvSpPr txBox="1"/>
          <ns0:nvPr/>
        </ns0:nvSpPr>
        <ns0:spPr>
          <ns1:xfrm>
            <ns1:off x="6486480" y="4133880"/>
            <ns1:ext cx="1290828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量化工具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59" name=""/>
          <ns0:cNvSpPr txBox="1"/>
          <ns0:nvPr/>
        </ns0:nvSpPr>
        <ns0:spPr>
          <ns1:xfrm>
            <ns1:off x="7176960" y="5030640"/>
            <ns1:ext cx="10789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Jaccard相似度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61" name=""/>
          <ns0:cNvSpPr txBox="1"/>
          <ns0:nvPr/>
        </ns0:nvSpPr>
        <ns0:spPr>
          <ns1:xfrm>
            <ns1:off x="6724800" y="5512320"/>
            <ns1:ext cx="1968264" cy="354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75" strike="noStrike" u="none" i="0">
                <ns1:solidFill>
                  <ns1:srgbClr val="3b82f6"/>
                </ns1:solidFill>
                <ns1:effectLst/>
                <ns1:uFillTx/>
                <ns1:latin typeface="Noto Sans SC"/>
                <ns1:ea typeface="Noto Sans SC"/>
              </ns1:rPr>
              <ns1:t>=</ns1:t>
            </ns1:r>
            <ns1:endParaRPr b="0" lang="en-US" sz="1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  <ns1:p>
            <ns1:pPr marL="176040"/>
            <ns1:r>
              <ns1:rPr b="1" lang="en-US" sz="1275" strike="noStrike" u="none" i="0">
                <ns1:solidFill>
                  <ns1:srgbClr val="3b82f6"/>
                </ns1:solidFill>
                <ns1:effectLst/>
                <ns1:uFillTx/>
                <ns1:latin typeface="Noto Sans SC"/>
                <ns1:ea typeface="Noto Sans SC"/>
              </ns1:rPr>
              <ns1:t>|A热专家集 ∪B热专家集|</ns1:t>
            </ns1:r>
          </ns1:p>
        </ns0:txBody>
      </ns0:sp>
      <ns0:sp>
        <ns0:nvSpPr>
          <ns0:cNvPr id="162" name=""/>
          <ns0:cNvSpPr txBox="1"/>
          <ns0:nvPr/>
        </ns0:nvSpPr>
        <ns0:spPr>
          <ns1:xfrm>
            <ns1:off x="6922080" y="5354640"/>
            <ns1:ext cx="1792224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|A热专家集∩ B热专家集|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66" name=""/>
          <ns0:cNvSpPr/>
          <ns0:nvPr/>
        </ns0:nvSpPr>
        <ns0:spPr>
          <ns1:xfrm>
            <ns1:off x="6905520" y="5600520"/>
            <ns1:ext cx="1752840" cy="19440"/>
          </ns1:xfrm>
          <ns1:custGeom>
            <ns1:avLst/>
            <ns1:gdLst/>
            <ns1:ahLst/>
            <ns1:rect l="0" t="0" r="r" b="b"/>
            <ns1:pathLst>
              <ns1:path w="4869" h="54">
                <ns1:moveTo>
                  <ns1:pt x="0" y="0"/>
                </ns1:moveTo>
                <ns1:lnTo>
                  <ns1:pt x="4869" y="0"/>
                </ns1:lnTo>
                <ns1:lnTo>
                  <ns1:pt x="4869" y="54"/>
                </ns1:lnTo>
                <ns1:lnTo>
                  <ns1:pt x="0" y="54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000000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pic>
        <ns0:nvPicPr>
          <ns0:cNvPr id="174" name="" descr=""/>
          <ns0:cNvPicPr/>
          <ns0:nvPr/>
        </ns0:nvPicPr>
        <ns0:blipFill>
          <ns1:blip ns2:embed="rId1"/>
          <ns1:stretch/>
        </ns0:blipFill>
        <ns0:spPr>
          <ns1:xfrm>
            <ns1:off x="0" y="0"/>
            <ns1:ext cx="151920" cy="151920"/>
          </ns1:xfrm>
          <ns1:prstGeom prst="rect">
            <ns1:avLst/>
          </ns1:prstGeom>
          <ns1:noFill/>
          <ns1:ln w="0">
            <ns1:noFill/>
          </ns1:ln>
        </ns0:spPr>
      </ns0:pic>
      <ns0:pic>
        <ns0:nvPicPr>
          <ns0:cNvPr id="178" name="" descr=""/>
          <ns0:cNvPicPr/>
          <ns0:nvPr/>
        </ns0:nvPicPr>
        <ns0:blipFill>
          <ns1:blip ns2:embed="rId2"/>
          <ns1:stretch/>
        </ns0:blipFill>
        <ns0:spPr>
          <ns1:xfrm>
            <ns1:off x="0" y="1657440"/>
            <ns1:ext cx="12191760" cy="1390320"/>
          </ns1:xfrm>
          <ns1:prstGeom prst="rect">
            <ns1:avLst/>
          </ns1:prstGeom>
          <ns1:noFill/>
          <ns1:ln w="0">
            <ns1:noFill/>
          </ns1:ln>
        </ns0:spPr>
      </ns0:pic>
      <ns0:sp>
        <ns0:nvSpPr>
          <ns0:cNvPr id="180" name=""/>
          <ns0:cNvSpPr txBox="1"/>
          <ns0:nvPr/>
        </ns0:nvSpPr>
        <ns0:spPr>
          <ns1:xfrm>
            <ns1:off x="304920" y="1970640"/>
            <ns1:ext cx="3980496" cy="4438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3000" strike="noStrike" u="none" i="0">
                <ns1:solidFill>
                  <ns1:srgbClr val="ffffff"/>
                </ns1:solidFill>
                <ns1:effectLst/>
                <ns1:uFillTx/>
                <ns1:latin typeface="Noto Sans SC"/>
                <ns1:ea typeface="Noto Sans SC"/>
              </ns1:rPr>
              <ns1:t>任务漂移(Task Drift)</ns1:t>
            </ns1:r>
            <ns1:endParaRPr b="0" lang="en-US" sz="30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82" name=""/>
          <ns0:cNvSpPr txBox="1"/>
          <ns0:nvPr/>
        </ns0:nvSpPr>
        <ns0:spPr>
          <ns1:xfrm>
            <ns1:off x="304920" y="2525400"/>
            <ns1:ext cx="4520565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ffffff">
                    <ns1:alpha val="80000"/>
                  </ns1:srgbClr>
                </ns1:solidFill>
                <ns1:effectLst/>
                <ns1:uFillTx/>
                <ns1:latin typeface="Noto Sans SC"/>
                <ns1:ea typeface="Noto Sans SC"/>
              </ns1:rPr>
              <ns1:t>不同任务类型下，MoE各层激活的专家集合随时间发生非平稳迁移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</ns0:spTree>
  </ns0:cSld>
  <ns3:AlternateContent>
    <ns3:Choice Requires="p14">
      <ns0:transition spd="slow" ns4:dur="2000"/>
    </ns3:Choice>
    <ns3:Fallback>
      <ns0:transition spd="slow"/>
    </ns3:Fallback>
  </ns3:AlternateContent>
</ns0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456840" y="148572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4"/>
                </a:cubicBezTo>
                <a:cubicBezTo>
                  <a:pt x="7" y="27"/>
                  <a:pt x="11" y="20"/>
                  <a:pt x="16" y="15"/>
                </a:cubicBezTo>
                <a:cubicBezTo>
                  <a:pt x="21" y="11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1"/>
                  <a:pt x="2103" y="15"/>
                </a:cubicBezTo>
                <a:cubicBezTo>
                  <a:pt x="2108" y="20"/>
                  <a:pt x="2111" y="27"/>
                  <a:pt x="2114" y="34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1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1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457200" y="884520"/>
            <a:ext cx="5220652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证据一：跨任务Jaccard≈0.07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457200" y="1707840"/>
            <a:ext cx="829818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实验设置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457200" y="2125440"/>
            <a:ext cx="5224653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取livecodebench（代码题）和mmlu（考试题）trace，各取3段互不相交子集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457200" y="2373120"/>
            <a:ext cx="8818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（n=100/段）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457200" y="2850840"/>
            <a:ext cx="829818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核心数据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457200" y="4451040"/>
            <a:ext cx="622363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泛化性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457200" y="4868640"/>
            <a:ext cx="404050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48个跨benchmark配对中，40个CI上界&lt; 0.3，无一触及0.5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57200" y="5346360"/>
            <a:ext cx="829818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关键发现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457200" y="5763960"/>
            <a:ext cx="4888611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频率向量余弦（0.930）仍高——频率向量看不出差异，集合交集才看得出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2666880" y="5771880"/>
            <a:ext cx="2819520" cy="162360"/>
          </a:xfrm>
          <a:custGeom>
            <a:avLst/>
            <a:gdLst/>
            <a:ahLst/>
            <a:rect l="0" t="0" r="r" b="b"/>
            <a:pathLst>
              <a:path w="7832" h="451">
                <a:moveTo>
                  <a:pt x="0" y="344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7727" y="0"/>
                </a:lnTo>
                <a:cubicBezTo>
                  <a:pt x="7741" y="0"/>
                  <a:pt x="7754" y="3"/>
                  <a:pt x="7767" y="8"/>
                </a:cubicBezTo>
                <a:cubicBezTo>
                  <a:pt x="7780" y="14"/>
                  <a:pt x="7792" y="21"/>
                  <a:pt x="7802" y="31"/>
                </a:cubicBezTo>
                <a:cubicBezTo>
                  <a:pt x="7811" y="41"/>
                  <a:pt x="7819" y="53"/>
                  <a:pt x="7824" y="66"/>
                </a:cubicBezTo>
                <a:cubicBezTo>
                  <a:pt x="7830" y="79"/>
                  <a:pt x="7832" y="92"/>
                  <a:pt x="7832" y="106"/>
                </a:cubicBezTo>
                <a:lnTo>
                  <a:pt x="7832" y="344"/>
                </a:lnTo>
                <a:cubicBezTo>
                  <a:pt x="7832" y="359"/>
                  <a:pt x="7830" y="373"/>
                  <a:pt x="7824" y="386"/>
                </a:cubicBezTo>
                <a:cubicBezTo>
                  <a:pt x="7819" y="399"/>
                  <a:pt x="7811" y="410"/>
                  <a:pt x="7802" y="420"/>
                </a:cubicBezTo>
                <a:cubicBezTo>
                  <a:pt x="7792" y="430"/>
                  <a:pt x="7780" y="438"/>
                  <a:pt x="7767" y="443"/>
                </a:cubicBezTo>
                <a:cubicBezTo>
                  <a:pt x="7754" y="448"/>
                  <a:pt x="7741" y="451"/>
                  <a:pt x="7727" y="451"/>
                </a:cubicBezTo>
                <a:lnTo>
                  <a:pt x="106" y="451"/>
                </a:lnTo>
                <a:cubicBezTo>
                  <a:pt x="92" y="451"/>
                  <a:pt x="78" y="448"/>
                  <a:pt x="65" y="443"/>
                </a:cubicBezTo>
                <a:cubicBezTo>
                  <a:pt x="52" y="438"/>
                  <a:pt x="41" y="430"/>
                  <a:pt x="31" y="420"/>
                </a:cubicBezTo>
                <a:cubicBezTo>
                  <a:pt x="21" y="410"/>
                  <a:pt x="13" y="399"/>
                  <a:pt x="8" y="386"/>
                </a:cubicBezTo>
                <a:cubicBezTo>
                  <a:pt x="3" y="373"/>
                  <a:pt x="0" y="359"/>
                  <a:pt x="0" y="344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6705360" y="0"/>
            <a:ext cx="5486760" cy="6858000"/>
          </a:xfrm>
          <a:custGeom>
            <a:avLst/>
            <a:gdLst/>
            <a:ahLst/>
            <a:rect l="0" t="0" r="r" b="b"/>
            <a:pathLst>
              <a:path w="15241" h="19050">
                <a:moveTo>
                  <a:pt x="0" y="0"/>
                </a:moveTo>
                <a:lnTo>
                  <a:pt x="15241" y="0"/>
                </a:lnTo>
                <a:lnTo>
                  <a:pt x="15241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3066840" y="3276360"/>
            <a:ext cx="457560" cy="162360"/>
          </a:xfrm>
          <a:custGeom>
            <a:avLst/>
            <a:gdLst/>
            <a:ahLst/>
            <a:rect l="0" t="0" r="r" b="b"/>
            <a:pathLst>
              <a:path w="1271" h="451">
                <a:moveTo>
                  <a:pt x="0" y="345"/>
                </a:moveTo>
                <a:lnTo>
                  <a:pt x="0" y="107"/>
                </a:lnTo>
                <a:cubicBezTo>
                  <a:pt x="0" y="92"/>
                  <a:pt x="3" y="78"/>
                  <a:pt x="8" y="65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65" y="0"/>
                </a:lnTo>
                <a:cubicBezTo>
                  <a:pt x="1179" y="0"/>
                  <a:pt x="1193" y="3"/>
                  <a:pt x="1206" y="8"/>
                </a:cubicBezTo>
                <a:cubicBezTo>
                  <a:pt x="1219" y="14"/>
                  <a:pt x="1230" y="21"/>
                  <a:pt x="1240" y="31"/>
                </a:cubicBezTo>
                <a:cubicBezTo>
                  <a:pt x="1250" y="41"/>
                  <a:pt x="1258" y="53"/>
                  <a:pt x="1263" y="65"/>
                </a:cubicBezTo>
                <a:cubicBezTo>
                  <a:pt x="1268" y="78"/>
                  <a:pt x="1271" y="92"/>
                  <a:pt x="1271" y="107"/>
                </a:cubicBezTo>
                <a:lnTo>
                  <a:pt x="1271" y="345"/>
                </a:lnTo>
                <a:cubicBezTo>
                  <a:pt x="1271" y="359"/>
                  <a:pt x="1268" y="373"/>
                  <a:pt x="1263" y="386"/>
                </a:cubicBezTo>
                <a:cubicBezTo>
                  <a:pt x="1258" y="399"/>
                  <a:pt x="1250" y="410"/>
                  <a:pt x="1240" y="420"/>
                </a:cubicBezTo>
                <a:cubicBezTo>
                  <a:pt x="1230" y="430"/>
                  <a:pt x="1219" y="438"/>
                  <a:pt x="1206" y="443"/>
                </a:cubicBezTo>
                <a:cubicBezTo>
                  <a:pt x="1193" y="448"/>
                  <a:pt x="1179" y="451"/>
                  <a:pt x="1165" y="451"/>
                </a:cubicBezTo>
                <a:lnTo>
                  <a:pt x="106" y="451"/>
                </a:lnTo>
                <a:cubicBezTo>
                  <a:pt x="92" y="451"/>
                  <a:pt x="78" y="448"/>
                  <a:pt x="65" y="443"/>
                </a:cubicBezTo>
                <a:cubicBezTo>
                  <a:pt x="52" y="438"/>
                  <a:pt x="41" y="430"/>
                  <a:pt x="31" y="420"/>
                </a:cubicBezTo>
                <a:cubicBezTo>
                  <a:pt x="21" y="410"/>
                  <a:pt x="14" y="399"/>
                  <a:pt x="8" y="386"/>
                </a:cubicBezTo>
                <a:cubicBezTo>
                  <a:pt x="3" y="373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609480" y="3261600"/>
            <a:ext cx="2413101" cy="185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6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■跨任务cross：Jaccard @ top-4 ≈  0.073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2066760" y="3590640"/>
            <a:ext cx="457560" cy="162360"/>
          </a:xfrm>
          <a:custGeom>
            <a:avLst/>
            <a:gdLst/>
            <a:ahLst/>
            <a:rect l="0" t="0" r="r" b="b"/>
            <a:pathLst>
              <a:path w="1271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64" y="0"/>
                </a:lnTo>
                <a:cubicBezTo>
                  <a:pt x="1178" y="0"/>
                  <a:pt x="1192" y="3"/>
                  <a:pt x="1205" y="8"/>
                </a:cubicBezTo>
                <a:cubicBezTo>
                  <a:pt x="1218" y="14"/>
                  <a:pt x="1229" y="21"/>
                  <a:pt x="1240" y="31"/>
                </a:cubicBezTo>
                <a:cubicBezTo>
                  <a:pt x="1250" y="41"/>
                  <a:pt x="1258" y="53"/>
                  <a:pt x="1263" y="66"/>
                </a:cubicBezTo>
                <a:cubicBezTo>
                  <a:pt x="1268" y="79"/>
                  <a:pt x="1271" y="92"/>
                  <a:pt x="1271" y="106"/>
                </a:cubicBezTo>
                <a:lnTo>
                  <a:pt x="1271" y="345"/>
                </a:lnTo>
                <a:cubicBezTo>
                  <a:pt x="1271" y="359"/>
                  <a:pt x="1268" y="373"/>
                  <a:pt x="1263" y="386"/>
                </a:cubicBezTo>
                <a:cubicBezTo>
                  <a:pt x="1258" y="399"/>
                  <a:pt x="1250" y="410"/>
                  <a:pt x="1240" y="420"/>
                </a:cubicBezTo>
                <a:cubicBezTo>
                  <a:pt x="1229" y="430"/>
                  <a:pt x="1218" y="438"/>
                  <a:pt x="1205" y="443"/>
                </a:cubicBezTo>
                <a:cubicBezTo>
                  <a:pt x="1192" y="448"/>
                  <a:pt x="1178" y="451"/>
                  <a:pt x="1164" y="451"/>
                </a:cubicBezTo>
                <a:lnTo>
                  <a:pt x="106" y="451"/>
                </a:lnTo>
                <a:cubicBezTo>
                  <a:pt x="92" y="451"/>
                  <a:pt x="78" y="448"/>
                  <a:pt x="65" y="443"/>
                </a:cubicBezTo>
                <a:cubicBezTo>
                  <a:pt x="52" y="438"/>
                  <a:pt x="41" y="430"/>
                  <a:pt x="31" y="420"/>
                </a:cubicBezTo>
                <a:cubicBezTo>
                  <a:pt x="21" y="410"/>
                  <a:pt x="13" y="399"/>
                  <a:pt x="8" y="386"/>
                </a:cubicBezTo>
                <a:cubicBezTo>
                  <a:pt x="3" y="373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3657240" y="3590640"/>
            <a:ext cx="457560" cy="162360"/>
          </a:xfrm>
          <a:custGeom>
            <a:avLst/>
            <a:gdLst/>
            <a:ahLst/>
            <a:rect l="0" t="0" r="r" b="b"/>
            <a:pathLst>
              <a:path w="1271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166" y="0"/>
                </a:lnTo>
                <a:cubicBezTo>
                  <a:pt x="1180" y="0"/>
                  <a:pt x="1193" y="3"/>
                  <a:pt x="1206" y="8"/>
                </a:cubicBezTo>
                <a:cubicBezTo>
                  <a:pt x="1219" y="14"/>
                  <a:pt x="1231" y="21"/>
                  <a:pt x="1241" y="31"/>
                </a:cubicBezTo>
                <a:cubicBezTo>
                  <a:pt x="1250" y="41"/>
                  <a:pt x="1258" y="53"/>
                  <a:pt x="1263" y="66"/>
                </a:cubicBezTo>
                <a:cubicBezTo>
                  <a:pt x="1269" y="79"/>
                  <a:pt x="1271" y="92"/>
                  <a:pt x="1271" y="106"/>
                </a:cubicBezTo>
                <a:lnTo>
                  <a:pt x="1271" y="345"/>
                </a:lnTo>
                <a:cubicBezTo>
                  <a:pt x="1271" y="359"/>
                  <a:pt x="1269" y="373"/>
                  <a:pt x="1263" y="386"/>
                </a:cubicBezTo>
                <a:cubicBezTo>
                  <a:pt x="1258" y="399"/>
                  <a:pt x="1250" y="410"/>
                  <a:pt x="1241" y="420"/>
                </a:cubicBezTo>
                <a:cubicBezTo>
                  <a:pt x="1231" y="430"/>
                  <a:pt x="1219" y="438"/>
                  <a:pt x="1206" y="443"/>
                </a:cubicBezTo>
                <a:cubicBezTo>
                  <a:pt x="1193" y="448"/>
                  <a:pt x="1180" y="451"/>
                  <a:pt x="1166" y="451"/>
                </a:cubicBezTo>
                <a:lnTo>
                  <a:pt x="106" y="451"/>
                </a:lnTo>
                <a:cubicBezTo>
                  <a:pt x="92" y="451"/>
                  <a:pt x="79" y="448"/>
                  <a:pt x="66" y="443"/>
                </a:cubicBezTo>
                <a:cubicBezTo>
                  <a:pt x="53" y="438"/>
                  <a:pt x="41" y="430"/>
                  <a:pt x="31" y="420"/>
                </a:cubicBezTo>
                <a:cubicBezTo>
                  <a:pt x="22" y="410"/>
                  <a:pt x="14" y="399"/>
                  <a:pt x="9" y="386"/>
                </a:cubicBezTo>
                <a:cubicBezTo>
                  <a:pt x="3" y="373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609480" y="3575880"/>
            <a:ext cx="3104388" cy="185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6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■同任务 within-lcb ≈  0.722，within-mmlu ≈  0.509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7257960" y="1428480"/>
            <a:ext cx="4381920" cy="4001040"/>
          </a:xfrm>
          <a:custGeom>
            <a:avLst/>
            <a:gdLst/>
            <a:ahLst/>
            <a:rect l="0" t="0" r="r" b="b"/>
            <a:pathLst>
              <a:path w="12172" h="11114">
                <a:moveTo>
                  <a:pt x="0" y="10796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2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7" y="79"/>
                  <a:pt x="124" y="65"/>
                  <a:pt x="141" y="54"/>
                </a:cubicBezTo>
                <a:cubicBezTo>
                  <a:pt x="158" y="42"/>
                  <a:pt x="176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11854" y="0"/>
                </a:lnTo>
                <a:cubicBezTo>
                  <a:pt x="11875" y="0"/>
                  <a:pt x="11896" y="2"/>
                  <a:pt x="11916" y="6"/>
                </a:cubicBezTo>
                <a:cubicBezTo>
                  <a:pt x="11936" y="10"/>
                  <a:pt x="11956" y="16"/>
                  <a:pt x="11976" y="24"/>
                </a:cubicBezTo>
                <a:cubicBezTo>
                  <a:pt x="11995" y="32"/>
                  <a:pt x="12013" y="42"/>
                  <a:pt x="12030" y="54"/>
                </a:cubicBezTo>
                <a:cubicBezTo>
                  <a:pt x="12048" y="65"/>
                  <a:pt x="12064" y="79"/>
                  <a:pt x="12079" y="93"/>
                </a:cubicBezTo>
                <a:cubicBezTo>
                  <a:pt x="12093" y="108"/>
                  <a:pt x="12106" y="124"/>
                  <a:pt x="12118" y="141"/>
                </a:cubicBezTo>
                <a:cubicBezTo>
                  <a:pt x="12130" y="159"/>
                  <a:pt x="12139" y="177"/>
                  <a:pt x="12147" y="196"/>
                </a:cubicBezTo>
                <a:cubicBezTo>
                  <a:pt x="12155" y="216"/>
                  <a:pt x="12161" y="235"/>
                  <a:pt x="12165" y="256"/>
                </a:cubicBezTo>
                <a:cubicBezTo>
                  <a:pt x="12170" y="276"/>
                  <a:pt x="12172" y="297"/>
                  <a:pt x="12172" y="318"/>
                </a:cubicBezTo>
                <a:lnTo>
                  <a:pt x="12172" y="10796"/>
                </a:lnTo>
                <a:cubicBezTo>
                  <a:pt x="12172" y="10817"/>
                  <a:pt x="12170" y="10838"/>
                  <a:pt x="12165" y="10858"/>
                </a:cubicBezTo>
                <a:cubicBezTo>
                  <a:pt x="12161" y="10879"/>
                  <a:pt x="12155" y="10898"/>
                  <a:pt x="12147" y="10918"/>
                </a:cubicBezTo>
                <a:cubicBezTo>
                  <a:pt x="12139" y="10937"/>
                  <a:pt x="12130" y="10955"/>
                  <a:pt x="12118" y="10973"/>
                </a:cubicBezTo>
                <a:cubicBezTo>
                  <a:pt x="12106" y="10990"/>
                  <a:pt x="12093" y="11006"/>
                  <a:pt x="12079" y="11021"/>
                </a:cubicBezTo>
                <a:cubicBezTo>
                  <a:pt x="12064" y="11035"/>
                  <a:pt x="12048" y="11049"/>
                  <a:pt x="12030" y="11060"/>
                </a:cubicBezTo>
                <a:cubicBezTo>
                  <a:pt x="12013" y="11072"/>
                  <a:pt x="11995" y="11082"/>
                  <a:pt x="11976" y="11090"/>
                </a:cubicBezTo>
                <a:cubicBezTo>
                  <a:pt x="11956" y="11098"/>
                  <a:pt x="11936" y="11104"/>
                  <a:pt x="11916" y="11108"/>
                </a:cubicBezTo>
                <a:cubicBezTo>
                  <a:pt x="11896" y="11112"/>
                  <a:pt x="11875" y="11114"/>
                  <a:pt x="11854" y="11114"/>
                </a:cubicBezTo>
                <a:lnTo>
                  <a:pt x="317" y="11114"/>
                </a:lnTo>
                <a:cubicBezTo>
                  <a:pt x="296" y="11114"/>
                  <a:pt x="276" y="11112"/>
                  <a:pt x="255" y="11108"/>
                </a:cubicBezTo>
                <a:cubicBezTo>
                  <a:pt x="235" y="11104"/>
                  <a:pt x="215" y="11098"/>
                  <a:pt x="196" y="11090"/>
                </a:cubicBezTo>
                <a:cubicBezTo>
                  <a:pt x="176" y="11082"/>
                  <a:pt x="158" y="11072"/>
                  <a:pt x="141" y="11060"/>
                </a:cubicBezTo>
                <a:cubicBezTo>
                  <a:pt x="124" y="11049"/>
                  <a:pt x="107" y="11035"/>
                  <a:pt x="93" y="11021"/>
                </a:cubicBezTo>
                <a:cubicBezTo>
                  <a:pt x="78" y="11006"/>
                  <a:pt x="65" y="10990"/>
                  <a:pt x="53" y="10973"/>
                </a:cubicBezTo>
                <a:cubicBezTo>
                  <a:pt x="42" y="10955"/>
                  <a:pt x="32" y="10937"/>
                  <a:pt x="24" y="10918"/>
                </a:cubicBezTo>
                <a:cubicBezTo>
                  <a:pt x="16" y="10898"/>
                  <a:pt x="10" y="10879"/>
                  <a:pt x="6" y="10858"/>
                </a:cubicBezTo>
                <a:cubicBezTo>
                  <a:pt x="2" y="10838"/>
                  <a:pt x="0" y="10817"/>
                  <a:pt x="0" y="1079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7476840" y="1504800"/>
            <a:ext cx="3943800" cy="3848400"/>
          </a:xfrm>
          <a:custGeom>
            <a:avLst/>
            <a:gdLst/>
            <a:ahLst/>
            <a:rect l="0" t="0" r="r" b="b"/>
            <a:pathLst>
              <a:path w="10955" h="10690">
                <a:moveTo>
                  <a:pt x="10955" y="10690"/>
                </a:moveTo>
                <a:lnTo>
                  <a:pt x="0" y="10690"/>
                </a:lnTo>
                <a:lnTo>
                  <a:pt x="0" y="0"/>
                </a:lnTo>
                <a:lnTo>
                  <a:pt x="10955" y="0"/>
                </a:lnTo>
                <a:lnTo>
                  <a:pt x="10955" y="106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609480" y="3899520"/>
            <a:ext cx="360365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6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■跨任务降幅约85–90%：约95%的LCB热专家在MMLU中不是热专家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7860960" y="1615680"/>
            <a:ext cx="616077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Jaccard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8366040" y="1612800"/>
            <a:ext cx="159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热图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8633520" y="1612800"/>
            <a:ext cx="21330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DeepSeek-R1（topN=C≈5%，层均值）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8279640" y="2422800"/>
            <a:ext cx="176022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7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lcb</a:t>
            </a:r>
            <a:endParaRPr b="0" lang="en-US" sz="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8743680" y="1968480"/>
            <a:ext cx="176022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7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lcb</a:t>
            </a:r>
            <a:endParaRPr b="0" lang="en-US" sz="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8192520" y="3117600"/>
            <a:ext cx="21204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7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aime</a:t>
            </a:r>
            <a:endParaRPr b="0" lang="en-US" sz="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9396000" y="1968480"/>
            <a:ext cx="21204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7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aime</a:t>
            </a:r>
            <a:endParaRPr b="0" lang="en-US" sz="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8165520" y="3812400"/>
            <a:ext cx="23904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7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mmlu</a:t>
            </a:r>
            <a:endParaRPr b="0" lang="en-US" sz="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10078560" y="1968480"/>
            <a:ext cx="23904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7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mmlu</a:t>
            </a:r>
            <a:endParaRPr b="0" lang="en-US" sz="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980480" y="4507200"/>
            <a:ext cx="42336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7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mmlu_ZH</a:t>
            </a:r>
            <a:endParaRPr b="0" lang="en-US" sz="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8458200" y="21283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8458200" y="21283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10681560" y="1968480"/>
            <a:ext cx="42336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7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mmlu_ZH</a:t>
            </a:r>
            <a:endParaRPr b="0" lang="en-US" sz="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9154080" y="21283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b5c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9154080" y="21283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8702280" y="24148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1.00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9849960" y="21283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dfe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9849960" y="21283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9398160" y="24148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0.20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10545840" y="21283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dee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10545840" y="21283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10094040" y="24148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0.09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8458200" y="28231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b5ca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8458200" y="28231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0789920" y="24148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0.09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9154080" y="28231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9154080" y="28231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8702280" y="31096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0.20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9849960" y="28231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d0dd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9849960" y="28231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9398160" y="31096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1.00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0545840" y="28231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d6e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0545840" y="28231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0094040" y="31096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0.13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8458200" y="35179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dfe8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8458200" y="35179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10789920" y="31096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0.11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9154080" y="35179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d0dd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9154080" y="35179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8702280" y="380412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0.09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9849960" y="35179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9849960" y="35179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9398160" y="380412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0.13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0545840" y="35179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91b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10545840" y="35179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0094040" y="380412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1.00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8458200" y="42127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dee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8458200" y="42127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0789920" y="380412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0.30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9154080" y="42127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d6e1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9154080" y="42127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8702280" y="44992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0.09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9849960" y="42127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91b0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9849960" y="42127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9398160" y="44992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0.11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10545840" y="4212720"/>
            <a:ext cx="696240" cy="695160"/>
          </a:xfrm>
          <a:custGeom>
            <a:avLst/>
            <a:gdLst/>
            <a:ahLst/>
            <a:rect l="0" t="0" r="r" b="b"/>
            <a:pathLst>
              <a:path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10545840" y="4212720"/>
            <a:ext cx="696240" cy="695160"/>
          </a:xfrm>
          <a:custGeom>
            <a:avLst/>
            <a:gdLst/>
            <a:ahLst/>
            <a:rect l="0" t="0" r="r" b="b"/>
            <a:pathLst>
              <a:path fill="none" w="1934" h="1931">
                <a:moveTo>
                  <a:pt x="0" y="0"/>
                </a:moveTo>
                <a:lnTo>
                  <a:pt x="1934" y="0"/>
                </a:lnTo>
                <a:lnTo>
                  <a:pt x="1934" y="1931"/>
                </a:lnTo>
                <a:lnTo>
                  <a:pt x="0" y="1931"/>
                </a:lnTo>
                <a:lnTo>
                  <a:pt x="0" y="0"/>
                </a:lnTo>
              </a:path>
            </a:pathLst>
          </a:custGeom>
          <a:ln w="8640">
            <a:solidFill>
              <a:srgbClr val="ffffff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0094040" y="44992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111111"/>
                </a:solidFill>
                <a:effectLst/>
                <a:uFillTx/>
                <a:latin typeface="Arial"/>
                <a:ea typeface="Arial"/>
              </a:rPr>
              <a:t>0.30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10789920" y="4499280"/>
            <a:ext cx="208440" cy="119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1.00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8458560" y="5145480"/>
            <a:ext cx="15984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700" strike="noStrike" u="none">
                <a:solidFill>
                  <a:srgbClr val="555555"/>
                </a:solidFill>
                <a:effectLst/>
                <a:uFillTx/>
                <a:latin typeface="WenQuanYiMicroHei"/>
                <a:ea typeface="WenQuanYiMicroHei"/>
              </a:rPr>
              <a:t>判据：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8725680" y="5145480"/>
            <a:ext cx="13395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J≥0.5 强 / 0.3≤J&lt;0.5 弱 / J&lt;0.3 失败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7277040" y="1447560"/>
            <a:ext cx="4343760" cy="3962880"/>
          </a:xfrm>
          <a:custGeom>
            <a:avLst/>
            <a:gdLst/>
            <a:ahLst/>
            <a:rect l="0" t="0" r="r" b="b"/>
            <a:pathLst>
              <a:path fill="none" w="12066" h="11008">
                <a:moveTo>
                  <a:pt x="0" y="10743"/>
                </a:moveTo>
                <a:lnTo>
                  <a:pt x="0" y="265"/>
                </a:lnTo>
                <a:cubicBezTo>
                  <a:pt x="0" y="247"/>
                  <a:pt x="1" y="230"/>
                  <a:pt x="5" y="213"/>
                </a:cubicBezTo>
                <a:cubicBezTo>
                  <a:pt x="8" y="196"/>
                  <a:pt x="13" y="180"/>
                  <a:pt x="20" y="163"/>
                </a:cubicBezTo>
                <a:cubicBezTo>
                  <a:pt x="26" y="147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89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lnTo>
                  <a:pt x="11801" y="0"/>
                </a:lnTo>
                <a:cubicBezTo>
                  <a:pt x="11818" y="0"/>
                  <a:pt x="11836" y="2"/>
                  <a:pt x="11853" y="5"/>
                </a:cubicBezTo>
                <a:cubicBezTo>
                  <a:pt x="11870" y="9"/>
                  <a:pt x="11886" y="14"/>
                  <a:pt x="11902" y="20"/>
                </a:cubicBezTo>
                <a:cubicBezTo>
                  <a:pt x="11918" y="27"/>
                  <a:pt x="11934" y="35"/>
                  <a:pt x="11948" y="45"/>
                </a:cubicBezTo>
                <a:cubicBezTo>
                  <a:pt x="11963" y="54"/>
                  <a:pt x="11976" y="65"/>
                  <a:pt x="11988" y="78"/>
                </a:cubicBezTo>
                <a:cubicBezTo>
                  <a:pt x="12000" y="90"/>
                  <a:pt x="12011" y="103"/>
                  <a:pt x="12021" y="118"/>
                </a:cubicBezTo>
                <a:cubicBezTo>
                  <a:pt x="12031" y="132"/>
                  <a:pt x="12039" y="147"/>
                  <a:pt x="12046" y="163"/>
                </a:cubicBezTo>
                <a:cubicBezTo>
                  <a:pt x="12052" y="180"/>
                  <a:pt x="12057" y="196"/>
                  <a:pt x="12061" y="213"/>
                </a:cubicBezTo>
                <a:cubicBezTo>
                  <a:pt x="12064" y="230"/>
                  <a:pt x="12066" y="247"/>
                  <a:pt x="12066" y="265"/>
                </a:cubicBezTo>
                <a:lnTo>
                  <a:pt x="12066" y="10743"/>
                </a:lnTo>
                <a:cubicBezTo>
                  <a:pt x="12066" y="10761"/>
                  <a:pt x="12064" y="10778"/>
                  <a:pt x="12061" y="10795"/>
                </a:cubicBezTo>
                <a:cubicBezTo>
                  <a:pt x="12057" y="10812"/>
                  <a:pt x="12052" y="10828"/>
                  <a:pt x="12046" y="10844"/>
                </a:cubicBezTo>
                <a:cubicBezTo>
                  <a:pt x="12039" y="10861"/>
                  <a:pt x="12031" y="10876"/>
                  <a:pt x="12021" y="10890"/>
                </a:cubicBezTo>
                <a:cubicBezTo>
                  <a:pt x="12011" y="10905"/>
                  <a:pt x="12000" y="10918"/>
                  <a:pt x="11988" y="10930"/>
                </a:cubicBezTo>
                <a:cubicBezTo>
                  <a:pt x="11976" y="10943"/>
                  <a:pt x="11963" y="10954"/>
                  <a:pt x="11948" y="10963"/>
                </a:cubicBezTo>
                <a:cubicBezTo>
                  <a:pt x="11934" y="10973"/>
                  <a:pt x="11918" y="10981"/>
                  <a:pt x="11902" y="10988"/>
                </a:cubicBezTo>
                <a:cubicBezTo>
                  <a:pt x="11886" y="10994"/>
                  <a:pt x="11870" y="10999"/>
                  <a:pt x="11853" y="11003"/>
                </a:cubicBezTo>
                <a:cubicBezTo>
                  <a:pt x="11836" y="11006"/>
                  <a:pt x="11818" y="11008"/>
                  <a:pt x="11801" y="11008"/>
                </a:cubicBezTo>
                <a:lnTo>
                  <a:pt x="264" y="11008"/>
                </a:lnTo>
                <a:cubicBezTo>
                  <a:pt x="247" y="11008"/>
                  <a:pt x="230" y="11006"/>
                  <a:pt x="213" y="11003"/>
                </a:cubicBezTo>
                <a:cubicBezTo>
                  <a:pt x="196" y="10999"/>
                  <a:pt x="179" y="10994"/>
                  <a:pt x="163" y="10988"/>
                </a:cubicBezTo>
                <a:cubicBezTo>
                  <a:pt x="147" y="10981"/>
                  <a:pt x="132" y="10973"/>
                  <a:pt x="117" y="10963"/>
                </a:cubicBezTo>
                <a:cubicBezTo>
                  <a:pt x="103" y="10954"/>
                  <a:pt x="89" y="10943"/>
                  <a:pt x="77" y="10930"/>
                </a:cubicBezTo>
                <a:cubicBezTo>
                  <a:pt x="65" y="10918"/>
                  <a:pt x="54" y="10905"/>
                  <a:pt x="44" y="10890"/>
                </a:cubicBezTo>
                <a:cubicBezTo>
                  <a:pt x="35" y="10876"/>
                  <a:pt x="26" y="10861"/>
                  <a:pt x="20" y="10844"/>
                </a:cubicBezTo>
                <a:cubicBezTo>
                  <a:pt x="13" y="10828"/>
                  <a:pt x="8" y="10812"/>
                  <a:pt x="5" y="10795"/>
                </a:cubicBezTo>
                <a:cubicBezTo>
                  <a:pt x="1" y="10778"/>
                  <a:pt x="0" y="10761"/>
                  <a:pt x="0" y="10743"/>
                </a:cubicBezTo>
              </a:path>
            </a:pathLst>
          </a:custGeom>
          <a:ln w="37800">
            <a:solidFill>
              <a:srgbClr val="60a5fa"/>
            </a:solidFill>
            <a:miter/>
          </a:ln>
        </p:spPr>
        <p:txBody>
          <a:bodyPr lIns="18720" rIns="18720" tIns="18720" bIns="187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457200" y="465480"/>
            <a:ext cx="4380546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跨模型多benchmark验证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457200" y="1328040"/>
            <a:ext cx="9220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覆盖范围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457200" y="1757520"/>
            <a:ext cx="3749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DeepSeek-R1 / Llama4-Maverick / Kimi-K2 /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457200" y="2001600"/>
            <a:ext cx="2664333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Qwen3-235B + Qwen1.5-MoE，top-k∈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457200" y="2239920"/>
            <a:ext cx="2024253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{1,4,8}，参数量跨一个数量级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457200" y="2709360"/>
            <a:ext cx="1650206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单任务内：PbC成立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457200" y="3135240"/>
            <a:ext cx="280035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全局集中性（G）和时间局部性（T）通过全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457200" y="3382920"/>
            <a:ext cx="816102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部16个测试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647640" y="3390840"/>
            <a:ext cx="248040" cy="162000"/>
          </a:xfrm>
          <a:custGeom>
            <a:avLst/>
            <a:gdLst/>
            <a:ahLst/>
            <a:rect l="0" t="0" r="r" b="b"/>
            <a:pathLst>
              <a:path w="689" h="450">
                <a:moveTo>
                  <a:pt x="0" y="345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582" y="0"/>
                </a:lnTo>
                <a:cubicBezTo>
                  <a:pt x="596" y="0"/>
                  <a:pt x="610" y="2"/>
                  <a:pt x="623" y="8"/>
                </a:cubicBezTo>
                <a:cubicBezTo>
                  <a:pt x="636" y="13"/>
                  <a:pt x="648" y="21"/>
                  <a:pt x="658" y="31"/>
                </a:cubicBezTo>
                <a:cubicBezTo>
                  <a:pt x="668" y="41"/>
                  <a:pt x="675" y="52"/>
                  <a:pt x="681" y="65"/>
                </a:cubicBezTo>
                <a:cubicBezTo>
                  <a:pt x="686" y="78"/>
                  <a:pt x="689" y="91"/>
                  <a:pt x="689" y="105"/>
                </a:cubicBezTo>
                <a:lnTo>
                  <a:pt x="689" y="345"/>
                </a:lnTo>
                <a:cubicBezTo>
                  <a:pt x="689" y="359"/>
                  <a:pt x="686" y="372"/>
                  <a:pt x="681" y="385"/>
                </a:cubicBezTo>
                <a:cubicBezTo>
                  <a:pt x="675" y="398"/>
                  <a:pt x="668" y="410"/>
                  <a:pt x="658" y="419"/>
                </a:cubicBezTo>
                <a:cubicBezTo>
                  <a:pt x="648" y="429"/>
                  <a:pt x="636" y="437"/>
                  <a:pt x="623" y="442"/>
                </a:cubicBezTo>
                <a:cubicBezTo>
                  <a:pt x="610" y="448"/>
                  <a:pt x="596" y="450"/>
                  <a:pt x="582" y="450"/>
                </a:cubicBezTo>
                <a:lnTo>
                  <a:pt x="105" y="450"/>
                </a:lnTo>
                <a:cubicBezTo>
                  <a:pt x="91" y="450"/>
                  <a:pt x="78" y="448"/>
                  <a:pt x="65" y="442"/>
                </a:cubicBezTo>
                <a:cubicBezTo>
                  <a:pt x="52" y="437"/>
                  <a:pt x="41" y="429"/>
                  <a:pt x="31" y="419"/>
                </a:cubicBezTo>
                <a:cubicBezTo>
                  <a:pt x="21" y="410"/>
                  <a:pt x="13" y="398"/>
                  <a:pt x="8" y="385"/>
                </a:cubicBezTo>
                <a:cubicBezTo>
                  <a:pt x="2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457200" y="3842640"/>
            <a:ext cx="817245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跨任务：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219320" y="384732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1399320" y="3842640"/>
            <a:ext cx="46101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失败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457200" y="4272120"/>
            <a:ext cx="4572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48/48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880920" y="4268520"/>
            <a:ext cx="184404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033200" y="4268520"/>
            <a:ext cx="260032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benchmark cell均低重叠，40/48 CI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457200" y="4516200"/>
            <a:ext cx="696087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上界&lt; 0.3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457200" y="4976280"/>
            <a:ext cx="46101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结论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457200" y="5402160"/>
            <a:ext cx="2832354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G和T是单任务内的规律；漂移是这个规律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457200" y="5649840"/>
            <a:ext cx="838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的适用边界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457200" y="5897520"/>
            <a:ext cx="10058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我们不是否定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1371600" y="5900760"/>
            <a:ext cx="3394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PbC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710360" y="5897520"/>
            <a:ext cx="1844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，而是量化出其结论的有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5876640" y="2638080"/>
            <a:ext cx="5696280" cy="3601080"/>
          </a:xfrm>
          <a:custGeom>
            <a:avLst/>
            <a:gdLst/>
            <a:ahLst/>
            <a:rect l="0" t="0" r="r" b="b"/>
            <a:pathLst>
              <a:path w="15823" h="10003">
                <a:moveTo>
                  <a:pt x="0" y="9712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2" y="180"/>
                </a:cubicBezTo>
                <a:cubicBezTo>
                  <a:pt x="30" y="162"/>
                  <a:pt x="39" y="146"/>
                  <a:pt x="49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50"/>
                </a:cubicBezTo>
                <a:cubicBezTo>
                  <a:pt x="146" y="39"/>
                  <a:pt x="162" y="30"/>
                  <a:pt x="180" y="23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5532" y="0"/>
                </a:lnTo>
                <a:cubicBezTo>
                  <a:pt x="15551" y="0"/>
                  <a:pt x="15570" y="2"/>
                  <a:pt x="15589" y="6"/>
                </a:cubicBezTo>
                <a:cubicBezTo>
                  <a:pt x="15608" y="10"/>
                  <a:pt x="15626" y="15"/>
                  <a:pt x="15644" y="23"/>
                </a:cubicBezTo>
                <a:cubicBezTo>
                  <a:pt x="15661" y="30"/>
                  <a:pt x="15678" y="39"/>
                  <a:pt x="15694" y="50"/>
                </a:cubicBezTo>
                <a:cubicBezTo>
                  <a:pt x="15710" y="60"/>
                  <a:pt x="15725" y="72"/>
                  <a:pt x="15738" y="86"/>
                </a:cubicBezTo>
                <a:cubicBezTo>
                  <a:pt x="15752" y="99"/>
                  <a:pt x="15764" y="114"/>
                  <a:pt x="15774" y="130"/>
                </a:cubicBezTo>
                <a:cubicBezTo>
                  <a:pt x="15785" y="146"/>
                  <a:pt x="15794" y="162"/>
                  <a:pt x="15801" y="180"/>
                </a:cubicBezTo>
                <a:cubicBezTo>
                  <a:pt x="15809" y="198"/>
                  <a:pt x="15814" y="216"/>
                  <a:pt x="15818" y="235"/>
                </a:cubicBezTo>
                <a:cubicBezTo>
                  <a:pt x="15822" y="253"/>
                  <a:pt x="15823" y="272"/>
                  <a:pt x="15823" y="291"/>
                </a:cubicBezTo>
                <a:lnTo>
                  <a:pt x="15823" y="9712"/>
                </a:lnTo>
                <a:cubicBezTo>
                  <a:pt x="15823" y="9731"/>
                  <a:pt x="15822" y="9750"/>
                  <a:pt x="15818" y="9768"/>
                </a:cubicBezTo>
                <a:cubicBezTo>
                  <a:pt x="15814" y="9787"/>
                  <a:pt x="15809" y="9805"/>
                  <a:pt x="15801" y="9823"/>
                </a:cubicBezTo>
                <a:cubicBezTo>
                  <a:pt x="15794" y="9841"/>
                  <a:pt x="15785" y="9857"/>
                  <a:pt x="15774" y="9873"/>
                </a:cubicBezTo>
                <a:cubicBezTo>
                  <a:pt x="15764" y="9889"/>
                  <a:pt x="15752" y="9904"/>
                  <a:pt x="15738" y="9917"/>
                </a:cubicBezTo>
                <a:cubicBezTo>
                  <a:pt x="15725" y="9931"/>
                  <a:pt x="15710" y="9943"/>
                  <a:pt x="15694" y="9954"/>
                </a:cubicBezTo>
                <a:cubicBezTo>
                  <a:pt x="15678" y="9964"/>
                  <a:pt x="15661" y="9973"/>
                  <a:pt x="15644" y="9981"/>
                </a:cubicBezTo>
                <a:cubicBezTo>
                  <a:pt x="15626" y="9988"/>
                  <a:pt x="15608" y="9993"/>
                  <a:pt x="15589" y="9997"/>
                </a:cubicBezTo>
                <a:cubicBezTo>
                  <a:pt x="15570" y="10001"/>
                  <a:pt x="15551" y="10003"/>
                  <a:pt x="15532" y="10003"/>
                </a:cubicBezTo>
                <a:lnTo>
                  <a:pt x="291" y="10003"/>
                </a:lnTo>
                <a:cubicBezTo>
                  <a:pt x="272" y="10003"/>
                  <a:pt x="253" y="10001"/>
                  <a:pt x="235" y="9997"/>
                </a:cubicBezTo>
                <a:cubicBezTo>
                  <a:pt x="216" y="9993"/>
                  <a:pt x="198" y="9988"/>
                  <a:pt x="180" y="9981"/>
                </a:cubicBezTo>
                <a:cubicBezTo>
                  <a:pt x="162" y="9973"/>
                  <a:pt x="146" y="9964"/>
                  <a:pt x="130" y="9954"/>
                </a:cubicBezTo>
                <a:cubicBezTo>
                  <a:pt x="114" y="9943"/>
                  <a:pt x="99" y="9931"/>
                  <a:pt x="86" y="9917"/>
                </a:cubicBezTo>
                <a:cubicBezTo>
                  <a:pt x="72" y="9904"/>
                  <a:pt x="60" y="9889"/>
                  <a:pt x="49" y="9873"/>
                </a:cubicBezTo>
                <a:cubicBezTo>
                  <a:pt x="39" y="9857"/>
                  <a:pt x="30" y="9841"/>
                  <a:pt x="22" y="9823"/>
                </a:cubicBezTo>
                <a:cubicBezTo>
                  <a:pt x="15" y="9805"/>
                  <a:pt x="10" y="9787"/>
                  <a:pt x="6" y="9768"/>
                </a:cubicBezTo>
                <a:cubicBezTo>
                  <a:pt x="2" y="9750"/>
                  <a:pt x="0" y="9731"/>
                  <a:pt x="0" y="971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5876640" y="2638080"/>
            <a:ext cx="5696280" cy="3601080"/>
          </a:xfrm>
          <a:custGeom>
            <a:avLst/>
            <a:gdLst/>
            <a:ahLst/>
            <a:rect l="0" t="0" r="r" b="b"/>
            <a:pathLst>
              <a:path fill="none" w="15823" h="10003">
                <a:moveTo>
                  <a:pt x="0" y="9712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2" y="180"/>
                </a:cubicBezTo>
                <a:cubicBezTo>
                  <a:pt x="30" y="162"/>
                  <a:pt x="39" y="146"/>
                  <a:pt x="49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50"/>
                </a:cubicBezTo>
                <a:cubicBezTo>
                  <a:pt x="146" y="39"/>
                  <a:pt x="162" y="30"/>
                  <a:pt x="180" y="23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5532" y="0"/>
                </a:lnTo>
                <a:cubicBezTo>
                  <a:pt x="15551" y="0"/>
                  <a:pt x="15570" y="2"/>
                  <a:pt x="15589" y="6"/>
                </a:cubicBezTo>
                <a:cubicBezTo>
                  <a:pt x="15608" y="10"/>
                  <a:pt x="15626" y="15"/>
                  <a:pt x="15644" y="23"/>
                </a:cubicBezTo>
                <a:cubicBezTo>
                  <a:pt x="15661" y="30"/>
                  <a:pt x="15678" y="39"/>
                  <a:pt x="15694" y="50"/>
                </a:cubicBezTo>
                <a:cubicBezTo>
                  <a:pt x="15710" y="60"/>
                  <a:pt x="15725" y="72"/>
                  <a:pt x="15738" y="86"/>
                </a:cubicBezTo>
                <a:cubicBezTo>
                  <a:pt x="15752" y="99"/>
                  <a:pt x="15764" y="114"/>
                  <a:pt x="15774" y="130"/>
                </a:cubicBezTo>
                <a:cubicBezTo>
                  <a:pt x="15785" y="146"/>
                  <a:pt x="15794" y="162"/>
                  <a:pt x="15801" y="180"/>
                </a:cubicBezTo>
                <a:cubicBezTo>
                  <a:pt x="15809" y="198"/>
                  <a:pt x="15814" y="216"/>
                  <a:pt x="15818" y="235"/>
                </a:cubicBezTo>
                <a:cubicBezTo>
                  <a:pt x="15822" y="253"/>
                  <a:pt x="15823" y="272"/>
                  <a:pt x="15823" y="291"/>
                </a:cubicBezTo>
                <a:lnTo>
                  <a:pt x="15823" y="9712"/>
                </a:lnTo>
                <a:cubicBezTo>
                  <a:pt x="15823" y="9731"/>
                  <a:pt x="15822" y="9750"/>
                  <a:pt x="15818" y="9768"/>
                </a:cubicBezTo>
                <a:cubicBezTo>
                  <a:pt x="15814" y="9787"/>
                  <a:pt x="15809" y="9805"/>
                  <a:pt x="15801" y="9823"/>
                </a:cubicBezTo>
                <a:cubicBezTo>
                  <a:pt x="15794" y="9841"/>
                  <a:pt x="15785" y="9857"/>
                  <a:pt x="15774" y="9873"/>
                </a:cubicBezTo>
                <a:cubicBezTo>
                  <a:pt x="15764" y="9889"/>
                  <a:pt x="15752" y="9904"/>
                  <a:pt x="15738" y="9917"/>
                </a:cubicBezTo>
                <a:cubicBezTo>
                  <a:pt x="15725" y="9931"/>
                  <a:pt x="15710" y="9943"/>
                  <a:pt x="15694" y="9954"/>
                </a:cubicBezTo>
                <a:cubicBezTo>
                  <a:pt x="15678" y="9964"/>
                  <a:pt x="15661" y="9973"/>
                  <a:pt x="15644" y="9981"/>
                </a:cubicBezTo>
                <a:cubicBezTo>
                  <a:pt x="15626" y="9988"/>
                  <a:pt x="15608" y="9993"/>
                  <a:pt x="15589" y="9997"/>
                </a:cubicBezTo>
                <a:cubicBezTo>
                  <a:pt x="15570" y="10001"/>
                  <a:pt x="15551" y="10003"/>
                  <a:pt x="15532" y="10003"/>
                </a:cubicBezTo>
                <a:lnTo>
                  <a:pt x="291" y="10003"/>
                </a:lnTo>
                <a:cubicBezTo>
                  <a:pt x="272" y="10003"/>
                  <a:pt x="253" y="10001"/>
                  <a:pt x="235" y="9997"/>
                </a:cubicBezTo>
                <a:cubicBezTo>
                  <a:pt x="216" y="9993"/>
                  <a:pt x="198" y="9988"/>
                  <a:pt x="180" y="9981"/>
                </a:cubicBezTo>
                <a:cubicBezTo>
                  <a:pt x="162" y="9973"/>
                  <a:pt x="146" y="9964"/>
                  <a:pt x="130" y="9954"/>
                </a:cubicBezTo>
                <a:cubicBezTo>
                  <a:pt x="114" y="9943"/>
                  <a:pt x="99" y="9931"/>
                  <a:pt x="86" y="9917"/>
                </a:cubicBezTo>
                <a:cubicBezTo>
                  <a:pt x="72" y="9904"/>
                  <a:pt x="60" y="9889"/>
                  <a:pt x="49" y="9873"/>
                </a:cubicBezTo>
                <a:cubicBezTo>
                  <a:pt x="39" y="9857"/>
                  <a:pt x="30" y="9841"/>
                  <a:pt x="22" y="9823"/>
                </a:cubicBezTo>
                <a:cubicBezTo>
                  <a:pt x="15" y="9805"/>
                  <a:pt x="10" y="9787"/>
                  <a:pt x="6" y="9768"/>
                </a:cubicBezTo>
                <a:cubicBezTo>
                  <a:pt x="2" y="9750"/>
                  <a:pt x="0" y="9731"/>
                  <a:pt x="0" y="9712"/>
                </a:cubicBezTo>
              </a:path>
            </a:pathLst>
          </a:custGeom>
          <a:ln w="18720">
            <a:solidFill>
              <a:srgbClr val="e5e7eb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5962320" y="2857320"/>
            <a:ext cx="5524920" cy="3162600"/>
          </a:xfrm>
          <a:custGeom>
            <a:avLst/>
            <a:gdLst/>
            <a:ahLst/>
            <a:rect l="0" t="0" r="r" b="b"/>
            <a:pathLst>
              <a:path w="15347" h="8785">
                <a:moveTo>
                  <a:pt x="0" y="0"/>
                </a:moveTo>
                <a:lnTo>
                  <a:pt x="15347" y="0"/>
                </a:lnTo>
                <a:lnTo>
                  <a:pt x="15347" y="8785"/>
                </a:lnTo>
                <a:lnTo>
                  <a:pt x="0" y="87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457200" y="6135480"/>
            <a:ext cx="502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效边界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6887880" y="2939760"/>
            <a:ext cx="90432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00" strike="noStrike" u="non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图A3 跨模型全局局部性：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8204040" y="2939760"/>
            <a:ext cx="11624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CumActRatio@5%（虚线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9503280" y="2939760"/>
            <a:ext cx="519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=MC随机基线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0205640" y="2939760"/>
            <a:ext cx="312039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m/N）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6433920" y="5481360"/>
            <a:ext cx="4918320" cy="0"/>
          </a:xfrm>
          <a:prstGeom prst="line">
            <a:avLst/>
          </a:prstGeom>
          <a:ln w="6480">
            <a:solidFill>
              <a:srgbClr val="e5e7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6433920" y="5105880"/>
            <a:ext cx="4918320" cy="0"/>
          </a:xfrm>
          <a:prstGeom prst="line">
            <a:avLst/>
          </a:prstGeom>
          <a:ln w="6480">
            <a:solidFill>
              <a:srgbClr val="e5e7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6273360" y="5441400"/>
            <a:ext cx="1087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0%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6433920" y="4729680"/>
            <a:ext cx="4918320" cy="0"/>
          </a:xfrm>
          <a:prstGeom prst="line">
            <a:avLst/>
          </a:prstGeom>
          <a:ln w="6480">
            <a:solidFill>
              <a:srgbClr val="e5e7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6232320" y="5065920"/>
            <a:ext cx="1501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10%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6433920" y="4354200"/>
            <a:ext cx="4918320" cy="0"/>
          </a:xfrm>
          <a:prstGeom prst="line">
            <a:avLst/>
          </a:prstGeom>
          <a:ln w="6480">
            <a:solidFill>
              <a:srgbClr val="e5e7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6232320" y="4689720"/>
            <a:ext cx="1501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20%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6433920" y="3979080"/>
            <a:ext cx="4918320" cy="0"/>
          </a:xfrm>
          <a:prstGeom prst="line">
            <a:avLst/>
          </a:prstGeom>
          <a:ln w="6480">
            <a:solidFill>
              <a:srgbClr val="e5e7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6232320" y="4314600"/>
            <a:ext cx="1501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30%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6433920" y="3602880"/>
            <a:ext cx="4918320" cy="0"/>
          </a:xfrm>
          <a:prstGeom prst="line">
            <a:avLst/>
          </a:prstGeom>
          <a:ln w="6480">
            <a:solidFill>
              <a:srgbClr val="e5e7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6232320" y="3939120"/>
            <a:ext cx="1501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40%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6433920" y="3227400"/>
            <a:ext cx="4918320" cy="0"/>
          </a:xfrm>
          <a:prstGeom prst="line">
            <a:avLst/>
          </a:prstGeom>
          <a:ln w="6480">
            <a:solidFill>
              <a:srgbClr val="e5e7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6232320" y="3562920"/>
            <a:ext cx="1501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50%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6433920" y="3227400"/>
            <a:ext cx="0" cy="2253960"/>
          </a:xfrm>
          <a:prstGeom prst="line">
            <a:avLst/>
          </a:prstGeom>
          <a:ln w="648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3240" bIns="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6433920" y="5481360"/>
            <a:ext cx="4918320" cy="0"/>
          </a:xfrm>
          <a:prstGeom prst="line">
            <a:avLst/>
          </a:prstGeom>
          <a:ln w="648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6556680" y="4727880"/>
            <a:ext cx="222120" cy="753840"/>
          </a:xfrm>
          <a:custGeom>
            <a:avLst/>
            <a:gdLst/>
            <a:ahLst/>
            <a:rect l="0" t="0" r="r" b="b"/>
            <a:pathLst>
              <a:path w="617" h="2094">
                <a:moveTo>
                  <a:pt x="0" y="0"/>
                </a:moveTo>
                <a:lnTo>
                  <a:pt x="617" y="0"/>
                </a:lnTo>
                <a:lnTo>
                  <a:pt x="617" y="2094"/>
                </a:lnTo>
                <a:lnTo>
                  <a:pt x="0" y="2094"/>
                </a:lnTo>
                <a:lnTo>
                  <a:pt x="0" y="0"/>
                </a:lnTo>
                <a:close/>
              </a:path>
            </a:pathLst>
          </a:custGeom>
          <a:solidFill>
            <a:srgbClr val="2563eb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6803280" y="4933800"/>
            <a:ext cx="222120" cy="547920"/>
          </a:xfrm>
          <a:custGeom>
            <a:avLst/>
            <a:gdLst/>
            <a:ahLst/>
            <a:rect l="0" t="0" r="r" b="b"/>
            <a:pathLst>
              <a:path w="617" h="1522">
                <a:moveTo>
                  <a:pt x="0" y="0"/>
                </a:moveTo>
                <a:lnTo>
                  <a:pt x="617" y="0"/>
                </a:lnTo>
                <a:lnTo>
                  <a:pt x="617" y="1522"/>
                </a:lnTo>
                <a:lnTo>
                  <a:pt x="0" y="1522"/>
                </a:lnTo>
                <a:lnTo>
                  <a:pt x="0" y="0"/>
                </a:lnTo>
                <a:close/>
              </a:path>
            </a:pathLst>
          </a:custGeom>
          <a:solidFill>
            <a:srgbClr val="dc2626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7048440" y="4935600"/>
            <a:ext cx="222120" cy="546120"/>
          </a:xfrm>
          <a:custGeom>
            <a:avLst/>
            <a:gdLst/>
            <a:ahLst/>
            <a:rect l="0" t="0" r="r" b="b"/>
            <a:pathLst>
              <a:path w="617" h="1517">
                <a:moveTo>
                  <a:pt x="0" y="0"/>
                </a:moveTo>
                <a:lnTo>
                  <a:pt x="617" y="0"/>
                </a:lnTo>
                <a:lnTo>
                  <a:pt x="617" y="1517"/>
                </a:lnTo>
                <a:lnTo>
                  <a:pt x="0" y="1517"/>
                </a:lnTo>
                <a:lnTo>
                  <a:pt x="0" y="0"/>
                </a:lnTo>
                <a:close/>
              </a:path>
            </a:pathLst>
          </a:custGeom>
          <a:solidFill>
            <a:srgbClr val="059669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7295040" y="4917600"/>
            <a:ext cx="222120" cy="564120"/>
          </a:xfrm>
          <a:custGeom>
            <a:avLst/>
            <a:gdLst/>
            <a:ahLst/>
            <a:rect l="0" t="0" r="r" b="b"/>
            <a:pathLst>
              <a:path w="617" h="1567">
                <a:moveTo>
                  <a:pt x="0" y="0"/>
                </a:moveTo>
                <a:lnTo>
                  <a:pt x="617" y="0"/>
                </a:lnTo>
                <a:lnTo>
                  <a:pt x="617" y="1567"/>
                </a:lnTo>
                <a:lnTo>
                  <a:pt x="0" y="1567"/>
                </a:lnTo>
                <a:lnTo>
                  <a:pt x="0" y="0"/>
                </a:lnTo>
                <a:close/>
              </a:path>
            </a:pathLst>
          </a:custGeom>
          <a:solidFill>
            <a:srgbClr val="9333ea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6508080" y="5272920"/>
            <a:ext cx="1082520" cy="13680"/>
          </a:xfrm>
          <a:custGeom>
            <a:avLst/>
            <a:gdLst/>
            <a:ahLst/>
            <a:rect l="0" t="0" r="r" b="b"/>
            <a:pathLst>
              <a:path w="3007" h="38">
                <a:moveTo>
                  <a:pt x="0" y="0"/>
                </a:moveTo>
                <a:lnTo>
                  <a:pt x="94" y="0"/>
                </a:lnTo>
                <a:lnTo>
                  <a:pt x="94" y="38"/>
                </a:lnTo>
                <a:lnTo>
                  <a:pt x="0" y="38"/>
                </a:lnTo>
                <a:lnTo>
                  <a:pt x="0" y="0"/>
                </a:lnTo>
                <a:moveTo>
                  <a:pt x="150" y="0"/>
                </a:moveTo>
                <a:lnTo>
                  <a:pt x="244" y="0"/>
                </a:lnTo>
                <a:lnTo>
                  <a:pt x="244" y="38"/>
                </a:lnTo>
                <a:lnTo>
                  <a:pt x="150" y="38"/>
                </a:lnTo>
                <a:lnTo>
                  <a:pt x="150" y="0"/>
                </a:lnTo>
                <a:moveTo>
                  <a:pt x="300" y="0"/>
                </a:moveTo>
                <a:lnTo>
                  <a:pt x="393" y="0"/>
                </a:lnTo>
                <a:lnTo>
                  <a:pt x="393" y="38"/>
                </a:lnTo>
                <a:lnTo>
                  <a:pt x="300" y="38"/>
                </a:lnTo>
                <a:lnTo>
                  <a:pt x="300" y="0"/>
                </a:lnTo>
                <a:moveTo>
                  <a:pt x="449" y="0"/>
                </a:moveTo>
                <a:lnTo>
                  <a:pt x="543" y="0"/>
                </a:lnTo>
                <a:lnTo>
                  <a:pt x="543" y="38"/>
                </a:lnTo>
                <a:lnTo>
                  <a:pt x="449" y="38"/>
                </a:lnTo>
                <a:lnTo>
                  <a:pt x="449" y="0"/>
                </a:lnTo>
                <a:moveTo>
                  <a:pt x="599" y="0"/>
                </a:moveTo>
                <a:lnTo>
                  <a:pt x="693" y="0"/>
                </a:lnTo>
                <a:lnTo>
                  <a:pt x="693" y="38"/>
                </a:lnTo>
                <a:lnTo>
                  <a:pt x="599" y="38"/>
                </a:lnTo>
                <a:lnTo>
                  <a:pt x="599" y="0"/>
                </a:lnTo>
                <a:moveTo>
                  <a:pt x="749" y="0"/>
                </a:moveTo>
                <a:lnTo>
                  <a:pt x="842" y="0"/>
                </a:lnTo>
                <a:lnTo>
                  <a:pt x="842" y="38"/>
                </a:lnTo>
                <a:lnTo>
                  <a:pt x="749" y="38"/>
                </a:lnTo>
                <a:lnTo>
                  <a:pt x="749" y="0"/>
                </a:lnTo>
                <a:moveTo>
                  <a:pt x="899" y="0"/>
                </a:moveTo>
                <a:lnTo>
                  <a:pt x="992" y="0"/>
                </a:lnTo>
                <a:lnTo>
                  <a:pt x="992" y="38"/>
                </a:lnTo>
                <a:lnTo>
                  <a:pt x="899" y="38"/>
                </a:lnTo>
                <a:lnTo>
                  <a:pt x="899" y="0"/>
                </a:lnTo>
                <a:moveTo>
                  <a:pt x="1048" y="0"/>
                </a:moveTo>
                <a:lnTo>
                  <a:pt x="1142" y="0"/>
                </a:lnTo>
                <a:lnTo>
                  <a:pt x="1142" y="38"/>
                </a:lnTo>
                <a:lnTo>
                  <a:pt x="1048" y="38"/>
                </a:lnTo>
                <a:lnTo>
                  <a:pt x="1048" y="0"/>
                </a:lnTo>
                <a:moveTo>
                  <a:pt x="1198" y="0"/>
                </a:moveTo>
                <a:lnTo>
                  <a:pt x="1292" y="0"/>
                </a:lnTo>
                <a:lnTo>
                  <a:pt x="1292" y="38"/>
                </a:lnTo>
                <a:lnTo>
                  <a:pt x="1198" y="38"/>
                </a:lnTo>
                <a:lnTo>
                  <a:pt x="1198" y="0"/>
                </a:lnTo>
                <a:moveTo>
                  <a:pt x="1348" y="0"/>
                </a:moveTo>
                <a:lnTo>
                  <a:pt x="1441" y="0"/>
                </a:lnTo>
                <a:lnTo>
                  <a:pt x="1441" y="38"/>
                </a:lnTo>
                <a:lnTo>
                  <a:pt x="1348" y="38"/>
                </a:lnTo>
                <a:lnTo>
                  <a:pt x="1348" y="0"/>
                </a:lnTo>
                <a:moveTo>
                  <a:pt x="1498" y="0"/>
                </a:moveTo>
                <a:lnTo>
                  <a:pt x="1592" y="0"/>
                </a:lnTo>
                <a:lnTo>
                  <a:pt x="1592" y="38"/>
                </a:lnTo>
                <a:lnTo>
                  <a:pt x="1498" y="38"/>
                </a:lnTo>
                <a:lnTo>
                  <a:pt x="1498" y="0"/>
                </a:lnTo>
                <a:moveTo>
                  <a:pt x="1648" y="0"/>
                </a:moveTo>
                <a:lnTo>
                  <a:pt x="1742" y="0"/>
                </a:lnTo>
                <a:lnTo>
                  <a:pt x="1742" y="38"/>
                </a:lnTo>
                <a:lnTo>
                  <a:pt x="1648" y="38"/>
                </a:lnTo>
                <a:lnTo>
                  <a:pt x="1648" y="0"/>
                </a:lnTo>
                <a:moveTo>
                  <a:pt x="1798" y="0"/>
                </a:moveTo>
                <a:lnTo>
                  <a:pt x="1891" y="0"/>
                </a:lnTo>
                <a:lnTo>
                  <a:pt x="1891" y="38"/>
                </a:lnTo>
                <a:lnTo>
                  <a:pt x="1798" y="38"/>
                </a:lnTo>
                <a:lnTo>
                  <a:pt x="1798" y="0"/>
                </a:lnTo>
                <a:moveTo>
                  <a:pt x="1948" y="0"/>
                </a:moveTo>
                <a:lnTo>
                  <a:pt x="2041" y="0"/>
                </a:lnTo>
                <a:lnTo>
                  <a:pt x="2041" y="38"/>
                </a:lnTo>
                <a:lnTo>
                  <a:pt x="1948" y="38"/>
                </a:lnTo>
                <a:lnTo>
                  <a:pt x="1948" y="0"/>
                </a:lnTo>
                <a:moveTo>
                  <a:pt x="2097" y="0"/>
                </a:moveTo>
                <a:lnTo>
                  <a:pt x="2191" y="0"/>
                </a:lnTo>
                <a:lnTo>
                  <a:pt x="2191" y="38"/>
                </a:lnTo>
                <a:lnTo>
                  <a:pt x="2097" y="38"/>
                </a:lnTo>
                <a:lnTo>
                  <a:pt x="2097" y="0"/>
                </a:lnTo>
                <a:moveTo>
                  <a:pt x="2247" y="0"/>
                </a:moveTo>
                <a:lnTo>
                  <a:pt x="2341" y="0"/>
                </a:lnTo>
                <a:lnTo>
                  <a:pt x="2341" y="38"/>
                </a:lnTo>
                <a:lnTo>
                  <a:pt x="2247" y="38"/>
                </a:lnTo>
                <a:lnTo>
                  <a:pt x="2247" y="0"/>
                </a:lnTo>
                <a:moveTo>
                  <a:pt x="2397" y="0"/>
                </a:moveTo>
                <a:lnTo>
                  <a:pt x="2490" y="0"/>
                </a:lnTo>
                <a:lnTo>
                  <a:pt x="2490" y="38"/>
                </a:lnTo>
                <a:lnTo>
                  <a:pt x="2397" y="38"/>
                </a:lnTo>
                <a:lnTo>
                  <a:pt x="2397" y="0"/>
                </a:lnTo>
                <a:moveTo>
                  <a:pt x="2546" y="0"/>
                </a:moveTo>
                <a:lnTo>
                  <a:pt x="2640" y="0"/>
                </a:lnTo>
                <a:lnTo>
                  <a:pt x="2640" y="38"/>
                </a:lnTo>
                <a:lnTo>
                  <a:pt x="2546" y="38"/>
                </a:lnTo>
                <a:lnTo>
                  <a:pt x="2546" y="0"/>
                </a:lnTo>
                <a:moveTo>
                  <a:pt x="2696" y="0"/>
                </a:moveTo>
                <a:lnTo>
                  <a:pt x="2790" y="0"/>
                </a:lnTo>
                <a:lnTo>
                  <a:pt x="2790" y="38"/>
                </a:lnTo>
                <a:lnTo>
                  <a:pt x="2696" y="38"/>
                </a:lnTo>
                <a:lnTo>
                  <a:pt x="2696" y="0"/>
                </a:lnTo>
                <a:moveTo>
                  <a:pt x="2846" y="0"/>
                </a:moveTo>
                <a:lnTo>
                  <a:pt x="2939" y="0"/>
                </a:lnTo>
                <a:lnTo>
                  <a:pt x="2939" y="38"/>
                </a:lnTo>
                <a:lnTo>
                  <a:pt x="2846" y="38"/>
                </a:lnTo>
                <a:lnTo>
                  <a:pt x="2846" y="0"/>
                </a:lnTo>
                <a:moveTo>
                  <a:pt x="2996" y="0"/>
                </a:moveTo>
                <a:lnTo>
                  <a:pt x="3007" y="0"/>
                </a:lnTo>
                <a:lnTo>
                  <a:pt x="3007" y="38"/>
                </a:lnTo>
                <a:lnTo>
                  <a:pt x="2996" y="38"/>
                </a:lnTo>
                <a:lnTo>
                  <a:pt x="2996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6232320" y="3187440"/>
            <a:ext cx="1501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60%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7786800" y="3594600"/>
            <a:ext cx="222120" cy="1887120"/>
          </a:xfrm>
          <a:custGeom>
            <a:avLst/>
            <a:gdLst/>
            <a:ahLst/>
            <a:rect l="0" t="0" r="r" b="b"/>
            <a:pathLst>
              <a:path w="617" h="5242">
                <a:moveTo>
                  <a:pt x="0" y="0"/>
                </a:moveTo>
                <a:lnTo>
                  <a:pt x="617" y="0"/>
                </a:lnTo>
                <a:lnTo>
                  <a:pt x="617" y="5242"/>
                </a:lnTo>
                <a:lnTo>
                  <a:pt x="0" y="5242"/>
                </a:lnTo>
                <a:lnTo>
                  <a:pt x="0" y="0"/>
                </a:lnTo>
                <a:close/>
              </a:path>
            </a:pathLst>
          </a:custGeom>
          <a:solidFill>
            <a:srgbClr val="2563eb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8031960" y="3538800"/>
            <a:ext cx="222120" cy="1942920"/>
          </a:xfrm>
          <a:custGeom>
            <a:avLst/>
            <a:gdLst/>
            <a:ahLst/>
            <a:rect l="0" t="0" r="r" b="b"/>
            <a:pathLst>
              <a:path w="617" h="5397">
                <a:moveTo>
                  <a:pt x="0" y="0"/>
                </a:moveTo>
                <a:lnTo>
                  <a:pt x="617" y="0"/>
                </a:lnTo>
                <a:lnTo>
                  <a:pt x="617" y="5397"/>
                </a:lnTo>
                <a:lnTo>
                  <a:pt x="0" y="5397"/>
                </a:lnTo>
                <a:lnTo>
                  <a:pt x="0" y="0"/>
                </a:lnTo>
                <a:close/>
              </a:path>
            </a:pathLst>
          </a:custGeom>
          <a:solidFill>
            <a:srgbClr val="dc2626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8278560" y="4176000"/>
            <a:ext cx="222120" cy="1305720"/>
          </a:xfrm>
          <a:custGeom>
            <a:avLst/>
            <a:gdLst/>
            <a:ahLst/>
            <a:rect l="0" t="0" r="r" b="b"/>
            <a:pathLst>
              <a:path w="617" h="3627">
                <a:moveTo>
                  <a:pt x="0" y="0"/>
                </a:moveTo>
                <a:lnTo>
                  <a:pt x="617" y="0"/>
                </a:lnTo>
                <a:lnTo>
                  <a:pt x="617" y="3627"/>
                </a:lnTo>
                <a:lnTo>
                  <a:pt x="0" y="3627"/>
                </a:lnTo>
                <a:lnTo>
                  <a:pt x="0" y="0"/>
                </a:lnTo>
                <a:close/>
              </a:path>
            </a:pathLst>
          </a:custGeom>
          <a:solidFill>
            <a:srgbClr val="059669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8524080" y="3884040"/>
            <a:ext cx="221760" cy="1597680"/>
          </a:xfrm>
          <a:custGeom>
            <a:avLst/>
            <a:gdLst/>
            <a:ahLst/>
            <a:rect l="0" t="0" r="r" b="b"/>
            <a:pathLst>
              <a:path w="616" h="4438">
                <a:moveTo>
                  <a:pt x="0" y="0"/>
                </a:moveTo>
                <a:lnTo>
                  <a:pt x="616" y="0"/>
                </a:lnTo>
                <a:lnTo>
                  <a:pt x="616" y="4438"/>
                </a:lnTo>
                <a:lnTo>
                  <a:pt x="0" y="4438"/>
                </a:lnTo>
                <a:lnTo>
                  <a:pt x="0" y="0"/>
                </a:lnTo>
                <a:close/>
              </a:path>
            </a:pathLst>
          </a:custGeom>
          <a:solidFill>
            <a:srgbClr val="9333ea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7737120" y="5276880"/>
            <a:ext cx="1082880" cy="13680"/>
          </a:xfrm>
          <a:custGeom>
            <a:avLst/>
            <a:gdLst/>
            <a:ahLst/>
            <a:rect l="0" t="0" r="r" b="b"/>
            <a:pathLst>
              <a:path w="3008" h="38">
                <a:moveTo>
                  <a:pt x="0" y="0"/>
                </a:moveTo>
                <a:lnTo>
                  <a:pt x="93" y="0"/>
                </a:lnTo>
                <a:lnTo>
                  <a:pt x="93" y="38"/>
                </a:lnTo>
                <a:lnTo>
                  <a:pt x="0" y="38"/>
                </a:lnTo>
                <a:lnTo>
                  <a:pt x="0" y="0"/>
                </a:lnTo>
                <a:moveTo>
                  <a:pt x="150" y="0"/>
                </a:moveTo>
                <a:lnTo>
                  <a:pt x="243" y="0"/>
                </a:lnTo>
                <a:lnTo>
                  <a:pt x="243" y="38"/>
                </a:lnTo>
                <a:lnTo>
                  <a:pt x="150" y="38"/>
                </a:lnTo>
                <a:lnTo>
                  <a:pt x="150" y="0"/>
                </a:lnTo>
                <a:moveTo>
                  <a:pt x="299" y="0"/>
                </a:moveTo>
                <a:lnTo>
                  <a:pt x="393" y="0"/>
                </a:lnTo>
                <a:lnTo>
                  <a:pt x="393" y="38"/>
                </a:lnTo>
                <a:lnTo>
                  <a:pt x="299" y="38"/>
                </a:lnTo>
                <a:lnTo>
                  <a:pt x="299" y="0"/>
                </a:lnTo>
                <a:moveTo>
                  <a:pt x="449" y="0"/>
                </a:moveTo>
                <a:lnTo>
                  <a:pt x="543" y="0"/>
                </a:lnTo>
                <a:lnTo>
                  <a:pt x="543" y="38"/>
                </a:lnTo>
                <a:lnTo>
                  <a:pt x="449" y="38"/>
                </a:lnTo>
                <a:lnTo>
                  <a:pt x="449" y="0"/>
                </a:lnTo>
                <a:moveTo>
                  <a:pt x="599" y="0"/>
                </a:moveTo>
                <a:lnTo>
                  <a:pt x="692" y="0"/>
                </a:lnTo>
                <a:lnTo>
                  <a:pt x="692" y="38"/>
                </a:lnTo>
                <a:lnTo>
                  <a:pt x="599" y="38"/>
                </a:lnTo>
                <a:lnTo>
                  <a:pt x="599" y="0"/>
                </a:lnTo>
                <a:moveTo>
                  <a:pt x="748" y="0"/>
                </a:moveTo>
                <a:lnTo>
                  <a:pt x="842" y="0"/>
                </a:lnTo>
                <a:lnTo>
                  <a:pt x="842" y="38"/>
                </a:lnTo>
                <a:lnTo>
                  <a:pt x="748" y="38"/>
                </a:lnTo>
                <a:lnTo>
                  <a:pt x="748" y="0"/>
                </a:lnTo>
                <a:moveTo>
                  <a:pt x="898" y="0"/>
                </a:moveTo>
                <a:lnTo>
                  <a:pt x="992" y="0"/>
                </a:lnTo>
                <a:lnTo>
                  <a:pt x="992" y="38"/>
                </a:lnTo>
                <a:lnTo>
                  <a:pt x="898" y="38"/>
                </a:lnTo>
                <a:lnTo>
                  <a:pt x="898" y="0"/>
                </a:lnTo>
                <a:moveTo>
                  <a:pt x="1048" y="0"/>
                </a:moveTo>
                <a:lnTo>
                  <a:pt x="1142" y="0"/>
                </a:lnTo>
                <a:lnTo>
                  <a:pt x="1142" y="38"/>
                </a:lnTo>
                <a:lnTo>
                  <a:pt x="1048" y="38"/>
                </a:lnTo>
                <a:lnTo>
                  <a:pt x="1048" y="0"/>
                </a:lnTo>
                <a:moveTo>
                  <a:pt x="1199" y="0"/>
                </a:moveTo>
                <a:lnTo>
                  <a:pt x="1292" y="0"/>
                </a:lnTo>
                <a:lnTo>
                  <a:pt x="1292" y="38"/>
                </a:lnTo>
                <a:lnTo>
                  <a:pt x="1199" y="38"/>
                </a:lnTo>
                <a:lnTo>
                  <a:pt x="1199" y="0"/>
                </a:lnTo>
                <a:moveTo>
                  <a:pt x="1348" y="0"/>
                </a:moveTo>
                <a:lnTo>
                  <a:pt x="1442" y="0"/>
                </a:lnTo>
                <a:lnTo>
                  <a:pt x="1442" y="38"/>
                </a:lnTo>
                <a:lnTo>
                  <a:pt x="1348" y="38"/>
                </a:lnTo>
                <a:lnTo>
                  <a:pt x="1348" y="0"/>
                </a:lnTo>
                <a:moveTo>
                  <a:pt x="1498" y="0"/>
                </a:moveTo>
                <a:lnTo>
                  <a:pt x="1592" y="0"/>
                </a:lnTo>
                <a:lnTo>
                  <a:pt x="1592" y="38"/>
                </a:lnTo>
                <a:lnTo>
                  <a:pt x="1498" y="38"/>
                </a:lnTo>
                <a:lnTo>
                  <a:pt x="1498" y="0"/>
                </a:lnTo>
                <a:moveTo>
                  <a:pt x="1648" y="0"/>
                </a:moveTo>
                <a:lnTo>
                  <a:pt x="1741" y="0"/>
                </a:lnTo>
                <a:lnTo>
                  <a:pt x="1741" y="38"/>
                </a:lnTo>
                <a:lnTo>
                  <a:pt x="1648" y="38"/>
                </a:lnTo>
                <a:lnTo>
                  <a:pt x="1648" y="0"/>
                </a:lnTo>
                <a:moveTo>
                  <a:pt x="1797" y="0"/>
                </a:moveTo>
                <a:lnTo>
                  <a:pt x="1891" y="0"/>
                </a:lnTo>
                <a:lnTo>
                  <a:pt x="1891" y="38"/>
                </a:lnTo>
                <a:lnTo>
                  <a:pt x="1797" y="38"/>
                </a:lnTo>
                <a:lnTo>
                  <a:pt x="1797" y="0"/>
                </a:lnTo>
                <a:moveTo>
                  <a:pt x="1947" y="0"/>
                </a:moveTo>
                <a:lnTo>
                  <a:pt x="2041" y="0"/>
                </a:lnTo>
                <a:lnTo>
                  <a:pt x="2041" y="38"/>
                </a:lnTo>
                <a:lnTo>
                  <a:pt x="1947" y="38"/>
                </a:lnTo>
                <a:lnTo>
                  <a:pt x="1947" y="0"/>
                </a:lnTo>
                <a:moveTo>
                  <a:pt x="2097" y="0"/>
                </a:moveTo>
                <a:lnTo>
                  <a:pt x="2190" y="0"/>
                </a:lnTo>
                <a:lnTo>
                  <a:pt x="2190" y="38"/>
                </a:lnTo>
                <a:lnTo>
                  <a:pt x="2097" y="38"/>
                </a:lnTo>
                <a:lnTo>
                  <a:pt x="2097" y="0"/>
                </a:lnTo>
                <a:moveTo>
                  <a:pt x="2247" y="0"/>
                </a:moveTo>
                <a:lnTo>
                  <a:pt x="2340" y="0"/>
                </a:lnTo>
                <a:lnTo>
                  <a:pt x="2340" y="38"/>
                </a:lnTo>
                <a:lnTo>
                  <a:pt x="2247" y="38"/>
                </a:lnTo>
                <a:lnTo>
                  <a:pt x="2247" y="0"/>
                </a:lnTo>
                <a:moveTo>
                  <a:pt x="2396" y="0"/>
                </a:moveTo>
                <a:lnTo>
                  <a:pt x="2490" y="0"/>
                </a:lnTo>
                <a:lnTo>
                  <a:pt x="2490" y="38"/>
                </a:lnTo>
                <a:lnTo>
                  <a:pt x="2396" y="38"/>
                </a:lnTo>
                <a:lnTo>
                  <a:pt x="2396" y="0"/>
                </a:lnTo>
                <a:moveTo>
                  <a:pt x="2546" y="0"/>
                </a:moveTo>
                <a:lnTo>
                  <a:pt x="2640" y="0"/>
                </a:lnTo>
                <a:lnTo>
                  <a:pt x="2640" y="38"/>
                </a:lnTo>
                <a:lnTo>
                  <a:pt x="2546" y="38"/>
                </a:lnTo>
                <a:lnTo>
                  <a:pt x="2546" y="0"/>
                </a:lnTo>
                <a:moveTo>
                  <a:pt x="2696" y="0"/>
                </a:moveTo>
                <a:lnTo>
                  <a:pt x="2789" y="0"/>
                </a:lnTo>
                <a:lnTo>
                  <a:pt x="2789" y="38"/>
                </a:lnTo>
                <a:lnTo>
                  <a:pt x="2696" y="38"/>
                </a:lnTo>
                <a:lnTo>
                  <a:pt x="2696" y="0"/>
                </a:lnTo>
                <a:moveTo>
                  <a:pt x="2845" y="0"/>
                </a:moveTo>
                <a:lnTo>
                  <a:pt x="2939" y="0"/>
                </a:lnTo>
                <a:lnTo>
                  <a:pt x="2939" y="38"/>
                </a:lnTo>
                <a:lnTo>
                  <a:pt x="2845" y="38"/>
                </a:lnTo>
                <a:lnTo>
                  <a:pt x="2845" y="0"/>
                </a:lnTo>
                <a:moveTo>
                  <a:pt x="2995" y="0"/>
                </a:moveTo>
                <a:lnTo>
                  <a:pt x="3008" y="0"/>
                </a:lnTo>
                <a:lnTo>
                  <a:pt x="3008" y="38"/>
                </a:lnTo>
                <a:lnTo>
                  <a:pt x="2995" y="38"/>
                </a:lnTo>
                <a:lnTo>
                  <a:pt x="2995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6860160" y="5529600"/>
            <a:ext cx="384048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30" strike="noStrike" u="none" i="0">
                <a:solidFill>
                  <a:srgbClr val="000000"/>
                </a:solidFill>
                <a:effectLst/>
                <a:uFillTx/>
                <a:latin typeface="Inter, sans-serif"/>
                <a:ea typeface="Inter, sans-serif"/>
              </a:rPr>
              <a:t>DeepSeek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9015840" y="4383360"/>
            <a:ext cx="221760" cy="1098360"/>
          </a:xfrm>
          <a:custGeom>
            <a:avLst/>
            <a:gdLst/>
            <a:ahLst/>
            <a:rect l="0" t="0" r="r" b="b"/>
            <a:pathLst>
              <a:path w="616" h="3051">
                <a:moveTo>
                  <a:pt x="0" y="0"/>
                </a:moveTo>
                <a:lnTo>
                  <a:pt x="616" y="0"/>
                </a:lnTo>
                <a:lnTo>
                  <a:pt x="616" y="3051"/>
                </a:lnTo>
                <a:lnTo>
                  <a:pt x="0" y="3051"/>
                </a:lnTo>
                <a:lnTo>
                  <a:pt x="0" y="0"/>
                </a:lnTo>
                <a:close/>
              </a:path>
            </a:pathLst>
          </a:custGeom>
          <a:solidFill>
            <a:srgbClr val="2563eb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9262440" y="4526640"/>
            <a:ext cx="221760" cy="955080"/>
          </a:xfrm>
          <a:custGeom>
            <a:avLst/>
            <a:gdLst/>
            <a:ahLst/>
            <a:rect l="0" t="0" r="r" b="b"/>
            <a:pathLst>
              <a:path w="616" h="2653">
                <a:moveTo>
                  <a:pt x="0" y="0"/>
                </a:moveTo>
                <a:lnTo>
                  <a:pt x="616" y="0"/>
                </a:lnTo>
                <a:lnTo>
                  <a:pt x="616" y="2653"/>
                </a:lnTo>
                <a:lnTo>
                  <a:pt x="0" y="2653"/>
                </a:lnTo>
                <a:lnTo>
                  <a:pt x="0" y="0"/>
                </a:lnTo>
                <a:close/>
              </a:path>
            </a:pathLst>
          </a:custGeom>
          <a:solidFill>
            <a:srgbClr val="dc2626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9507600" y="4782960"/>
            <a:ext cx="222120" cy="698760"/>
          </a:xfrm>
          <a:custGeom>
            <a:avLst/>
            <a:gdLst/>
            <a:ahLst/>
            <a:rect l="0" t="0" r="r" b="b"/>
            <a:pathLst>
              <a:path w="617" h="1941">
                <a:moveTo>
                  <a:pt x="0" y="0"/>
                </a:moveTo>
                <a:lnTo>
                  <a:pt x="617" y="0"/>
                </a:lnTo>
                <a:lnTo>
                  <a:pt x="617" y="1941"/>
                </a:lnTo>
                <a:lnTo>
                  <a:pt x="0" y="1941"/>
                </a:lnTo>
                <a:lnTo>
                  <a:pt x="0" y="0"/>
                </a:lnTo>
                <a:close/>
              </a:path>
            </a:pathLst>
          </a:custGeom>
          <a:solidFill>
            <a:srgbClr val="059669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9754200" y="4653000"/>
            <a:ext cx="222120" cy="828720"/>
          </a:xfrm>
          <a:custGeom>
            <a:avLst/>
            <a:gdLst/>
            <a:ahLst/>
            <a:rect l="0" t="0" r="r" b="b"/>
            <a:pathLst>
              <a:path w="617" h="2302">
                <a:moveTo>
                  <a:pt x="0" y="0"/>
                </a:moveTo>
                <a:lnTo>
                  <a:pt x="617" y="0"/>
                </a:lnTo>
                <a:lnTo>
                  <a:pt x="617" y="2302"/>
                </a:lnTo>
                <a:lnTo>
                  <a:pt x="0" y="2302"/>
                </a:lnTo>
                <a:lnTo>
                  <a:pt x="0" y="0"/>
                </a:lnTo>
                <a:close/>
              </a:path>
            </a:pathLst>
          </a:custGeom>
          <a:solidFill>
            <a:srgbClr val="9333ea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8966520" y="5275440"/>
            <a:ext cx="1082520" cy="13680"/>
          </a:xfrm>
          <a:custGeom>
            <a:avLst/>
            <a:gdLst/>
            <a:ahLst/>
            <a:rect l="0" t="0" r="r" b="b"/>
            <a:pathLst>
              <a:path w="3007" h="38">
                <a:moveTo>
                  <a:pt x="0" y="0"/>
                </a:moveTo>
                <a:lnTo>
                  <a:pt x="94" y="0"/>
                </a:lnTo>
                <a:lnTo>
                  <a:pt x="94" y="38"/>
                </a:lnTo>
                <a:lnTo>
                  <a:pt x="0" y="38"/>
                </a:lnTo>
                <a:lnTo>
                  <a:pt x="0" y="0"/>
                </a:lnTo>
                <a:moveTo>
                  <a:pt x="150" y="0"/>
                </a:moveTo>
                <a:lnTo>
                  <a:pt x="243" y="0"/>
                </a:lnTo>
                <a:lnTo>
                  <a:pt x="243" y="38"/>
                </a:lnTo>
                <a:lnTo>
                  <a:pt x="150" y="38"/>
                </a:lnTo>
                <a:lnTo>
                  <a:pt x="150" y="0"/>
                </a:lnTo>
                <a:moveTo>
                  <a:pt x="300" y="0"/>
                </a:moveTo>
                <a:lnTo>
                  <a:pt x="393" y="0"/>
                </a:lnTo>
                <a:lnTo>
                  <a:pt x="393" y="38"/>
                </a:lnTo>
                <a:lnTo>
                  <a:pt x="300" y="38"/>
                </a:lnTo>
                <a:lnTo>
                  <a:pt x="300" y="0"/>
                </a:lnTo>
                <a:moveTo>
                  <a:pt x="449" y="0"/>
                </a:moveTo>
                <a:lnTo>
                  <a:pt x="543" y="0"/>
                </a:lnTo>
                <a:lnTo>
                  <a:pt x="543" y="38"/>
                </a:lnTo>
                <a:lnTo>
                  <a:pt x="449" y="38"/>
                </a:lnTo>
                <a:lnTo>
                  <a:pt x="449" y="0"/>
                </a:lnTo>
                <a:moveTo>
                  <a:pt x="599" y="0"/>
                </a:moveTo>
                <a:lnTo>
                  <a:pt x="694" y="0"/>
                </a:lnTo>
                <a:lnTo>
                  <a:pt x="694" y="38"/>
                </a:lnTo>
                <a:lnTo>
                  <a:pt x="599" y="38"/>
                </a:lnTo>
                <a:lnTo>
                  <a:pt x="599" y="0"/>
                </a:lnTo>
                <a:moveTo>
                  <a:pt x="750" y="0"/>
                </a:moveTo>
                <a:lnTo>
                  <a:pt x="843" y="0"/>
                </a:lnTo>
                <a:lnTo>
                  <a:pt x="843" y="38"/>
                </a:lnTo>
                <a:lnTo>
                  <a:pt x="750" y="38"/>
                </a:lnTo>
                <a:lnTo>
                  <a:pt x="750" y="0"/>
                </a:lnTo>
                <a:moveTo>
                  <a:pt x="899" y="0"/>
                </a:moveTo>
                <a:lnTo>
                  <a:pt x="993" y="0"/>
                </a:lnTo>
                <a:lnTo>
                  <a:pt x="993" y="38"/>
                </a:lnTo>
                <a:lnTo>
                  <a:pt x="899" y="38"/>
                </a:lnTo>
                <a:lnTo>
                  <a:pt x="899" y="0"/>
                </a:lnTo>
                <a:moveTo>
                  <a:pt x="1049" y="0"/>
                </a:moveTo>
                <a:lnTo>
                  <a:pt x="1143" y="0"/>
                </a:lnTo>
                <a:lnTo>
                  <a:pt x="1143" y="38"/>
                </a:lnTo>
                <a:lnTo>
                  <a:pt x="1049" y="38"/>
                </a:lnTo>
                <a:lnTo>
                  <a:pt x="1049" y="0"/>
                </a:lnTo>
                <a:moveTo>
                  <a:pt x="1199" y="0"/>
                </a:moveTo>
                <a:lnTo>
                  <a:pt x="1292" y="0"/>
                </a:lnTo>
                <a:lnTo>
                  <a:pt x="1292" y="38"/>
                </a:lnTo>
                <a:lnTo>
                  <a:pt x="1199" y="38"/>
                </a:lnTo>
                <a:lnTo>
                  <a:pt x="1199" y="0"/>
                </a:lnTo>
                <a:moveTo>
                  <a:pt x="1349" y="0"/>
                </a:moveTo>
                <a:lnTo>
                  <a:pt x="1442" y="0"/>
                </a:lnTo>
                <a:lnTo>
                  <a:pt x="1442" y="38"/>
                </a:lnTo>
                <a:lnTo>
                  <a:pt x="1349" y="38"/>
                </a:lnTo>
                <a:lnTo>
                  <a:pt x="1349" y="0"/>
                </a:lnTo>
                <a:moveTo>
                  <a:pt x="1498" y="0"/>
                </a:moveTo>
                <a:lnTo>
                  <a:pt x="1592" y="0"/>
                </a:lnTo>
                <a:lnTo>
                  <a:pt x="1592" y="38"/>
                </a:lnTo>
                <a:lnTo>
                  <a:pt x="1498" y="38"/>
                </a:lnTo>
                <a:lnTo>
                  <a:pt x="1498" y="0"/>
                </a:lnTo>
                <a:moveTo>
                  <a:pt x="1648" y="0"/>
                </a:moveTo>
                <a:lnTo>
                  <a:pt x="1742" y="0"/>
                </a:lnTo>
                <a:lnTo>
                  <a:pt x="1742" y="38"/>
                </a:lnTo>
                <a:lnTo>
                  <a:pt x="1648" y="38"/>
                </a:lnTo>
                <a:lnTo>
                  <a:pt x="1648" y="0"/>
                </a:lnTo>
                <a:moveTo>
                  <a:pt x="1798" y="0"/>
                </a:moveTo>
                <a:lnTo>
                  <a:pt x="1891" y="0"/>
                </a:lnTo>
                <a:lnTo>
                  <a:pt x="1891" y="38"/>
                </a:lnTo>
                <a:lnTo>
                  <a:pt x="1798" y="38"/>
                </a:lnTo>
                <a:lnTo>
                  <a:pt x="1798" y="0"/>
                </a:lnTo>
                <a:moveTo>
                  <a:pt x="1947" y="0"/>
                </a:moveTo>
                <a:lnTo>
                  <a:pt x="2041" y="0"/>
                </a:lnTo>
                <a:lnTo>
                  <a:pt x="2041" y="38"/>
                </a:lnTo>
                <a:lnTo>
                  <a:pt x="1947" y="38"/>
                </a:lnTo>
                <a:lnTo>
                  <a:pt x="1947" y="0"/>
                </a:lnTo>
                <a:moveTo>
                  <a:pt x="2097" y="0"/>
                </a:moveTo>
                <a:lnTo>
                  <a:pt x="2191" y="0"/>
                </a:lnTo>
                <a:lnTo>
                  <a:pt x="2191" y="38"/>
                </a:lnTo>
                <a:lnTo>
                  <a:pt x="2097" y="38"/>
                </a:lnTo>
                <a:lnTo>
                  <a:pt x="2097" y="0"/>
                </a:lnTo>
                <a:moveTo>
                  <a:pt x="2247" y="0"/>
                </a:moveTo>
                <a:lnTo>
                  <a:pt x="2340" y="0"/>
                </a:lnTo>
                <a:lnTo>
                  <a:pt x="2340" y="38"/>
                </a:lnTo>
                <a:lnTo>
                  <a:pt x="2247" y="38"/>
                </a:lnTo>
                <a:lnTo>
                  <a:pt x="2247" y="0"/>
                </a:lnTo>
                <a:moveTo>
                  <a:pt x="2397" y="0"/>
                </a:moveTo>
                <a:lnTo>
                  <a:pt x="2490" y="0"/>
                </a:lnTo>
                <a:lnTo>
                  <a:pt x="2490" y="38"/>
                </a:lnTo>
                <a:lnTo>
                  <a:pt x="2397" y="38"/>
                </a:lnTo>
                <a:lnTo>
                  <a:pt x="2397" y="0"/>
                </a:lnTo>
                <a:moveTo>
                  <a:pt x="2546" y="0"/>
                </a:moveTo>
                <a:lnTo>
                  <a:pt x="2640" y="0"/>
                </a:lnTo>
                <a:lnTo>
                  <a:pt x="2640" y="38"/>
                </a:lnTo>
                <a:lnTo>
                  <a:pt x="2546" y="38"/>
                </a:lnTo>
                <a:lnTo>
                  <a:pt x="2546" y="0"/>
                </a:lnTo>
                <a:moveTo>
                  <a:pt x="2696" y="0"/>
                </a:moveTo>
                <a:lnTo>
                  <a:pt x="2790" y="0"/>
                </a:lnTo>
                <a:lnTo>
                  <a:pt x="2790" y="38"/>
                </a:lnTo>
                <a:lnTo>
                  <a:pt x="2696" y="38"/>
                </a:lnTo>
                <a:lnTo>
                  <a:pt x="2696" y="0"/>
                </a:lnTo>
                <a:moveTo>
                  <a:pt x="2846" y="0"/>
                </a:moveTo>
                <a:lnTo>
                  <a:pt x="2939" y="0"/>
                </a:lnTo>
                <a:lnTo>
                  <a:pt x="2939" y="38"/>
                </a:lnTo>
                <a:lnTo>
                  <a:pt x="2846" y="38"/>
                </a:lnTo>
                <a:lnTo>
                  <a:pt x="2846" y="0"/>
                </a:lnTo>
                <a:moveTo>
                  <a:pt x="2995" y="0"/>
                </a:moveTo>
                <a:lnTo>
                  <a:pt x="3007" y="0"/>
                </a:lnTo>
                <a:lnTo>
                  <a:pt x="3007" y="38"/>
                </a:lnTo>
                <a:lnTo>
                  <a:pt x="2995" y="38"/>
                </a:lnTo>
                <a:lnTo>
                  <a:pt x="2995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8146440" y="5529600"/>
            <a:ext cx="288035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30" strike="noStrike" u="none" i="0">
                <a:solidFill>
                  <a:srgbClr val="000000"/>
                </a:solidFill>
                <a:effectLst/>
                <a:uFillTx/>
                <a:latin typeface="Inter, sans-serif"/>
                <a:ea typeface="Inter, sans-serif"/>
              </a:rPr>
              <a:t>Llama4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10245960" y="4557600"/>
            <a:ext cx="222120" cy="924120"/>
          </a:xfrm>
          <a:custGeom>
            <a:avLst/>
            <a:gdLst/>
            <a:ahLst/>
            <a:rect l="0" t="0" r="r" b="b"/>
            <a:pathLst>
              <a:path w="617" h="2567">
                <a:moveTo>
                  <a:pt x="0" y="0"/>
                </a:moveTo>
                <a:lnTo>
                  <a:pt x="617" y="0"/>
                </a:lnTo>
                <a:lnTo>
                  <a:pt x="617" y="2567"/>
                </a:lnTo>
                <a:lnTo>
                  <a:pt x="0" y="2567"/>
                </a:lnTo>
                <a:lnTo>
                  <a:pt x="0" y="0"/>
                </a:lnTo>
                <a:close/>
              </a:path>
            </a:pathLst>
          </a:custGeom>
          <a:solidFill>
            <a:srgbClr val="2563eb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10491120" y="4554360"/>
            <a:ext cx="222120" cy="927360"/>
          </a:xfrm>
          <a:custGeom>
            <a:avLst/>
            <a:gdLst/>
            <a:ahLst/>
            <a:rect l="0" t="0" r="r" b="b"/>
            <a:pathLst>
              <a:path w="617" h="2576">
                <a:moveTo>
                  <a:pt x="0" y="0"/>
                </a:moveTo>
                <a:lnTo>
                  <a:pt x="617" y="0"/>
                </a:lnTo>
                <a:lnTo>
                  <a:pt x="617" y="2576"/>
                </a:lnTo>
                <a:lnTo>
                  <a:pt x="0" y="2576"/>
                </a:lnTo>
                <a:lnTo>
                  <a:pt x="0" y="0"/>
                </a:lnTo>
                <a:close/>
              </a:path>
            </a:pathLst>
          </a:custGeom>
          <a:solidFill>
            <a:srgbClr val="dc2626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10737720" y="4841640"/>
            <a:ext cx="222480" cy="640080"/>
          </a:xfrm>
          <a:custGeom>
            <a:avLst/>
            <a:gdLst/>
            <a:ahLst/>
            <a:rect l="0" t="0" r="r" b="b"/>
            <a:pathLst>
              <a:path w="618" h="1778">
                <a:moveTo>
                  <a:pt x="0" y="0"/>
                </a:moveTo>
                <a:lnTo>
                  <a:pt x="618" y="0"/>
                </a:lnTo>
                <a:lnTo>
                  <a:pt x="618" y="1778"/>
                </a:lnTo>
                <a:lnTo>
                  <a:pt x="0" y="1778"/>
                </a:lnTo>
                <a:lnTo>
                  <a:pt x="0" y="0"/>
                </a:lnTo>
                <a:close/>
              </a:path>
            </a:pathLst>
          </a:custGeom>
          <a:solidFill>
            <a:srgbClr val="059669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10982880" y="4676760"/>
            <a:ext cx="222120" cy="804960"/>
          </a:xfrm>
          <a:custGeom>
            <a:avLst/>
            <a:gdLst/>
            <a:ahLst/>
            <a:rect l="0" t="0" r="r" b="b"/>
            <a:pathLst>
              <a:path w="617" h="2236">
                <a:moveTo>
                  <a:pt x="0" y="0"/>
                </a:moveTo>
                <a:lnTo>
                  <a:pt x="617" y="0"/>
                </a:lnTo>
                <a:lnTo>
                  <a:pt x="617" y="2236"/>
                </a:lnTo>
                <a:lnTo>
                  <a:pt x="0" y="2236"/>
                </a:lnTo>
                <a:lnTo>
                  <a:pt x="0" y="0"/>
                </a:lnTo>
                <a:close/>
              </a:path>
            </a:pathLst>
          </a:custGeom>
          <a:solidFill>
            <a:srgbClr val="9333ea">
              <a:alpha val="8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10196640" y="5291640"/>
            <a:ext cx="1081800" cy="13680"/>
          </a:xfrm>
          <a:custGeom>
            <a:avLst/>
            <a:gdLst/>
            <a:ahLst/>
            <a:rect l="0" t="0" r="r" b="b"/>
            <a:pathLst>
              <a:path w="3005" h="38">
                <a:moveTo>
                  <a:pt x="0" y="0"/>
                </a:moveTo>
                <a:lnTo>
                  <a:pt x="94" y="0"/>
                </a:lnTo>
                <a:lnTo>
                  <a:pt x="94" y="38"/>
                </a:lnTo>
                <a:lnTo>
                  <a:pt x="0" y="38"/>
                </a:lnTo>
                <a:lnTo>
                  <a:pt x="0" y="0"/>
                </a:lnTo>
                <a:moveTo>
                  <a:pt x="150" y="0"/>
                </a:moveTo>
                <a:lnTo>
                  <a:pt x="245" y="0"/>
                </a:lnTo>
                <a:lnTo>
                  <a:pt x="245" y="38"/>
                </a:lnTo>
                <a:lnTo>
                  <a:pt x="150" y="38"/>
                </a:lnTo>
                <a:lnTo>
                  <a:pt x="150" y="0"/>
                </a:lnTo>
                <a:moveTo>
                  <a:pt x="301" y="0"/>
                </a:moveTo>
                <a:lnTo>
                  <a:pt x="394" y="0"/>
                </a:lnTo>
                <a:lnTo>
                  <a:pt x="394" y="38"/>
                </a:lnTo>
                <a:lnTo>
                  <a:pt x="301" y="38"/>
                </a:lnTo>
                <a:lnTo>
                  <a:pt x="301" y="0"/>
                </a:lnTo>
                <a:moveTo>
                  <a:pt x="451" y="0"/>
                </a:moveTo>
                <a:lnTo>
                  <a:pt x="544" y="0"/>
                </a:lnTo>
                <a:lnTo>
                  <a:pt x="544" y="38"/>
                </a:lnTo>
                <a:lnTo>
                  <a:pt x="451" y="38"/>
                </a:lnTo>
                <a:lnTo>
                  <a:pt x="451" y="0"/>
                </a:lnTo>
                <a:moveTo>
                  <a:pt x="600" y="0"/>
                </a:moveTo>
                <a:lnTo>
                  <a:pt x="694" y="0"/>
                </a:lnTo>
                <a:lnTo>
                  <a:pt x="694" y="38"/>
                </a:lnTo>
                <a:lnTo>
                  <a:pt x="600" y="38"/>
                </a:lnTo>
                <a:lnTo>
                  <a:pt x="600" y="0"/>
                </a:lnTo>
                <a:moveTo>
                  <a:pt x="750" y="0"/>
                </a:moveTo>
                <a:lnTo>
                  <a:pt x="844" y="0"/>
                </a:lnTo>
                <a:lnTo>
                  <a:pt x="844" y="38"/>
                </a:lnTo>
                <a:lnTo>
                  <a:pt x="750" y="38"/>
                </a:lnTo>
                <a:lnTo>
                  <a:pt x="750" y="0"/>
                </a:lnTo>
                <a:moveTo>
                  <a:pt x="900" y="0"/>
                </a:moveTo>
                <a:lnTo>
                  <a:pt x="993" y="0"/>
                </a:lnTo>
                <a:lnTo>
                  <a:pt x="993" y="38"/>
                </a:lnTo>
                <a:lnTo>
                  <a:pt x="900" y="38"/>
                </a:lnTo>
                <a:lnTo>
                  <a:pt x="900" y="0"/>
                </a:lnTo>
                <a:moveTo>
                  <a:pt x="1049" y="0"/>
                </a:moveTo>
                <a:lnTo>
                  <a:pt x="1143" y="0"/>
                </a:lnTo>
                <a:lnTo>
                  <a:pt x="1143" y="38"/>
                </a:lnTo>
                <a:lnTo>
                  <a:pt x="1049" y="38"/>
                </a:lnTo>
                <a:lnTo>
                  <a:pt x="1049" y="0"/>
                </a:lnTo>
                <a:moveTo>
                  <a:pt x="1199" y="0"/>
                </a:moveTo>
                <a:lnTo>
                  <a:pt x="1293" y="0"/>
                </a:lnTo>
                <a:lnTo>
                  <a:pt x="1293" y="38"/>
                </a:lnTo>
                <a:lnTo>
                  <a:pt x="1199" y="38"/>
                </a:lnTo>
                <a:lnTo>
                  <a:pt x="1199" y="0"/>
                </a:lnTo>
                <a:moveTo>
                  <a:pt x="1349" y="0"/>
                </a:moveTo>
                <a:lnTo>
                  <a:pt x="1442" y="0"/>
                </a:lnTo>
                <a:lnTo>
                  <a:pt x="1442" y="38"/>
                </a:lnTo>
                <a:lnTo>
                  <a:pt x="1349" y="38"/>
                </a:lnTo>
                <a:lnTo>
                  <a:pt x="1349" y="0"/>
                </a:lnTo>
                <a:moveTo>
                  <a:pt x="1499" y="0"/>
                </a:moveTo>
                <a:lnTo>
                  <a:pt x="1592" y="0"/>
                </a:lnTo>
                <a:lnTo>
                  <a:pt x="1592" y="38"/>
                </a:lnTo>
                <a:lnTo>
                  <a:pt x="1499" y="38"/>
                </a:lnTo>
                <a:lnTo>
                  <a:pt x="1499" y="0"/>
                </a:lnTo>
                <a:moveTo>
                  <a:pt x="1648" y="0"/>
                </a:moveTo>
                <a:lnTo>
                  <a:pt x="1742" y="0"/>
                </a:lnTo>
                <a:lnTo>
                  <a:pt x="1742" y="38"/>
                </a:lnTo>
                <a:lnTo>
                  <a:pt x="1648" y="38"/>
                </a:lnTo>
                <a:lnTo>
                  <a:pt x="1648" y="0"/>
                </a:lnTo>
                <a:moveTo>
                  <a:pt x="1798" y="0"/>
                </a:moveTo>
                <a:lnTo>
                  <a:pt x="1892" y="0"/>
                </a:lnTo>
                <a:lnTo>
                  <a:pt x="1892" y="38"/>
                </a:lnTo>
                <a:lnTo>
                  <a:pt x="1798" y="38"/>
                </a:lnTo>
                <a:lnTo>
                  <a:pt x="1798" y="0"/>
                </a:lnTo>
                <a:moveTo>
                  <a:pt x="1948" y="0"/>
                </a:moveTo>
                <a:lnTo>
                  <a:pt x="2041" y="0"/>
                </a:lnTo>
                <a:lnTo>
                  <a:pt x="2041" y="38"/>
                </a:lnTo>
                <a:lnTo>
                  <a:pt x="1948" y="38"/>
                </a:lnTo>
                <a:lnTo>
                  <a:pt x="1948" y="0"/>
                </a:lnTo>
                <a:moveTo>
                  <a:pt x="2097" y="0"/>
                </a:moveTo>
                <a:lnTo>
                  <a:pt x="2191" y="0"/>
                </a:lnTo>
                <a:lnTo>
                  <a:pt x="2191" y="38"/>
                </a:lnTo>
                <a:lnTo>
                  <a:pt x="2097" y="38"/>
                </a:lnTo>
                <a:lnTo>
                  <a:pt x="2097" y="0"/>
                </a:lnTo>
                <a:moveTo>
                  <a:pt x="2247" y="0"/>
                </a:moveTo>
                <a:lnTo>
                  <a:pt x="2341" y="0"/>
                </a:lnTo>
                <a:lnTo>
                  <a:pt x="2341" y="38"/>
                </a:lnTo>
                <a:lnTo>
                  <a:pt x="2247" y="38"/>
                </a:lnTo>
                <a:lnTo>
                  <a:pt x="2247" y="0"/>
                </a:lnTo>
                <a:moveTo>
                  <a:pt x="2397" y="0"/>
                </a:moveTo>
                <a:lnTo>
                  <a:pt x="2490" y="0"/>
                </a:lnTo>
                <a:lnTo>
                  <a:pt x="2490" y="38"/>
                </a:lnTo>
                <a:lnTo>
                  <a:pt x="2397" y="38"/>
                </a:lnTo>
                <a:lnTo>
                  <a:pt x="2397" y="0"/>
                </a:lnTo>
                <a:moveTo>
                  <a:pt x="2547" y="0"/>
                </a:moveTo>
                <a:lnTo>
                  <a:pt x="2640" y="0"/>
                </a:lnTo>
                <a:lnTo>
                  <a:pt x="2640" y="38"/>
                </a:lnTo>
                <a:lnTo>
                  <a:pt x="2547" y="38"/>
                </a:lnTo>
                <a:lnTo>
                  <a:pt x="2547" y="0"/>
                </a:lnTo>
                <a:moveTo>
                  <a:pt x="2696" y="0"/>
                </a:moveTo>
                <a:lnTo>
                  <a:pt x="2790" y="0"/>
                </a:lnTo>
                <a:lnTo>
                  <a:pt x="2790" y="38"/>
                </a:lnTo>
                <a:lnTo>
                  <a:pt x="2696" y="38"/>
                </a:lnTo>
                <a:lnTo>
                  <a:pt x="2696" y="0"/>
                </a:lnTo>
                <a:moveTo>
                  <a:pt x="2846" y="0"/>
                </a:moveTo>
                <a:lnTo>
                  <a:pt x="2940" y="0"/>
                </a:lnTo>
                <a:lnTo>
                  <a:pt x="2940" y="38"/>
                </a:lnTo>
                <a:lnTo>
                  <a:pt x="2846" y="38"/>
                </a:lnTo>
                <a:lnTo>
                  <a:pt x="2846" y="0"/>
                </a:lnTo>
                <a:moveTo>
                  <a:pt x="2996" y="0"/>
                </a:moveTo>
                <a:lnTo>
                  <a:pt x="3005" y="0"/>
                </a:lnTo>
                <a:lnTo>
                  <a:pt x="3005" y="38"/>
                </a:lnTo>
                <a:lnTo>
                  <a:pt x="2996" y="38"/>
                </a:lnTo>
                <a:lnTo>
                  <a:pt x="2996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9429480" y="5529600"/>
            <a:ext cx="192024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30" strike="noStrike" u="none" i="0">
                <a:solidFill>
                  <a:srgbClr val="000000"/>
                </a:solidFill>
                <a:effectLst/>
                <a:uFillTx/>
                <a:latin typeface="Inter, sans-serif"/>
                <a:ea typeface="Inter, sans-serif"/>
              </a:rPr>
              <a:t>Kimi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6501600" y="5817600"/>
            <a:ext cx="81000" cy="81360"/>
          </a:xfrm>
          <a:custGeom>
            <a:avLst/>
            <a:gdLst/>
            <a:ahLst/>
            <a:rect l="0" t="0" r="r" b="b"/>
            <a:pathLst>
              <a:path w="225" h="226">
                <a:moveTo>
                  <a:pt x="0" y="0"/>
                </a:moveTo>
                <a:lnTo>
                  <a:pt x="225" y="0"/>
                </a:lnTo>
                <a:lnTo>
                  <a:pt x="225" y="226"/>
                </a:lnTo>
                <a:lnTo>
                  <a:pt x="0" y="226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10632600" y="5529600"/>
            <a:ext cx="2116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30" strike="noStrike" u="none" i="0">
                <a:solidFill>
                  <a:srgbClr val="000000"/>
                </a:solidFill>
                <a:effectLst/>
                <a:uFillTx/>
                <a:latin typeface="Inter, sans-serif"/>
                <a:ea typeface="Inter, sans-serif"/>
              </a:rPr>
              <a:t>Qwen</a:t>
            </a:r>
            <a:endParaRPr b="0" lang="en-US" sz="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7242480" y="5817600"/>
            <a:ext cx="81360" cy="81360"/>
          </a:xfrm>
          <a:custGeom>
            <a:avLst/>
            <a:gdLst/>
            <a:ahLst/>
            <a:rect l="0" t="0" r="r" b="b"/>
            <a:pathLst>
              <a:path w="226" h="226">
                <a:moveTo>
                  <a:pt x="0" y="0"/>
                </a:move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6609240" y="5818320"/>
            <a:ext cx="961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lcb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7983720" y="5817600"/>
            <a:ext cx="81000" cy="81360"/>
          </a:xfrm>
          <a:custGeom>
            <a:avLst/>
            <a:gdLst/>
            <a:ahLst/>
            <a:rect l="0" t="0" r="r" b="b"/>
            <a:pathLst>
              <a:path w="225" h="226">
                <a:moveTo>
                  <a:pt x="0" y="0"/>
                </a:moveTo>
                <a:lnTo>
                  <a:pt x="225" y="0"/>
                </a:lnTo>
                <a:lnTo>
                  <a:pt x="225" y="226"/>
                </a:lnTo>
                <a:lnTo>
                  <a:pt x="0" y="226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7350480" y="5818320"/>
            <a:ext cx="16272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aime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8724600" y="5817600"/>
            <a:ext cx="81360" cy="81360"/>
          </a:xfrm>
          <a:custGeom>
            <a:avLst/>
            <a:gdLst/>
            <a:ahLst/>
            <a:rect l="0" t="0" r="r" b="b"/>
            <a:pathLst>
              <a:path w="226" h="226">
                <a:moveTo>
                  <a:pt x="0" y="0"/>
                </a:move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  <a:lnTo>
                  <a:pt x="0" y="0"/>
                </a:lnTo>
                <a:close/>
              </a:path>
            </a:pathLst>
          </a:custGeom>
          <a:solidFill>
            <a:srgbClr val="9333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8091360" y="5818320"/>
            <a:ext cx="18324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mmlu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9465840" y="5851440"/>
            <a:ext cx="87840" cy="13680"/>
          </a:xfrm>
          <a:custGeom>
            <a:avLst/>
            <a:gdLst/>
            <a:ahLst/>
            <a:rect l="0" t="0" r="r" b="b"/>
            <a:pathLst>
              <a:path w="244" h="38">
                <a:moveTo>
                  <a:pt x="0" y="0"/>
                </a:moveTo>
                <a:lnTo>
                  <a:pt x="94" y="0"/>
                </a:lnTo>
                <a:lnTo>
                  <a:pt x="94" y="38"/>
                </a:lnTo>
                <a:lnTo>
                  <a:pt x="0" y="38"/>
                </a:lnTo>
                <a:lnTo>
                  <a:pt x="0" y="0"/>
                </a:lnTo>
                <a:moveTo>
                  <a:pt x="151" y="0"/>
                </a:moveTo>
                <a:lnTo>
                  <a:pt x="244" y="0"/>
                </a:lnTo>
                <a:lnTo>
                  <a:pt x="244" y="38"/>
                </a:lnTo>
                <a:lnTo>
                  <a:pt x="151" y="38"/>
                </a:lnTo>
                <a:lnTo>
                  <a:pt x="151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8832600" y="5818320"/>
            <a:ext cx="324360" cy="8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mmlu_ZH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9600480" y="5816520"/>
            <a:ext cx="205560" cy="87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58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MC基线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ns0:sld xmlns:ns0="http://schemas.openxmlformats.org/presentationml/2006/main" xmlns:ns1="http://schemas.openxmlformats.org/drawingml/2006/main" xmlns:ns2="http://schemas.openxmlformats.org/markup-compatibility/2006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28" name=""/>
          <ns0:cNvSpPr/>
          <ns0:nvPr/>
        </ns0:nvSpPr>
        <ns0:spPr>
          <ns1:xfrm>
            <ns1:off x="0" y="0"/>
            <ns1:ext cx="12192120" cy="6858000"/>
          </ns1:xfrm>
          <ns1:custGeom>
            <ns1:avLst/>
            <ns1:gdLst/>
            <ns1:ahLst/>
            <ns1:rect l="0" t="0" r="r" b="b"/>
            <ns1:pathLst>
              <ns1:path w="33867" h="19050">
                <ns1:moveTo>
                  <ns1:pt x="0" y="0"/>
                </ns1:moveTo>
                <ns1:lnTo>
                  <ns1:pt x="33867" y="0"/>
                </ns1:lnTo>
                <ns1:lnTo>
                  <ns1:pt x="33867" y="19050"/>
                </ns1:lnTo>
                <ns1:lnTo>
                  <ns1:pt x="0" y="1905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8f9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29" name=""/>
          <ns0:cNvSpPr/>
          <ns0:nvPr/>
        </ns0:nvSpPr>
        <ns0:spPr>
          <ns1:xfrm>
            <ns1:off x="0" y="0"/>
            <ns1:ext cx="12192120" cy="6858000"/>
          </ns1:xfrm>
          <ns1:custGeom>
            <ns1:avLst/>
            <ns1:gdLst/>
            <ns1:ahLst/>
            <ns1:rect l="0" t="0" r="r" b="b"/>
            <ns1:pathLst>
              <ns1:path w="33867" h="19050">
                <ns1:moveTo>
                  <ns1:pt x="0" y="0"/>
                </ns1:moveTo>
                <ns1:lnTo>
                  <ns1:pt x="33867" y="0"/>
                </ns1:lnTo>
                <ns1:lnTo>
                  <ns1:pt x="33867" y="19050"/>
                </ns1:lnTo>
                <ns1:lnTo>
                  <ns1:pt x="0" y="1905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8f9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30" name=""/>
          <ns0:cNvSpPr/>
          <ns0:nvPr/>
        </ns0:nvSpPr>
        <ns0:spPr>
          <ns1:xfrm>
            <ns1:off x="380880" y="2219040"/>
            <ns1:ext cx="762120" cy="38520"/>
          </ns1:xfrm>
          <ns1:custGeom>
            <ns1:avLst/>
            <ns1:gdLst/>
            <ns1:ahLst/>
            <ns1:rect l="0" t="0" r="r" b="b"/>
            <ns1:pathLst>
              <ns1:path w="2117" h="107">
                <ns1:moveTo>
                  <ns1:pt x="0" y="53"/>
                </ns1:moveTo>
                <ns1:cubicBezTo>
                  <ns1:pt x="0" y="46"/>
                  <ns1:pt x="1" y="39"/>
                  <ns1:pt x="4" y="33"/>
                </ns1:cubicBezTo>
                <ns1:cubicBezTo>
                  <ns1:pt x="7" y="26"/>
                  <ns1:pt x="10" y="21"/>
                  <ns1:pt x="15" y="16"/>
                </ns1:cubicBezTo>
                <ns1:cubicBezTo>
                  <ns1:pt x="20" y="11"/>
                  <ns1:pt x="26" y="7"/>
                  <ns1:pt x="32" y="4"/>
                </ns1:cubicBezTo>
                <ns1:cubicBezTo>
                  <ns1:pt x="39" y="2"/>
                  <ns1:pt x="46" y="0"/>
                  <ns1:pt x="53" y="0"/>
                </ns1:cubicBezTo>
                <ns1:lnTo>
                  <ns1:pt x="2064" y="0"/>
                </ns1:lnTo>
                <ns1:cubicBezTo>
                  <ns1:pt x="2071" y="0"/>
                  <ns1:pt x="2077" y="2"/>
                  <ns1:pt x="2084" y="4"/>
                </ns1:cubicBezTo>
                <ns1:cubicBezTo>
                  <ns1:pt x="2090" y="7"/>
                  <ns1:pt x="2096" y="11"/>
                  <ns1:pt x="2101" y="16"/>
                </ns1:cubicBezTo>
                <ns1:cubicBezTo>
                  <ns1:pt x="2106" y="21"/>
                  <ns1:pt x="2110" y="26"/>
                  <ns1:pt x="2112" y="33"/>
                </ns1:cubicBezTo>
                <ns1:cubicBezTo>
                  <ns1:pt x="2115" y="39"/>
                  <ns1:pt x="2117" y="46"/>
                  <ns1:pt x="2117" y="53"/>
                </ns1:cubicBezTo>
                <ns1:cubicBezTo>
                  <ns1:pt x="2117" y="60"/>
                  <ns1:pt x="2115" y="67"/>
                  <ns1:pt x="2112" y="73"/>
                </ns1:cubicBezTo>
                <ns1:cubicBezTo>
                  <ns1:pt x="2110" y="80"/>
                  <ns1:pt x="2106" y="87"/>
                  <ns1:pt x="2101" y="92"/>
                </ns1:cubicBezTo>
                <ns1:cubicBezTo>
                  <ns1:pt x="2096" y="97"/>
                  <ns1:pt x="2090" y="100"/>
                  <ns1:pt x="2084" y="103"/>
                </ns1:cubicBezTo>
                <ns1:cubicBezTo>
                  <ns1:pt x="2077" y="106"/>
                  <ns1:pt x="2071" y="107"/>
                  <ns1:pt x="2064" y="107"/>
                </ns1:cubicBezTo>
                <ns1:lnTo>
                  <ns1:pt x="53" y="107"/>
                </ns1:lnTo>
                <ns1:cubicBezTo>
                  <ns1:pt x="46" y="107"/>
                  <ns1:pt x="39" y="106"/>
                  <ns1:pt x="32" y="103"/>
                </ns1:cubicBezTo>
                <ns1:cubicBezTo>
                  <ns1:pt x="26" y="100"/>
                  <ns1:pt x="20" y="97"/>
                  <ns1:pt x="15" y="92"/>
                </ns1:cubicBezTo>
                <ns1:cubicBezTo>
                  <ns1:pt x="10" y="87"/>
                  <ns1:pt x="7" y="80"/>
                  <ns1:pt x="4" y="73"/>
                </ns1:cubicBezTo>
                <ns1:cubicBezTo>
                  <ns1:pt x="1" y="67"/>
                  <ns1:pt x="0" y="60"/>
                  <ns1:pt x="0" y="53"/>
                </ns1:cubicBezTo>
                <ns1:close/>
              </ns1:path>
            </ns1:pathLst>
          </ns1:custGeom>
          <ns1:solidFill>
            <ns1:srgbClr val="3b82f6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31" name=""/>
          <ns0:cNvSpPr txBox="1"/>
          <ns0:nvPr/>
        </ns0:nvSpPr>
        <ns0:spPr>
          <ns1:xfrm>
            <ns1:off x="380880" y="1819440"/>
            <ns1:ext cx="2562319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漂移为何致命：ρ实测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34" name=""/>
          <ns0:cNvSpPr txBox="1"/>
          <ns0:nvPr/>
        </ns0:nvSpPr>
        <ns0:spPr>
          <ns1:xfrm>
            <ns1:off x="380880" y="2430360"/>
            <ns1:ext cx="2168271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2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真机实测ρ（A100-80GB-PCIe）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39" name=""/>
          <ns0:cNvSpPr txBox="1"/>
          <ns0:nvPr/>
        </ns0:nvSpPr>
        <ns0:spPr>
          <ns1:xfrm>
            <ns1:off x="380880" y="2809800"/>
            <ns1:ext cx="2198274" cy="8416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05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Qwen3-235B (36MB/专家</ns1:t>
            </ns1:r>
            <ns1:endParaRPr b="0" lang="en-US" sz="10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  <ns1:p>
            <ns1:pPr>
              <ns1:spcBef>
                <ns1:spcPts val="572"/>
              </ns1:spcBef>
            </ns1:pPr>
            <ns1:r>
              <ns1:rPr b="0" lang="en-US" sz="105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DeepSeek-R1 (84MB/专家</ns1:t>
            </ns1:r>
          </ns1:p>
          <ns1:p>
            <ns1:pPr>
              <ns1:spcBef>
                <ns1:spcPts val="572"/>
              </ns1:spcBef>
            </ns1:pPr>
            <ns1:r>
              <ns1:rPr b="0" lang="en-US" sz="105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Llama4-Maverick (240MB/专家</ns1:t>
            </ns1:r>
          </ns1:p>
          <ns1:p>
            <ns1:pPr>
              <ns1:spcBef>
                <ns1:spcPts val="572"/>
              </ns1:spcBef>
            </ns1:pPr>
            <ns1:r>
              <ns1:rPr b="0" lang="en-US" sz="105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SSD/NVMe offload (O_DIRECT冷读</ns1:t>
            </ns1:r>
          </ns1:p>
        </ns0:txBody>
      </ns0:sp>
      <ns0:sp>
        <ns0:nvSpPr>
          <ns0:cNvPr id="441" name=""/>
          <ns0:cNvSpPr txBox="1"/>
          <ns0:nvPr/>
        </ns0:nvSpPr>
        <ns0:spPr>
          <ns1:xfrm>
            <ns1:off x="1922400" y="2813040"/>
            <ns1:ext cx="721080" cy="14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050" strike="noStrike" u="none">
                <ns1:solidFill>
                  <ns1:srgbClr val="4b5563"/>
                </ns1:solidFill>
                <ns1:effectLst/>
                <ns1:uFillTx/>
                <ns1:latin typeface="Arial"/>
                <ns1:ea typeface="Arial"/>
              </ns1:rPr>
              <ns1:t>): </ns1:t>
            </ns1:r>
            <ns1:r>
              <ns1:rPr b="0" lang="en-US" sz="1050" strike="noStrike" u="none">
                <ns1:solidFill>
                  <ns1:srgbClr val="4b5563"/>
                </ns1:solidFill>
                <ns1:effectLst/>
                <ns1:uFillTx/>
                <ns1:latin typeface="Arial"/>
                <ns1:ea typeface="Arial"/>
              </ns1:rPr>
              <ns1:t>ρ = 22–50</ns1:t>
            </ns1:r>
            <ns1:endParaRPr b="0" lang="en-US" sz="10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44" name=""/>
          <ns0:cNvSpPr txBox="1"/>
          <ns0:nvPr/>
        </ns0:nvSpPr>
        <ns0:spPr>
          <ns1:xfrm>
            <ns1:off x="1974240" y="3041640"/>
            <ns1:ext cx="721080" cy="14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050" strike="noStrike" u="none">
                <ns1:solidFill>
                  <ns1:srgbClr val="4b5563"/>
                </ns1:solidFill>
                <ns1:effectLst/>
                <ns1:uFillTx/>
                <ns1:latin typeface="Arial"/>
                <ns1:ea typeface="Arial"/>
              </ns1:rPr>
              <ns1:t>): </ns1:t>
            </ns1:r>
            <ns1:r>
              <ns1:rPr b="0" lang="en-US" sz="1050" strike="noStrike" u="none">
                <ns1:solidFill>
                  <ns1:srgbClr val="4b5563"/>
                </ns1:solidFill>
                <ns1:effectLst/>
                <ns1:uFillTx/>
                <ns1:latin typeface="Arial"/>
                <ns1:ea typeface="Arial"/>
              </ns1:rPr>
              <ns1:t>ρ = 52–58</ns1:t>
            </ns1:r>
            <ns1:endParaRPr b="0" lang="en-US" sz="10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47" name=""/>
          <ns0:cNvSpPr txBox="1"/>
          <ns0:nvPr/>
        </ns0:nvSpPr>
        <ns0:spPr>
          <ns1:xfrm>
            <ns1:off x="2270880" y="3270240"/>
            <ns1:ext cx="1118520" cy="14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050" strike="noStrike" u="none">
                <ns1:solidFill>
                  <ns1:srgbClr val="4b5563"/>
                </ns1:solidFill>
                <ns1:effectLst/>
                <ns1:uFillTx/>
                <ns1:latin typeface="Arial"/>
                <ns1:ea typeface="Arial"/>
              </ns1:rPr>
              <ns1:t>, top-1): </ns1:t>
            </ns1:r>
            <ns1:r>
              <ns1:rPr b="0" lang="en-US" sz="1050" strike="noStrike" u="none">
                <ns1:solidFill>
                  <ns1:srgbClr val="4b5563"/>
                </ns1:solidFill>
                <ns1:effectLst/>
                <ns1:uFillTx/>
                <ns1:latin typeface="Arial"/>
                <ns1:ea typeface="Arial"/>
              </ns1:rPr>
              <ns1:t>ρ = 65–98</ns1:t>
            </ns1:r>
            <ns1:endParaRPr b="0" lang="en-US" sz="10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50" name=""/>
          <ns0:cNvSpPr txBox="1"/>
          <ns0:nvPr/>
        </ns0:nvSpPr>
        <ns0:spPr>
          <ns1:xfrm>
            <ns1:off x="2603520" y="3498840"/>
            <ns1:ext cx="868680" cy="14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050" strike="noStrike" u="none">
                <ns1:solidFill>
                  <ns1:srgbClr val="4b5563"/>
                </ns1:solidFill>
                <ns1:effectLst/>
                <ns1:uFillTx/>
                <ns1:latin typeface="Arial"/>
                <ns1:ea typeface="Arial"/>
              </ns1:rPr>
              <ns1:t>): </ns1:t>
            </ns1:r>
            <ns1:r>
              <ns1:rPr b="0" lang="en-US" sz="1050" strike="noStrike" u="none">
                <ns1:solidFill>
                  <ns1:srgbClr val="4b5563"/>
                </ns1:solidFill>
                <ns1:effectLst/>
                <ns1:uFillTx/>
                <ns1:latin typeface="Arial"/>
                <ns1:ea typeface="Arial"/>
              </ns1:rPr>
              <ns1:t>ρ = 208–312</ns1:t>
            </ns1:r>
            <ns1:endParaRPr b="0" lang="en-US" sz="10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51" name=""/>
          <ns0:cNvSpPr txBox="1"/>
          <ns0:nvPr/>
        </ns0:nvSpPr>
        <ns0:spPr>
          <ns1:xfrm>
            <ns1:off x="380880" y="3801960"/>
            <ns1:ext cx="737616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2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饱和平台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52" name=""/>
          <ns0:cNvSpPr txBox="1"/>
          <ns0:nvPr/>
        </ns0:nvSpPr>
        <ns0:spPr>
          <ns1:xfrm>
            <ns1:off x="380880" y="4181400"/>
            <ns1:ext cx="2338292" cy="1558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05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ρ全部≥ 25，延迟倍数对ρ精确值不敏感</ns1:t>
            </ns1:r>
            <ns1:endParaRPr b="0" lang="en-US" sz="10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58" name=""/>
          <ns0:cNvSpPr txBox="1"/>
          <ns0:nvPr/>
        </ns0:nvSpPr>
        <ns0:spPr>
          <ns1:xfrm>
            <ns1:off x="380880" y="4487760"/>
            <ns1:ext cx="368808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200" strike="noStrike" u="none" i="0">
                <ns1:solidFill>
                  <ns1:srgbClr val="1f2937"/>
                </ns1:solidFill>
                <ns1:effectLst/>
                <ns1:uFillTx/>
                <ns1:latin typeface="Noto Sans SC"/>
                <ns1:ea typeface="Noto Sans SC"/>
              </ns1:rPr>
              <ns1:t>对比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59" name=""/>
          <ns0:cNvSpPr txBox="1"/>
          <ns0:nvPr/>
        </ns0:nvSpPr>
        <ns0:spPr>
          <ns1:xfrm>
            <ns1:off x="380880" y="4867200"/>
            <ns1:ext cx="4004500" cy="1558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05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GH200 ρ ≈ 1（缓存仅值1.10×）；offload下缓存价值被放大十数倍</ns1:t>
            </ns1:r>
            <ns1:endParaRPr b="0" lang="en-US" sz="10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64" name=""/>
          <ns0:cNvSpPr/>
          <ns0:nvPr/>
        </ns0:nvSpPr>
        <ns0:spPr>
          <ns1:xfrm>
            <ns1:off x="6405480" y="537840"/>
            <ns1:ext cx="5401080" cy="5934600"/>
          </ns1:xfrm>
          <ns1:custGeom>
            <ns1:avLst/>
            <ns1:gdLst/>
            <ns1:ahLst/>
            <ns1:rect l="0" t="0" r="r" b="b"/>
            <ns1:pathLst>
              <ns1:path w="15003" h="16485">
                <ns1:moveTo>
                  <ns1:pt x="0" y="16181"/>
                </ns1:moveTo>
                <ns1:lnTo>
                  <ns1:pt x="0" y="305"/>
                </ns1:lnTo>
                <ns1:cubicBezTo>
                  <ns1:pt x="0" y="285"/>
                  <ns1:pt x="2" y="265"/>
                  <ns1:pt x="6" y="245"/>
                </ns1:cubicBezTo>
                <ns1:cubicBezTo>
                  <ns1:pt x="9" y="226"/>
                  <ns1:pt x="15" y="207"/>
                  <ns1:pt x="23" y="188"/>
                </ns1:cubicBezTo>
                <ns1:cubicBezTo>
                  <ns1:pt x="31" y="170"/>
                  <ns1:pt x="40" y="152"/>
                  <ns1:pt x="51" y="136"/>
                </ns1:cubicBezTo>
                <ns1:cubicBezTo>
                  <ns1:pt x="62" y="119"/>
                  <ns1:pt x="75" y="104"/>
                  <ns1:pt x="89" y="90"/>
                </ns1:cubicBezTo>
                <ns1:cubicBezTo>
                  <ns1:pt x="103" y="75"/>
                  <ns1:pt x="118" y="63"/>
                  <ns1:pt x="135" y="52"/>
                </ns1:cubicBezTo>
                <ns1:cubicBezTo>
                  <ns1:pt x="152" y="41"/>
                  <ns1:pt x="169" y="31"/>
                  <ns1:pt x="188" y="24"/>
                </ns1:cubicBezTo>
                <ns1:cubicBezTo>
                  <ns1:pt x="206" y="16"/>
                  <ns1:pt x="225" y="10"/>
                  <ns1:pt x="245" y="6"/>
                </ns1:cubicBezTo>
                <ns1:cubicBezTo>
                  <ns1:pt x="264" y="2"/>
                  <ns1:pt x="284" y="0"/>
                  <ns1:pt x="304" y="0"/>
                </ns1:cubicBezTo>
                <ns1:lnTo>
                  <ns1:pt x="14698" y="0"/>
                </ns1:lnTo>
                <ns1:cubicBezTo>
                  <ns1:pt x="14718" y="0"/>
                  <ns1:pt x="14738" y="2"/>
                  <ns1:pt x="14758" y="6"/>
                </ns1:cubicBezTo>
                <ns1:cubicBezTo>
                  <ns1:pt x="14777" y="10"/>
                  <ns1:pt x="14796" y="16"/>
                  <ns1:pt x="14815" y="24"/>
                </ns1:cubicBezTo>
                <ns1:cubicBezTo>
                  <ns1:pt x="14833" y="31"/>
                  <ns1:pt x="14851" y="41"/>
                  <ns1:pt x="14867" y="52"/>
                </ns1:cubicBezTo>
                <ns1:cubicBezTo>
                  <ns1:pt x="14884" y="63"/>
                  <ns1:pt x="14899" y="75"/>
                  <ns1:pt x="14913" y="90"/>
                </ns1:cubicBezTo>
                <ns1:cubicBezTo>
                  <ns1:pt x="14928" y="104"/>
                  <ns1:pt x="14940" y="119"/>
                  <ns1:pt x="14951" y="136"/>
                </ns1:cubicBezTo>
                <ns1:cubicBezTo>
                  <ns1:pt x="14962" y="152"/>
                  <ns1:pt x="14972" y="170"/>
                  <ns1:pt x="14979" y="188"/>
                </ns1:cubicBezTo>
                <ns1:cubicBezTo>
                  <ns1:pt x="14987" y="207"/>
                  <ns1:pt x="14993" y="226"/>
                  <ns1:pt x="14997" y="245"/>
                </ns1:cubicBezTo>
                <ns1:cubicBezTo>
                  <ns1:pt x="15001" y="265"/>
                  <ns1:pt x="15003" y="285"/>
                  <ns1:pt x="15003" y="305"/>
                </ns1:cubicBezTo>
                <ns1:lnTo>
                  <ns1:pt x="15003" y="16181"/>
                </ns1:lnTo>
                <ns1:cubicBezTo>
                  <ns1:pt x="15003" y="16201"/>
                  <ns1:pt x="15001" y="16220"/>
                  <ns1:pt x="14997" y="16240"/>
                </ns1:cubicBezTo>
                <ns1:cubicBezTo>
                  <ns1:pt x="14993" y="16260"/>
                  <ns1:pt x="14987" y="16279"/>
                  <ns1:pt x="14979" y="16297"/>
                </ns1:cubicBezTo>
                <ns1:cubicBezTo>
                  <ns1:pt x="14972" y="16316"/>
                  <ns1:pt x="14962" y="16333"/>
                  <ns1:pt x="14951" y="16350"/>
                </ns1:cubicBezTo>
                <ns1:cubicBezTo>
                  <ns1:pt x="14940" y="16366"/>
                  <ns1:pt x="14928" y="16382"/>
                  <ns1:pt x="14913" y="16396"/>
                </ns1:cubicBezTo>
                <ns1:cubicBezTo>
                  <ns1:pt x="14899" y="16410"/>
                  <ns1:pt x="14884" y="16423"/>
                  <ns1:pt x="14867" y="16434"/>
                </ns1:cubicBezTo>
                <ns1:cubicBezTo>
                  <ns1:pt x="14851" y="16445"/>
                  <ns1:pt x="14833" y="16454"/>
                  <ns1:pt x="14815" y="16462"/>
                </ns1:cubicBezTo>
                <ns1:cubicBezTo>
                  <ns1:pt x="14796" y="16469"/>
                  <ns1:pt x="14777" y="16475"/>
                  <ns1:pt x="14758" y="16479"/>
                </ns1:cubicBezTo>
                <ns1:cubicBezTo>
                  <ns1:pt x="14738" y="16483"/>
                  <ns1:pt x="14718" y="16485"/>
                  <ns1:pt x="14698" y="16485"/>
                </ns1:cubicBezTo>
                <ns1:lnTo>
                  <ns1:pt x="304" y="16485"/>
                </ns1:lnTo>
                <ns1:cubicBezTo>
                  <ns1:pt x="284" y="16485"/>
                  <ns1:pt x="264" y="16483"/>
                  <ns1:pt x="245" y="16479"/>
                </ns1:cubicBezTo>
                <ns1:cubicBezTo>
                  <ns1:pt x="225" y="16475"/>
                  <ns1:pt x="206" y="16469"/>
                  <ns1:pt x="188" y="16462"/>
                </ns1:cubicBezTo>
                <ns1:cubicBezTo>
                  <ns1:pt x="169" y="16454"/>
                  <ns1:pt x="152" y="16445"/>
                  <ns1:pt x="135" y="16434"/>
                </ns1:cubicBezTo>
                <ns1:cubicBezTo>
                  <ns1:pt x="118" y="16423"/>
                  <ns1:pt x="103" y="16410"/>
                  <ns1:pt x="89" y="16396"/>
                </ns1:cubicBezTo>
                <ns1:cubicBezTo>
                  <ns1:pt x="75" y="16382"/>
                  <ns1:pt x="62" y="16366"/>
                  <ns1:pt x="51" y="16350"/>
                </ns1:cubicBezTo>
                <ns1:cubicBezTo>
                  <ns1:pt x="40" y="16333"/>
                  <ns1:pt x="31" y="16316"/>
                  <ns1:pt x="23" y="16297"/>
                </ns1:cubicBezTo>
                <ns1:cubicBezTo>
                  <ns1:pt x="15" y="16279"/>
                  <ns1:pt x="9" y="16260"/>
                  <ns1:pt x="6" y="16240"/>
                </ns1:cubicBezTo>
                <ns1:cubicBezTo>
                  <ns1:pt x="2" y="16220"/>
                  <ns1:pt x="0" y="16201"/>
                  <ns1:pt x="0" y="16181"/>
                </ns1:cubicBezTo>
                <ns1:close/>
              </ns1:path>
            </ns1:pathLst>
          </ns1:custGeom>
          <ns1:solidFill>
            <ns1:srgbClr val="fffff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65" name=""/>
          <ns0:cNvSpPr/>
          <ns0:nvPr/>
        </ns0:nvSpPr>
        <ns0:spPr>
          <ns1:xfrm>
            <ns1:off x="6405480" y="537840"/>
            <ns1:ext cx="5401080" cy="5934600"/>
          </ns1:xfrm>
          <ns1:custGeom>
            <ns1:avLst/>
            <ns1:gdLst/>
            <ns1:ahLst/>
            <ns1:rect l="0" t="0" r="r" b="b"/>
            <ns1:pathLst>
              <ns1:path fill="none" w="15003" h="16485">
                <ns1:moveTo>
                  <ns1:pt x="0" y="16181"/>
                </ns1:moveTo>
                <ns1:lnTo>
                  <ns1:pt x="0" y="305"/>
                </ns1:lnTo>
                <ns1:cubicBezTo>
                  <ns1:pt x="0" y="285"/>
                  <ns1:pt x="2" y="265"/>
                  <ns1:pt x="6" y="245"/>
                </ns1:cubicBezTo>
                <ns1:cubicBezTo>
                  <ns1:pt x="9" y="226"/>
                  <ns1:pt x="15" y="207"/>
                  <ns1:pt x="23" y="188"/>
                </ns1:cubicBezTo>
                <ns1:cubicBezTo>
                  <ns1:pt x="31" y="170"/>
                  <ns1:pt x="40" y="152"/>
                  <ns1:pt x="51" y="136"/>
                </ns1:cubicBezTo>
                <ns1:cubicBezTo>
                  <ns1:pt x="62" y="119"/>
                  <ns1:pt x="75" y="104"/>
                  <ns1:pt x="89" y="90"/>
                </ns1:cubicBezTo>
                <ns1:cubicBezTo>
                  <ns1:pt x="103" y="75"/>
                  <ns1:pt x="118" y="63"/>
                  <ns1:pt x="135" y="52"/>
                </ns1:cubicBezTo>
                <ns1:cubicBezTo>
                  <ns1:pt x="152" y="41"/>
                  <ns1:pt x="169" y="31"/>
                  <ns1:pt x="188" y="24"/>
                </ns1:cubicBezTo>
                <ns1:cubicBezTo>
                  <ns1:pt x="206" y="16"/>
                  <ns1:pt x="225" y="10"/>
                  <ns1:pt x="245" y="6"/>
                </ns1:cubicBezTo>
                <ns1:cubicBezTo>
                  <ns1:pt x="264" y="2"/>
                  <ns1:pt x="284" y="0"/>
                  <ns1:pt x="304" y="0"/>
                </ns1:cubicBezTo>
                <ns1:lnTo>
                  <ns1:pt x="14698" y="0"/>
                </ns1:lnTo>
                <ns1:cubicBezTo>
                  <ns1:pt x="14718" y="0"/>
                  <ns1:pt x="14738" y="2"/>
                  <ns1:pt x="14758" y="6"/>
                </ns1:cubicBezTo>
                <ns1:cubicBezTo>
                  <ns1:pt x="14777" y="10"/>
                  <ns1:pt x="14796" y="16"/>
                  <ns1:pt x="14815" y="24"/>
                </ns1:cubicBezTo>
                <ns1:cubicBezTo>
                  <ns1:pt x="14833" y="31"/>
                  <ns1:pt x="14851" y="41"/>
                  <ns1:pt x="14867" y="52"/>
                </ns1:cubicBezTo>
                <ns1:cubicBezTo>
                  <ns1:pt x="14884" y="63"/>
                  <ns1:pt x="14899" y="75"/>
                  <ns1:pt x="14913" y="90"/>
                </ns1:cubicBezTo>
                <ns1:cubicBezTo>
                  <ns1:pt x="14928" y="104"/>
                  <ns1:pt x="14940" y="119"/>
                  <ns1:pt x="14951" y="136"/>
                </ns1:cubicBezTo>
                <ns1:cubicBezTo>
                  <ns1:pt x="14962" y="152"/>
                  <ns1:pt x="14972" y="170"/>
                  <ns1:pt x="14979" y="188"/>
                </ns1:cubicBezTo>
                <ns1:cubicBezTo>
                  <ns1:pt x="14987" y="207"/>
                  <ns1:pt x="14993" y="226"/>
                  <ns1:pt x="14997" y="245"/>
                </ns1:cubicBezTo>
                <ns1:cubicBezTo>
                  <ns1:pt x="15001" y="265"/>
                  <ns1:pt x="15003" y="285"/>
                  <ns1:pt x="15003" y="305"/>
                </ns1:cubicBezTo>
                <ns1:lnTo>
                  <ns1:pt x="15003" y="16181"/>
                </ns1:lnTo>
                <ns1:cubicBezTo>
                  <ns1:pt x="15003" y="16201"/>
                  <ns1:pt x="15001" y="16220"/>
                  <ns1:pt x="14997" y="16240"/>
                </ns1:cubicBezTo>
                <ns1:cubicBezTo>
                  <ns1:pt x="14993" y="16260"/>
                  <ns1:pt x="14987" y="16279"/>
                  <ns1:pt x="14979" y="16297"/>
                </ns1:cubicBezTo>
                <ns1:cubicBezTo>
                  <ns1:pt x="14972" y="16316"/>
                  <ns1:pt x="14962" y="16333"/>
                  <ns1:pt x="14951" y="16350"/>
                </ns1:cubicBezTo>
                <ns1:cubicBezTo>
                  <ns1:pt x="14940" y="16366"/>
                  <ns1:pt x="14928" y="16382"/>
                  <ns1:pt x="14913" y="16396"/>
                </ns1:cubicBezTo>
                <ns1:cubicBezTo>
                  <ns1:pt x="14899" y="16410"/>
                  <ns1:pt x="14884" y="16423"/>
                  <ns1:pt x="14867" y="16434"/>
                </ns1:cubicBezTo>
                <ns1:cubicBezTo>
                  <ns1:pt x="14851" y="16445"/>
                  <ns1:pt x="14833" y="16454"/>
                  <ns1:pt x="14815" y="16462"/>
                </ns1:cubicBezTo>
                <ns1:cubicBezTo>
                  <ns1:pt x="14796" y="16469"/>
                  <ns1:pt x="14777" y="16475"/>
                  <ns1:pt x="14758" y="16479"/>
                </ns1:cubicBezTo>
                <ns1:cubicBezTo>
                  <ns1:pt x="14738" y="16483"/>
                  <ns1:pt x="14718" y="16485"/>
                  <ns1:pt x="14698" y="16485"/>
                </ns1:cubicBezTo>
                <ns1:lnTo>
                  <ns1:pt x="304" y="16485"/>
                </ns1:lnTo>
                <ns1:cubicBezTo>
                  <ns1:pt x="284" y="16485"/>
                  <ns1:pt x="264" y="16483"/>
                  <ns1:pt x="245" y="16479"/>
                </ns1:cubicBezTo>
                <ns1:cubicBezTo>
                  <ns1:pt x="225" y="16475"/>
                  <ns1:pt x="206" y="16469"/>
                  <ns1:pt x="188" y="16462"/>
                </ns1:cubicBezTo>
                <ns1:cubicBezTo>
                  <ns1:pt x="169" y="16454"/>
                  <ns1:pt x="152" y="16445"/>
                  <ns1:pt x="135" y="16434"/>
                </ns1:cubicBezTo>
                <ns1:cubicBezTo>
                  <ns1:pt x="118" y="16423"/>
                  <ns1:pt x="103" y="16410"/>
                  <ns1:pt x="89" y="16396"/>
                </ns1:cubicBezTo>
                <ns1:cubicBezTo>
                  <ns1:pt x="75" y="16382"/>
                  <ns1:pt x="62" y="16366"/>
                  <ns1:pt x="51" y="16350"/>
                </ns1:cubicBezTo>
                <ns1:cubicBezTo>
                  <ns1:pt x="40" y="16333"/>
                  <ns1:pt x="31" y="16316"/>
                  <ns1:pt x="23" y="16297"/>
                </ns1:cubicBezTo>
                <ns1:cubicBezTo>
                  <ns1:pt x="15" y="16279"/>
                  <ns1:pt x="9" y="16260"/>
                  <ns1:pt x="6" y="16240"/>
                </ns1:cubicBezTo>
                <ns1:cubicBezTo>
                  <ns1:pt x="2" y="16220"/>
                  <ns1:pt x="0" y="16201"/>
                  <ns1:pt x="0" y="16181"/>
                </ns1:cubicBezTo>
              </ns1:path>
            </ns1:pathLst>
          </ns1:custGeom>
          <ns1:ln w="9360">
            <ns1:solidFill>
              <ns1:srgbClr val="e5e7eb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67" name=""/>
          <ns0:cNvSpPr txBox="1"/>
          <ns0:nvPr/>
        </ns0:nvSpPr>
        <ns0:spPr>
          <ns1:xfrm>
            <ns1:off x="6562800" y="714600"/>
            <ns1:ext cx="3619451" cy="1558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050" strike="noStrike" u="none" i="0">
                <ns1:solidFill>
                  <ns1:srgbClr val="4b5563"/>
                </ns1:solidFill>
                <ns1:effectLst/>
                <ns1:uFillTx/>
                <ns1:latin typeface="Noto Sans SC"/>
                <ns1:ea typeface="Noto Sans SC"/>
              </ns1:rPr>
              <ns1:t>▶ Fig.1: 详见 analysis_out/motiv_drift_latency.svg</ns1:t>
            </ns1:r>
            <ns1:endParaRPr b="0" lang="en-US" sz="10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71" name=""/>
          <ns0:cNvSpPr/>
          <ns0:nvPr/>
        </ns0:nvSpPr>
        <ns0:spPr>
          <ns1:xfrm>
            <ns1:off x="6562440" y="2428560"/>
            <ns1:ext cx="5086800" cy="2381760"/>
          </ns1:xfrm>
          <ns1:custGeom>
            <ns1:avLst/>
            <ns1:gdLst/>
            <ns1:ahLst/>
            <ns1:rect l="0" t="0" r="r" b="b"/>
            <ns1:pathLst>
              <ns1:path w="14130" h="6616">
                <ns1:moveTo>
                  <ns1:pt x="0" y="0"/>
                </ns1:moveTo>
                <ns1:lnTo>
                  <ns1:pt x="14130" y="0"/>
                </ns1:lnTo>
                <ns1:lnTo>
                  <ns1:pt x="14130" y="6616"/>
                </ns1:lnTo>
                <ns1:lnTo>
                  <ns1:pt x="0" y="661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73" name=""/>
          <ns0:cNvSpPr txBox="1"/>
          <ns0:nvPr/>
        </ns0:nvSpPr>
        <ns0:spPr>
          <ns1:xfrm>
            <ns1:off x="7346160" y="2513880"/>
            <ns1:ext cx="117360" cy="87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6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(a) 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74" name=""/>
          <ns0:cNvSpPr txBox="1"/>
          <ns0:nvPr/>
        </ns0:nvSpPr>
        <ns0:spPr>
          <ns1:xfrm>
            <ns1:off x="7462800" y="2512080"/>
            <ns1:ext cx="140760" cy="90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6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漂移下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75" name=""/>
          <ns0:cNvSpPr txBox="1"/>
          <ns0:nvPr/>
        </ns0:nvSpPr>
        <ns0:spPr>
          <ns1:xfrm>
            <ns1:off x="7696080" y="2513880"/>
            <ns1:ext cx="221040" cy="87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6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 miss 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76" name=""/>
          <ns0:cNvSpPr txBox="1"/>
          <ns0:nvPr/>
        </ns0:nvSpPr>
        <ns0:spPr>
          <ns1:xfrm>
            <ns1:off x="7916040" y="2512080"/>
            <ns1:ext cx="77400" cy="90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6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率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77" name=""/>
          <ns0:cNvSpPr/>
          <ns0:nvPr/>
        </ns0:nvSpPr>
        <ns0:spPr>
          <ns1:xfrm>
            <ns1:off x="6847920" y="4085280"/>
            <ns1:ext cx="1972440" cy="0"/>
          </ns1:xfrm>
          <ns1:prstGeom prst="line">
            <ns1:avLst/>
          </ns1:prstGeom>
          <ns1:ln w="5040">
            <ns1:solidFill>
              <ns1:srgbClr val="eeeeee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78" name=""/>
          <ns0:cNvSpPr txBox="1"/>
          <ns0:nvPr/>
        </ns0:nvSpPr>
        <ns0:spPr>
          <ns1:xfrm>
            <ns1:off x="7993800" y="2513880"/>
            <ns1:ext cx="329040" cy="87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6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 (95% CI)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79" name=""/>
          <ns0:cNvSpPr/>
          <ns0:nvPr/>
        </ns0:nvSpPr>
        <ns0:spPr>
          <ns1:xfrm>
            <ns1:off x="6847920" y="3826440"/>
            <ns1:ext cx="1972440" cy="0"/>
          </ns1:xfrm>
          <ns1:prstGeom prst="line">
            <ns1:avLst/>
          </ns1:prstGeom>
          <ns1:ln w="5040">
            <ns1:solidFill>
              <ns1:srgbClr val="eeeeee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0" name=""/>
          <ns0:cNvSpPr txBox="1"/>
          <ns0:nvPr/>
        </ns0:nvSpPr>
        <ns0:spPr>
          <ns1:xfrm>
            <ns1:off x="6742080" y="4059360"/>
            <ns1:ext cx="7560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0%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1" name=""/>
          <ns0:cNvSpPr/>
          <ns0:nvPr/>
        </ns0:nvSpPr>
        <ns0:spPr>
          <ns1:xfrm>
            <ns1:off x="6847920" y="3567600"/>
            <ns1:ext cx="1972440" cy="0"/>
          </ns1:xfrm>
          <ns1:prstGeom prst="line">
            <ns1:avLst/>
          </ns1:prstGeom>
          <ns1:ln w="5040">
            <ns1:solidFill>
              <ns1:srgbClr val="eeeeee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2" name=""/>
          <ns0:cNvSpPr txBox="1"/>
          <ns0:nvPr/>
        </ns0:nvSpPr>
        <ns0:spPr>
          <ns1:xfrm>
            <ns1:off x="6713280" y="3800520"/>
            <ns1:ext cx="10440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20%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3" name=""/>
          <ns0:cNvSpPr/>
          <ns0:nvPr/>
        </ns0:nvSpPr>
        <ns0:spPr>
          <ns1:xfrm>
            <ns1:off x="6847920" y="3308760"/>
            <ns1:ext cx="1972440" cy="0"/>
          </ns1:xfrm>
          <ns1:prstGeom prst="line">
            <ns1:avLst/>
          </ns1:prstGeom>
          <ns1:ln w="5040">
            <ns1:solidFill>
              <ns1:srgbClr val="eeeeee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4" name=""/>
          <ns0:cNvSpPr txBox="1"/>
          <ns0:nvPr/>
        </ns0:nvSpPr>
        <ns0:spPr>
          <ns1:xfrm>
            <ns1:off x="6713280" y="3541680"/>
            <ns1:ext cx="10440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40%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5" name=""/>
          <ns0:cNvSpPr/>
          <ns0:nvPr/>
        </ns0:nvSpPr>
        <ns0:spPr>
          <ns1:xfrm>
            <ns1:off x="6847920" y="3049920"/>
            <ns1:ext cx="1972440" cy="0"/>
          </ns1:xfrm>
          <ns1:prstGeom prst="line">
            <ns1:avLst/>
          </ns1:prstGeom>
          <ns1:ln w="5040">
            <ns1:solidFill>
              <ns1:srgbClr val="eeeeee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6" name=""/>
          <ns0:cNvSpPr txBox="1"/>
          <ns0:nvPr/>
        </ns0:nvSpPr>
        <ns0:spPr>
          <ns1:xfrm>
            <ns1:off x="6713280" y="3282840"/>
            <ns1:ext cx="10440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60%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7" name=""/>
          <ns0:cNvSpPr/>
          <ns0:nvPr/>
        </ns0:nvSpPr>
        <ns0:spPr>
          <ns1:xfrm>
            <ns1:off x="6847920" y="2791080"/>
            <ns1:ext cx="1972440" cy="0"/>
          </ns1:xfrm>
          <ns1:prstGeom prst="line">
            <ns1:avLst/>
          </ns1:prstGeom>
          <ns1:ln w="5040">
            <ns1:solidFill>
              <ns1:srgbClr val="eeeeee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8" name=""/>
          <ns0:cNvSpPr txBox="1"/>
          <ns0:nvPr/>
        </ns0:nvSpPr>
        <ns0:spPr>
          <ns1:xfrm>
            <ns1:off x="6713280" y="3024000"/>
            <ns1:ext cx="10440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80%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89" name=""/>
          <ns0:cNvSpPr/>
          <ns0:nvPr/>
        </ns0:nvSpPr>
        <ns0:spPr>
          <ns1:xfrm>
            <ns1:off x="6894720" y="2873880"/>
            <ns1:ext cx="83520" cy="1211760"/>
          </ns1:xfrm>
          <ns1:custGeom>
            <ns1:avLst/>
            <ns1:gdLst/>
            <ns1:ahLst/>
            <ns1:rect l="0" t="0" r="r" b="b"/>
            <ns1:pathLst>
              <ns1:path w="232" h="3366">
                <ns1:moveTo>
                  <ns1:pt x="0" y="0"/>
                </ns1:moveTo>
                <ns1:lnTo>
                  <ns1:pt x="232" y="0"/>
                </ns1:lnTo>
                <ns1:lnTo>
                  <ns1:pt x="232" y="3366"/>
                </ns1:lnTo>
                <ns1:lnTo>
                  <ns1:pt x="0" y="336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8c564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0" name=""/>
          <ns0:cNvSpPr/>
          <ns0:nvPr/>
        </ns0:nvSpPr>
        <ns0:spPr>
          <ns1:xfrm flipV="1">
            <ns1:off x="6941520" y="2868840"/>
            <ns1:ext cx="0" cy="504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1" name=""/>
          <ns0:cNvSpPr/>
          <ns0:nvPr/>
        </ns0:nvSpPr>
        <ns0:spPr>
          <ns1:xfrm>
            <ns1:off x="6931080" y="286884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2" name=""/>
          <ns0:cNvSpPr/>
          <ns0:nvPr/>
        </ns0:nvSpPr>
        <ns0:spPr>
          <ns1:xfrm>
            <ns1:off x="6931080" y="287388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3" name=""/>
          <ns0:cNvSpPr/>
          <ns0:nvPr/>
        </ns0:nvSpPr>
        <ns0:spPr>
          <ns1:xfrm>
            <ns1:off x="6998400" y="3137760"/>
            <ns1:ext cx="83520" cy="947880"/>
          </ns1:xfrm>
          <ns1:custGeom>
            <ns1:avLst/>
            <ns1:gdLst/>
            <ns1:ahLst/>
            <ns1:rect l="0" t="0" r="r" b="b"/>
            <ns1:pathLst>
              <ns1:path w="232" h="2633">
                <ns1:moveTo>
                  <ns1:pt x="0" y="0"/>
                </ns1:moveTo>
                <ns1:lnTo>
                  <ns1:pt x="232" y="0"/>
                </ns1:lnTo>
                <ns1:lnTo>
                  <ns1:pt x="232" y="2633"/>
                </ns1:lnTo>
                <ns1:lnTo>
                  <ns1:pt x="0" y="2633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f7f0e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4" name=""/>
          <ns0:cNvSpPr/>
          <ns0:nvPr/>
        </ns0:nvSpPr>
        <ns0:spPr>
          <ns1:xfrm flipV="1">
            <ns1:off x="7040160" y="3132720"/>
            <ns1:ext cx="0" cy="1548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5" name=""/>
          <ns0:cNvSpPr/>
          <ns0:nvPr/>
        </ns0:nvSpPr>
        <ns0:spPr>
          <ns1:xfrm>
            <ns1:off x="7029720" y="313272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6" name=""/>
          <ns0:cNvSpPr/>
          <ns0:nvPr/>
        </ns0:nvSpPr>
        <ns0:spPr>
          <ns1:xfrm>
            <ns1:off x="7029720" y="314820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7" name=""/>
          <ns0:cNvSpPr/>
          <ns0:nvPr/>
        </ns0:nvSpPr>
        <ns0:spPr>
          <ns1:xfrm>
            <ns1:off x="7092000" y="3189600"/>
            <ns1:ext cx="83520" cy="896040"/>
          </ns1:xfrm>
          <ns1:custGeom>
            <ns1:avLst/>
            <ns1:gdLst/>
            <ns1:ahLst/>
            <ns1:rect l="0" t="0" r="r" b="b"/>
            <ns1:pathLst>
              <ns1:path w="232" h="2489">
                <ns1:moveTo>
                  <ns1:pt x="0" y="0"/>
                </ns1:moveTo>
                <ns1:lnTo>
                  <ns1:pt x="232" y="0"/>
                </ns1:lnTo>
                <ns1:lnTo>
                  <ns1:pt x="232" y="2489"/>
                </ns1:lnTo>
                <ns1:lnTo>
                  <ns1:pt x="0" y="2489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8" name=""/>
          <ns0:cNvSpPr/>
          <ns0:nvPr/>
        </ns0:nvSpPr>
        <ns0:spPr>
          <ns1:xfrm flipV="1">
            <ns1:off x="7138800" y="3179160"/>
            <ns1:ext cx="0" cy="1584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499" name=""/>
          <ns0:cNvSpPr/>
          <ns0:nvPr/>
        </ns0:nvSpPr>
        <ns0:spPr>
          <ns1:xfrm>
            <ns1:off x="7128360" y="317916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0" name=""/>
          <ns0:cNvSpPr/>
          <ns0:nvPr/>
        </ns0:nvSpPr>
        <ns0:spPr>
          <ns1:xfrm>
            <ns1:off x="7128360" y="319500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1" name=""/>
          <ns0:cNvSpPr/>
          <ns0:nvPr/>
        </ns0:nvSpPr>
        <ns0:spPr>
          <ns1:xfrm>
            <ns1:off x="7195680" y="3443400"/>
            <ns1:ext cx="83520" cy="642240"/>
          </ns1:xfrm>
          <ns1:custGeom>
            <ns1:avLst/>
            <ns1:gdLst/>
            <ns1:ahLst/>
            <ns1:rect l="0" t="0" r="r" b="b"/>
            <ns1:pathLst>
              <ns1:path w="232" h="1784">
                <ns1:moveTo>
                  <ns1:pt x="0" y="0"/>
                </ns1:moveTo>
                <ns1:lnTo>
                  <ns1:pt x="232" y="0"/>
                </ns1:lnTo>
                <ns1:lnTo>
                  <ns1:pt x="232" y="1784"/>
                </ns1:lnTo>
                <ns1:lnTo>
                  <ns1:pt x="0" y="1784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7f7f7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2" name=""/>
          <ns0:cNvSpPr/>
          <ns0:nvPr/>
        </ns0:nvSpPr>
        <ns0:spPr>
          <ns1:xfrm flipV="1">
            <ns1:off x="7237440" y="3438000"/>
            <ns1:ext cx="0" cy="1044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3" name=""/>
          <ns0:cNvSpPr/>
          <ns0:nvPr/>
        </ns0:nvSpPr>
        <ns0:spPr>
          <ns1:xfrm>
            <ns1:off x="7227000" y="343800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4" name=""/>
          <ns0:cNvSpPr/>
          <ns0:nvPr/>
        </ns0:nvSpPr>
        <ns0:spPr>
          <ns1:xfrm>
            <ns1:off x="7227000" y="344844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5" name=""/>
          <ns0:cNvSpPr txBox="1"/>
          <ns0:nvPr/>
        </ns0:nvSpPr>
        <ns0:spPr>
          <ns1:xfrm>
            <ns1:off x="6684480" y="2765160"/>
            <ns1:ext cx="13320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100%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6" name=""/>
          <ns0:cNvSpPr/>
          <ns0:nvPr/>
        </ns0:nvSpPr>
        <ns0:spPr>
          <ns1:xfrm>
            <ns1:off x="7392960" y="2967120"/>
            <ns1:ext cx="83520" cy="1118520"/>
          </ns1:xfrm>
          <ns1:custGeom>
            <ns1:avLst/>
            <ns1:gdLst/>
            <ns1:ahLst/>
            <ns1:rect l="0" t="0" r="r" b="b"/>
            <ns1:pathLst>
              <ns1:path w="232" h="3107">
                <ns1:moveTo>
                  <ns1:pt x="0" y="0"/>
                </ns1:moveTo>
                <ns1:lnTo>
                  <ns1:pt x="232" y="0"/>
                </ns1:lnTo>
                <ns1:lnTo>
                  <ns1:pt x="232" y="3107"/>
                </ns1:lnTo>
                <ns1:lnTo>
                  <ns1:pt x="0" y="3107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8c564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7" name=""/>
          <ns0:cNvSpPr/>
          <ns0:nvPr/>
        </ns0:nvSpPr>
        <ns0:spPr>
          <ns1:xfrm flipV="1">
            <ns1:off x="7434360" y="2961720"/>
            <ns1:ext cx="0" cy="1584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8" name=""/>
          <ns0:cNvSpPr/>
          <ns0:nvPr/>
        </ns0:nvSpPr>
        <ns0:spPr>
          <ns1:xfrm>
            <ns1:off x="7424280" y="296172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09" name=""/>
          <ns0:cNvSpPr/>
          <ns0:nvPr/>
        </ns0:nvSpPr>
        <ns0:spPr>
          <ns1:xfrm>
            <ns1:off x="7424280" y="297756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0" name=""/>
          <ns0:cNvSpPr/>
          <ns0:nvPr/>
        </ns0:nvSpPr>
        <ns0:spPr>
          <ns1:xfrm>
            <ns1:off x="7486560" y="3287880"/>
            <ns1:ext cx="83160" cy="797760"/>
          </ns1:xfrm>
          <ns1:custGeom>
            <ns1:avLst/>
            <ns1:gdLst/>
            <ns1:ahLst/>
            <ns1:rect l="0" t="0" r="r" b="b"/>
            <ns1:pathLst>
              <ns1:path w="231" h="2216">
                <ns1:moveTo>
                  <ns1:pt x="0" y="0"/>
                </ns1:moveTo>
                <ns1:lnTo>
                  <ns1:pt x="231" y="0"/>
                </ns1:lnTo>
                <ns1:lnTo>
                  <ns1:pt x="231" y="2216"/>
                </ns1:lnTo>
                <ns1:lnTo>
                  <ns1:pt x="0" y="221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f7f0e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1" name=""/>
          <ns0:cNvSpPr/>
          <ns0:nvPr/>
        </ns0:nvSpPr>
        <ns0:spPr>
          <ns1:xfrm flipV="1">
            <ns1:off x="7533000" y="3282840"/>
            <ns1:ext cx="0" cy="1548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2" name=""/>
          <ns0:cNvSpPr/>
          <ns0:nvPr/>
        </ns0:nvSpPr>
        <ns0:spPr>
          <ns1:xfrm>
            <ns1:off x="7522560" y="328284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3" name=""/>
          <ns0:cNvSpPr/>
          <ns0:nvPr/>
        </ns0:nvSpPr>
        <ns0:spPr>
          <ns1:xfrm>
            <ns1:off x="7522560" y="329832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4" name=""/>
          <ns0:cNvSpPr/>
          <ns0:nvPr/>
        </ns0:nvSpPr>
        <ns0:spPr>
          <ns1:xfrm>
            <ns1:off x="7590240" y="3567600"/>
            <ns1:ext cx="83520" cy="518040"/>
          </ns1:xfrm>
          <ns1:custGeom>
            <ns1:avLst/>
            <ns1:gdLst/>
            <ns1:ahLst/>
            <ns1:rect l="0" t="0" r="r" b="b"/>
            <ns1:pathLst>
              <ns1:path w="232" h="1439">
                <ns1:moveTo>
                  <ns1:pt x="0" y="0"/>
                </ns1:moveTo>
                <ns1:lnTo>
                  <ns1:pt x="232" y="0"/>
                </ns1:lnTo>
                <ns1:lnTo>
                  <ns1:pt x="232" y="1439"/>
                </ns1:lnTo>
                <ns1:lnTo>
                  <ns1:pt x="0" y="1439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5" name=""/>
          <ns0:cNvSpPr/>
          <ns0:nvPr/>
        </ns0:nvSpPr>
        <ns0:spPr>
          <ns1:xfrm flipV="1">
            <ns1:off x="7631640" y="3557160"/>
            <ns1:ext cx="0" cy="1548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6" name=""/>
          <ns0:cNvSpPr/>
          <ns0:nvPr/>
        </ns0:nvSpPr>
        <ns0:spPr>
          <ns1:xfrm>
            <ns1:off x="7621200" y="355716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7" name=""/>
          <ns0:cNvSpPr/>
          <ns0:nvPr/>
        </ns0:nvSpPr>
        <ns0:spPr>
          <ns1:xfrm>
            <ns1:off x="7621200" y="357264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8" name=""/>
          <ns0:cNvSpPr/>
          <ns0:nvPr/>
        </ns0:nvSpPr>
        <ns0:spPr>
          <ns1:xfrm>
            <ns1:off x="7683480" y="3743640"/>
            <ns1:ext cx="83520" cy="342000"/>
          </ns1:xfrm>
          <ns1:custGeom>
            <ns1:avLst/>
            <ns1:gdLst/>
            <ns1:ahLst/>
            <ns1:rect l="0" t="0" r="r" b="b"/>
            <ns1:pathLst>
              <ns1:path w="232" h="950">
                <ns1:moveTo>
                  <ns1:pt x="0" y="0"/>
                </ns1:moveTo>
                <ns1:lnTo>
                  <ns1:pt x="232" y="0"/>
                </ns1:lnTo>
                <ns1:lnTo>
                  <ns1:pt x="232" y="950"/>
                </ns1:lnTo>
                <ns1:lnTo>
                  <ns1:pt x="0" y="95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7f7f7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19" name=""/>
          <ns0:cNvSpPr/>
          <ns0:nvPr/>
        </ns0:nvSpPr>
        <ns0:spPr>
          <ns1:xfrm flipV="1">
            <ns1:off x="7730280" y="3733200"/>
            <ns1:ext cx="0" cy="1548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0" name=""/>
          <ns0:cNvSpPr/>
          <ns0:nvPr/>
        </ns0:nvSpPr>
        <ns0:spPr>
          <ns1:xfrm>
            <ns1:off x="7719840" y="373320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1" name=""/>
          <ns0:cNvSpPr/>
          <ns0:nvPr/>
        </ns0:nvSpPr>
        <ns0:spPr>
          <ns1:xfrm>
            <ns1:off x="7719840" y="374868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2" name=""/>
          <ns0:cNvSpPr txBox="1"/>
          <ns0:nvPr/>
        </ns0:nvSpPr>
        <ns0:spPr>
          <ns1:xfrm>
            <ns1:off x="6926400" y="4116240"/>
            <ns1:ext cx="33192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DeepSeek(k8)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3" name=""/>
          <ns0:cNvSpPr/>
          <ns0:nvPr/>
        </ns0:nvSpPr>
        <ns0:spPr>
          <ns1:xfrm>
            <ns1:off x="7880760" y="2884320"/>
            <ns1:ext cx="83520" cy="1201320"/>
          </ns1:xfrm>
          <ns1:custGeom>
            <ns1:avLst/>
            <ns1:gdLst/>
            <ns1:ahLst/>
            <ns1:rect l="0" t="0" r="r" b="b"/>
            <ns1:pathLst>
              <ns1:path w="232" h="3337">
                <ns1:moveTo>
                  <ns1:pt x="0" y="0"/>
                </ns1:moveTo>
                <ns1:lnTo>
                  <ns1:pt x="232" y="0"/>
                </ns1:lnTo>
                <ns1:lnTo>
                  <ns1:pt x="232" y="3337"/>
                </ns1:lnTo>
                <ns1:lnTo>
                  <ns1:pt x="0" y="3337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8c564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4" name=""/>
          <ns0:cNvSpPr/>
          <ns0:nvPr/>
        </ns0:nvSpPr>
        <ns0:spPr>
          <ns1:xfrm flipV="1">
            <ns1:off x="7927560" y="2878920"/>
            <ns1:ext cx="0" cy="1044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5" name=""/>
          <ns0:cNvSpPr/>
          <ns0:nvPr/>
        </ns0:nvSpPr>
        <ns0:spPr>
          <ns1:xfrm>
            <ns1:off x="7917120" y="287892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6" name=""/>
          <ns0:cNvSpPr/>
          <ns0:nvPr/>
        </ns0:nvSpPr>
        <ns0:spPr>
          <ns1:xfrm>
            <ns1:off x="7917120" y="288936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7" name=""/>
          <ns0:cNvSpPr/>
          <ns0:nvPr/>
        </ns0:nvSpPr>
        <ns0:spPr>
          <ns1:xfrm>
            <ns1:off x="7984800" y="3236400"/>
            <ns1:ext cx="83160" cy="849240"/>
          </ns1:xfrm>
          <ns1:custGeom>
            <ns1:avLst/>
            <ns1:gdLst/>
            <ns1:ahLst/>
            <ns1:rect l="0" t="0" r="r" b="b"/>
            <ns1:pathLst>
              <ns1:path w="231" h="2359">
                <ns1:moveTo>
                  <ns1:pt x="0" y="0"/>
                </ns1:moveTo>
                <ns1:lnTo>
                  <ns1:pt x="231" y="0"/>
                </ns1:lnTo>
                <ns1:lnTo>
                  <ns1:pt x="231" y="2359"/>
                </ns1:lnTo>
                <ns1:lnTo>
                  <ns1:pt x="0" y="2359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f7f0e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8" name=""/>
          <ns0:cNvSpPr/>
          <ns0:nvPr/>
        </ns0:nvSpPr>
        <ns0:spPr>
          <ns1:xfrm flipV="1">
            <ns1:off x="8026200" y="3225960"/>
            <ns1:ext cx="0" cy="2052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29" name=""/>
          <ns0:cNvSpPr/>
          <ns0:nvPr/>
        </ns0:nvSpPr>
        <ns0:spPr>
          <ns1:xfrm>
            <ns1:off x="8015760" y="322596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0" name=""/>
          <ns0:cNvSpPr/>
          <ns0:nvPr/>
        </ns0:nvSpPr>
        <ns0:spPr>
          <ns1:xfrm>
            <ns1:off x="8015760" y="324648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1" name=""/>
          <ns0:cNvSpPr/>
          <ns0:nvPr/>
        </ns0:nvSpPr>
        <ns0:spPr>
          <ns1:xfrm>
            <ns1:off x="8078040" y="3345120"/>
            <ns1:ext cx="83520" cy="740520"/>
          </ns1:xfrm>
          <ns1:custGeom>
            <ns1:avLst/>
            <ns1:gdLst/>
            <ns1:ahLst/>
            <ns1:rect l="0" t="0" r="r" b="b"/>
            <ns1:pathLst>
              <ns1:path w="232" h="2057">
                <ns1:moveTo>
                  <ns1:pt x="0" y="0"/>
                </ns1:moveTo>
                <ns1:lnTo>
                  <ns1:pt x="232" y="0"/>
                </ns1:lnTo>
                <ns1:lnTo>
                  <ns1:pt x="232" y="2057"/>
                </ns1:lnTo>
                <ns1:lnTo>
                  <ns1:pt x="0" y="2057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2" name=""/>
          <ns0:cNvSpPr/>
          <ns0:nvPr/>
        </ns0:nvSpPr>
        <ns0:spPr>
          <ns1:xfrm flipV="1">
            <ns1:off x="8124840" y="3334680"/>
            <ns1:ext cx="0" cy="2052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3" name=""/>
          <ns0:cNvSpPr/>
          <ns0:nvPr/>
        </ns0:nvSpPr>
        <ns0:spPr>
          <ns1:xfrm>
            <ns1:off x="8114400" y="333468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4" name=""/>
          <ns0:cNvSpPr/>
          <ns0:nvPr/>
        </ns0:nvSpPr>
        <ns0:spPr>
          <ns1:xfrm>
            <ns1:off x="8114400" y="335520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5" name=""/>
          <ns0:cNvSpPr/>
          <ns0:nvPr/>
        </ns0:nvSpPr>
        <ns0:spPr>
          <ns1:xfrm>
            <ns1:off x="8181720" y="3583080"/>
            <ns1:ext cx="83520" cy="502560"/>
          </ns1:xfrm>
          <ns1:custGeom>
            <ns1:avLst/>
            <ns1:gdLst/>
            <ns1:ahLst/>
            <ns1:rect l="0" t="0" r="r" b="b"/>
            <ns1:pathLst>
              <ns1:path w="232" h="1396">
                <ns1:moveTo>
                  <ns1:pt x="0" y="0"/>
                </ns1:moveTo>
                <ns1:lnTo>
                  <ns1:pt x="232" y="0"/>
                </ns1:lnTo>
                <ns1:lnTo>
                  <ns1:pt x="232" y="1396"/>
                </ns1:lnTo>
                <ns1:lnTo>
                  <ns1:pt x="0" y="139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7f7f7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6" name=""/>
          <ns0:cNvSpPr/>
          <ns0:nvPr/>
        </ns0:nvSpPr>
        <ns0:spPr>
          <ns1:xfrm flipV="1">
            <ns1:off x="8223480" y="3578040"/>
            <ns1:ext cx="0" cy="1548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7" name=""/>
          <ns0:cNvSpPr/>
          <ns0:nvPr/>
        </ns0:nvSpPr>
        <ns0:spPr>
          <ns1:xfrm>
            <ns1:off x="8213040" y="357804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8" name=""/>
          <ns0:cNvSpPr/>
          <ns0:nvPr/>
        </ns0:nvSpPr>
        <ns0:spPr>
          <ns1:xfrm>
            <ns1:off x="8213040" y="3593520"/>
            <ns1:ext cx="2088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39" name=""/>
          <ns0:cNvSpPr txBox="1"/>
          <ns0:nvPr/>
        </ns0:nvSpPr>
        <ns0:spPr>
          <ns1:xfrm>
            <ns1:off x="7460640" y="4116240"/>
            <ns1:ext cx="25992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Llama4(k1)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0" name=""/>
          <ns0:cNvSpPr/>
          <ns0:nvPr/>
        </ns0:nvSpPr>
        <ns0:spPr>
          <ns1:xfrm>
            <ns1:off x="8379000" y="2847960"/>
            <ns1:ext cx="83520" cy="1237680"/>
          </ns1:xfrm>
          <ns1:custGeom>
            <ns1:avLst/>
            <ns1:gdLst/>
            <ns1:ahLst/>
            <ns1:rect l="0" t="0" r="r" b="b"/>
            <ns1:pathLst>
              <ns1:path w="232" h="3438">
                <ns1:moveTo>
                  <ns1:pt x="0" y="0"/>
                </ns1:moveTo>
                <ns1:lnTo>
                  <ns1:pt x="232" y="0"/>
                </ns1:lnTo>
                <ns1:lnTo>
                  <ns1:pt x="232" y="3438"/>
                </ns1:lnTo>
                <ns1:lnTo>
                  <ns1:pt x="0" y="3438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8c564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1" name=""/>
          <ns0:cNvSpPr/>
          <ns0:nvPr/>
        </ns0:nvSpPr>
        <ns0:spPr>
          <ns1:xfrm flipV="1">
            <ns1:off x="8420760" y="2847960"/>
            <ns1:ext cx="0" cy="504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2" name=""/>
          <ns0:cNvSpPr/>
          <ns0:nvPr/>
        </ns0:nvSpPr>
        <ns0:spPr>
          <ns1:xfrm>
            <ns1:off x="8410320" y="284796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3" name=""/>
          <ns0:cNvSpPr/>
          <ns0:nvPr/>
        </ns0:nvSpPr>
        <ns0:spPr>
          <ns1:xfrm>
            <ns1:off x="8410320" y="285300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4" name=""/>
          <ns0:cNvSpPr/>
          <ns0:nvPr/>
        </ns0:nvSpPr>
        <ns0:spPr>
          <ns1:xfrm>
            <ns1:off x="8472600" y="3236400"/>
            <ns1:ext cx="83160" cy="849240"/>
          </ns1:xfrm>
          <ns1:custGeom>
            <ns1:avLst/>
            <ns1:gdLst/>
            <ns1:ahLst/>
            <ns1:rect l="0" t="0" r="r" b="b"/>
            <ns1:pathLst>
              <ns1:path w="231" h="2359">
                <ns1:moveTo>
                  <ns1:pt x="0" y="0"/>
                </ns1:moveTo>
                <ns1:lnTo>
                  <ns1:pt x="231" y="0"/>
                </ns1:lnTo>
                <ns1:lnTo>
                  <ns1:pt x="231" y="2359"/>
                </ns1:lnTo>
                <ns1:lnTo>
                  <ns1:pt x="0" y="2359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f7f0e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5" name=""/>
          <ns0:cNvSpPr/>
          <ns0:nvPr/>
        </ns0:nvSpPr>
        <ns0:spPr>
          <ns1:xfrm flipV="1">
            <ns1:off x="8519400" y="3231000"/>
            <ns1:ext cx="0" cy="1044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6" name=""/>
          <ns0:cNvSpPr/>
          <ns0:nvPr/>
        </ns0:nvSpPr>
        <ns0:spPr>
          <ns1:xfrm>
            <ns1:off x="8508960" y="323100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7" name=""/>
          <ns0:cNvSpPr/>
          <ns0:nvPr/>
        </ns0:nvSpPr>
        <ns0:spPr>
          <ns1:xfrm>
            <ns1:off x="8508960" y="324144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8" name=""/>
          <ns0:cNvSpPr/>
          <ns0:nvPr/>
        </ns0:nvSpPr>
        <ns0:spPr>
          <ns1:xfrm>
            <ns1:off x="8576280" y="3215520"/>
            <ns1:ext cx="83520" cy="870120"/>
          </ns1:xfrm>
          <ns1:custGeom>
            <ns1:avLst/>
            <ns1:gdLst/>
            <ns1:ahLst/>
            <ns1:rect l="0" t="0" r="r" b="b"/>
            <ns1:pathLst>
              <ns1:path w="232" h="2417">
                <ns1:moveTo>
                  <ns1:pt x="0" y="0"/>
                </ns1:moveTo>
                <ns1:lnTo>
                  <ns1:pt x="232" y="0"/>
                </ns1:lnTo>
                <ns1:lnTo>
                  <ns1:pt x="232" y="2417"/>
                </ns1:lnTo>
                <ns1:lnTo>
                  <ns1:pt x="0" y="2417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49" name=""/>
          <ns0:cNvSpPr/>
          <ns0:nvPr/>
        </ns0:nvSpPr>
        <ns0:spPr>
          <ns1:xfrm flipV="1">
            <ns1:off x="8617680" y="3210480"/>
            <ns1:ext cx="0" cy="1008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0" name=""/>
          <ns0:cNvSpPr/>
          <ns0:nvPr/>
        </ns0:nvSpPr>
        <ns0:spPr>
          <ns1:xfrm>
            <ns1:off x="8607600" y="321048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1" name=""/>
          <ns0:cNvSpPr/>
          <ns0:nvPr/>
        </ns0:nvSpPr>
        <ns0:spPr>
          <ns1:xfrm>
            <ns1:off x="8607600" y="322056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2" name=""/>
          <ns0:cNvSpPr/>
          <ns0:nvPr/>
        </ns0:nvSpPr>
        <ns0:spPr>
          <ns1:xfrm>
            <ns1:off x="8669880" y="3474360"/>
            <ns1:ext cx="83160" cy="611280"/>
          </ns1:xfrm>
          <ns1:custGeom>
            <ns1:avLst/>
            <ns1:gdLst/>
            <ns1:ahLst/>
            <ns1:rect l="0" t="0" r="r" b="b"/>
            <ns1:pathLst>
              <ns1:path w="231" h="1698">
                <ns1:moveTo>
                  <ns1:pt x="0" y="0"/>
                </ns1:moveTo>
                <ns1:lnTo>
                  <ns1:pt x="231" y="0"/>
                </ns1:lnTo>
                <ns1:lnTo>
                  <ns1:pt x="231" y="1698"/>
                </ns1:lnTo>
                <ns1:lnTo>
                  <ns1:pt x="0" y="1698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7f7f7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3" name=""/>
          <ns0:cNvSpPr/>
          <ns0:nvPr/>
        </ns0:nvSpPr>
        <ns0:spPr>
          <ns1:xfrm flipV="1">
            <ns1:off x="8716320" y="3469320"/>
            <ns1:ext cx="0" cy="1008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4" name=""/>
          <ns0:cNvSpPr/>
          <ns0:nvPr/>
        </ns0:nvSpPr>
        <ns0:spPr>
          <ns1:xfrm>
            <ns1:off x="8706240" y="346932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5" name=""/>
          <ns0:cNvSpPr/>
          <ns0:nvPr/>
        </ns0:nvSpPr>
        <ns0:spPr>
          <ns1:xfrm>
            <ns1:off x="8706240" y="3479400"/>
            <ns1:ext cx="20520" cy="0"/>
          </ns1:xfrm>
          <ns1:prstGeom prst="line">
            <ns1:avLst/>
          </ns1:prstGeom>
          <ns1:ln w="4320">
            <ns1:solidFill>
              <ns1:srgbClr val="222222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160" rIns="2160" tIns="-2160" bIns="-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6" name=""/>
          <ns0:cNvSpPr txBox="1"/>
          <ns0:nvPr/>
        </ns0:nvSpPr>
        <ns0:spPr>
          <ns1:xfrm>
            <ns1:off x="7983000" y="4116240"/>
            <ns1:ext cx="19080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Kimi(k8)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7" name=""/>
          <ns0:cNvSpPr/>
          <ns0:nvPr/>
        </ns0:nvSpPr>
        <ns0:spPr>
          <ns1:xfrm>
            <ns1:off x="6847920" y="4230000"/>
            <ns1:ext cx="57600" cy="57600"/>
          </ns1:xfrm>
          <ns1:custGeom>
            <ns1:avLst/>
            <ns1:gdLst/>
            <ns1:ahLst/>
            <ns1:rect l="0" t="0" r="r" b="b"/>
            <ns1:pathLst>
              <ns1:path w="160" h="160">
                <ns1:moveTo>
                  <ns1:pt x="0" y="0"/>
                </ns1:moveTo>
                <ns1:lnTo>
                  <ns1:pt x="160" y="0"/>
                </ns1:lnTo>
                <ns1:lnTo>
                  <ns1:pt x="160" y="160"/>
                </ns1:lnTo>
                <ns1:lnTo>
                  <ns1:pt x="0" y="16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8c564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8" name=""/>
          <ns0:cNvSpPr txBox="1"/>
          <ns0:nvPr/>
        </ns0:nvSpPr>
        <ns0:spPr>
          <ns1:xfrm>
            <ns1:off x="8439480" y="4116240"/>
            <ns1:ext cx="27432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Qwen3(k8*)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59" name=""/>
          <ns0:cNvSpPr txBox="1"/>
          <ns0:nvPr/>
        </ns0:nvSpPr>
        <ns0:spPr>
          <ns1:xfrm>
            <ns1:off x="6926040" y="4233960"/>
            <ns1:ext cx="6300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4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身份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0" name=""/>
          <ns0:cNvSpPr txBox="1"/>
          <ns0:nvPr/>
        </ns0:nvSpPr>
        <ns0:spPr>
          <ns1:xfrm>
            <ns1:off x="7029720" y="4235400"/>
            <ns1:ext cx="5148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410" strike="noStrike" u="none" i="0">
                <ns1:solidFill>
                  <ns1:srgbClr val="000000"/>
                </ns1:solidFill>
                <ns1:effectLst/>
                <ns1:uFillTx/>
                <ns1:latin typeface="Noto Sans SC"/>
                <ns1:ea typeface="Noto Sans SC"/>
              </ns1:rPr>
              <ns1:t>-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1" name=""/>
          <ns0:cNvSpPr/>
          <ns0:nvPr/>
        </ns0:nvSpPr>
        <ns0:spPr>
          <ns1:xfrm>
            <ns1:off x="7341120" y="4230000"/>
            <ns1:ext cx="57240" cy="57600"/>
          </ns1:xfrm>
          <ns1:custGeom>
            <ns1:avLst/>
            <ns1:gdLst/>
            <ns1:ahLst/>
            <ns1:rect l="0" t="0" r="r" b="b"/>
            <ns1:pathLst>
              <ns1:path w="159" h="160">
                <ns1:moveTo>
                  <ns1:pt x="0" y="0"/>
                </ns1:moveTo>
                <ns1:lnTo>
                  <ns1:pt x="159" y="0"/>
                </ns1:lnTo>
                <ns1:lnTo>
                  <ns1:pt x="159" y="160"/>
                </ns1:lnTo>
                <ns1:lnTo>
                  <ns1:pt x="0" y="16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f7f0e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2" name=""/>
          <ns0:cNvSpPr txBox="1"/>
          <ns0:nvPr/>
        </ns0:nvSpPr>
        <ns0:spPr>
          <ns1:xfrm>
            <ns1:off x="7047000" y="4233960"/>
            <ns1:ext cx="6300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4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冻结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3" name=""/>
          <ns0:cNvSpPr txBox="1"/>
          <ns0:nvPr/>
        </ns0:nvSpPr>
        <ns0:spPr>
          <ns1:xfrm>
            <ns1:off x="7418880" y="4233960"/>
            <ns1:ext cx="6300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4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身份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4" name=""/>
          <ns0:cNvSpPr/>
          <ns0:nvPr/>
        </ns0:nvSpPr>
        <ns0:spPr>
          <ns1:xfrm>
            <ns1:off x="7833960" y="4230000"/>
            <ns1:ext cx="57600" cy="57600"/>
          </ns1:xfrm>
          <ns1:custGeom>
            <ns1:avLst/>
            <ns1:gdLst/>
            <ns1:ahLst/>
            <ns1:rect l="0" t="0" r="r" b="b"/>
            <ns1:pathLst>
              <ns1:path w="160" h="160">
                <ns1:moveTo>
                  <ns1:pt x="0" y="0"/>
                </ns1:moveTo>
                <ns1:lnTo>
                  <ns1:pt x="160" y="0"/>
                </ns1:lnTo>
                <ns1:lnTo>
                  <ns1:pt x="160" y="160"/>
                </ns1:lnTo>
                <ns1:lnTo>
                  <ns1:pt x="0" y="16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5" name=""/>
          <ns0:cNvSpPr txBox="1"/>
          <ns0:nvPr/>
        </ns0:nvSpPr>
        <ns0:spPr>
          <ns1:xfrm>
            <ns1:off x="7522560" y="4235400"/>
            <ns1:ext cx="11592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-LFU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6" name=""/>
          <ns0:cNvSpPr txBox="1"/>
          <ns0:nvPr/>
        </ns0:nvSpPr>
        <ns0:spPr>
          <ns1:xfrm>
            <ns1:off x="7912080" y="4233960"/>
            <ns1:ext cx="6300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4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机制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7" name=""/>
          <ns0:cNvSpPr/>
          <ns0:nvPr/>
        </ns0:nvSpPr>
        <ns0:spPr>
          <ns1:xfrm>
            <ns1:off x="8327160" y="4230000"/>
            <ns1:ext cx="57600" cy="57600"/>
          </ns1:xfrm>
          <ns1:custGeom>
            <ns1:avLst/>
            <ns1:gdLst/>
            <ns1:ahLst/>
            <ns1:rect l="0" t="0" r="r" b="b"/>
            <ns1:pathLst>
              <ns1:path w="160" h="160">
                <ns1:moveTo>
                  <ns1:pt x="0" y="0"/>
                </ns1:moveTo>
                <ns1:lnTo>
                  <ns1:pt x="160" y="0"/>
                </ns1:lnTo>
                <ns1:lnTo>
                  <ns1:pt x="160" y="160"/>
                </ns1:lnTo>
                <ns1:lnTo>
                  <ns1:pt x="0" y="16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7f7f7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8" name=""/>
          <ns0:cNvSpPr txBox="1"/>
          <ns0:nvPr/>
        </ns0:nvSpPr>
        <ns0:spPr>
          <ns1:xfrm>
            <ns1:off x="8015760" y="4235400"/>
            <ns1:ext cx="12168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-LRU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69" name=""/>
          <ns0:cNvSpPr txBox="1"/>
          <ns0:nvPr/>
        </ns0:nvSpPr>
        <ns0:spPr>
          <ns1:xfrm>
            <ns1:off x="8405280" y="4235400"/>
            <ns1:ext cx="15912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Belady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0" name=""/>
          <ns0:cNvSpPr txBox="1"/>
          <ns0:nvPr/>
        </ns0:nvSpPr>
        <ns0:spPr>
          <ns1:xfrm>
            <ns1:off x="9699480" y="2513880"/>
            <ns1:ext cx="121680" cy="87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6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(b) 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1" name=""/>
          <ns0:cNvSpPr txBox="1"/>
          <ns0:nvPr/>
        </ns0:nvSpPr>
        <ns0:spPr>
          <ns1:xfrm>
            <ns1:off x="9820440" y="2512080"/>
            <ns1:ext cx="93960" cy="90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6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身份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2" name=""/>
          <ns0:cNvSpPr txBox="1"/>
          <ns0:nvPr/>
        </ns0:nvSpPr>
        <ns0:spPr>
          <ns1:xfrm>
            <ns1:off x="9975960" y="2513880"/>
            <ns1:ext cx="77400" cy="87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610" strike="noStrike" u="none" i="0">
                <ns1:solidFill>
                  <ns1:srgbClr val="000000"/>
                </ns1:solidFill>
                <ns1:effectLst/>
                <ns1:uFillTx/>
                <ns1:latin typeface="Noto Sans SC"/>
                <ns1:ea typeface="Noto Sans SC"/>
              </ns1:rPr>
              <ns1:t>-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3" name=""/>
          <ns0:cNvSpPr txBox="1"/>
          <ns0:nvPr/>
        </ns0:nvSpPr>
        <ns0:spPr>
          <ns1:xfrm>
            <ns1:off x="10001520" y="2512080"/>
            <ns1:ext cx="93960" cy="90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6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冻结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4" name=""/>
          <ns0:cNvSpPr txBox="1"/>
          <ns0:nvPr/>
        </ns0:nvSpPr>
        <ns0:spPr>
          <ns1:xfrm>
            <ns1:off x="10157040" y="2513880"/>
            <ns1:ext cx="77400" cy="87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6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 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5" name=""/>
          <ns0:cNvSpPr txBox="1"/>
          <ns0:nvPr/>
        </ns0:nvSpPr>
        <ns0:spPr>
          <ns1:xfrm>
            <ns1:off x="10178640" y="2512080"/>
            <ns1:ext cx="187200" cy="90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610" strike="noStrike" u="none">
                <ns1:solidFill>
                  <ns1:srgbClr val="000000"/>
                </ns1:solidFill>
                <ns1:effectLst/>
                <ns1:uFillTx/>
                <ns1:latin typeface="WenQuanYiMicroHei"/>
                <ns1:ea typeface="WenQuanYiMicroHei"/>
              </ns1:rPr>
              <ns1:t>选错代价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6" name=""/>
          <ns0:cNvSpPr txBox="1"/>
          <ns0:nvPr/>
        </ns0:nvSpPr>
        <ns0:spPr>
          <ns1:xfrm>
            <ns1:off x="10489320" y="2513880"/>
            <ns1:ext cx="77400" cy="87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610" strike="noStrike" u="none" i="0">
                <ns1:solidFill>
                  <ns1:srgbClr val="000000"/>
                </ns1:solidFill>
                <ns1:effectLst/>
                <ns1:uFillTx/>
                <ns1:latin typeface="Noto Sans SC"/>
                <ns1:ea typeface="Noto Sans SC"/>
              </ns1:rPr>
              <ns1:t>(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7" name=""/>
          <ns0:cNvSpPr txBox="1"/>
          <ns0:nvPr/>
        </ns0:nvSpPr>
        <ns0:spPr>
          <ns1:xfrm>
            <ns1:off x="10536840" y="2512080"/>
            <ns1:ext cx="170434" cy="903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610" strike="noStrike" u="none" i="0">
                <ns1:solidFill>
                  <ns1:srgbClr val="000000"/>
                </ns1:solidFill>
                <ns1:effectLst/>
                <ns1:uFillTx/>
                <ns1:latin typeface="Noto Sans SC"/>
                <ns1:ea typeface="Noto Sans SC"/>
              </ns1:rPr>
              <ns1:t>延迟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8" name=""/>
          <ns0:cNvSpPr/>
          <ns0:nvPr/>
        </ns0:nvSpPr>
        <ns0:spPr>
          <ns1:xfrm>
            <ns1:off x="9313200" y="2791080"/>
            <ns1:ext cx="249480" cy="1294560"/>
          </ns1:xfrm>
          <ns1:custGeom>
            <ns1:avLst/>
            <ns1:gdLst/>
            <ns1:ahLst/>
            <ns1:rect l="0" t="0" r="r" b="b"/>
            <ns1:pathLst>
              <ns1:path w="693" h="3596">
                <ns1:moveTo>
                  <ns1:pt x="0" y="0"/>
                </ns1:moveTo>
                <ns1:lnTo>
                  <ns1:pt x="693" y="0"/>
                </ns1:lnTo>
                <ns1:lnTo>
                  <ns1:pt x="693" y="3596"/>
                </ns1:lnTo>
                <ns1:lnTo>
                  <ns1:pt x="0" y="359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2f2f2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79" name=""/>
          <ns0:cNvSpPr/>
          <ns0:nvPr/>
        </ns0:nvSpPr>
        <ns0:spPr>
          <ns1:xfrm>
            <ns1:off x="9562320" y="2791080"/>
            <ns1:ext cx="1723680" cy="1294560"/>
          </ns1:xfrm>
          <ns1:custGeom>
            <ns1:avLst/>
            <ns1:gdLst/>
            <ns1:ahLst/>
            <ns1:rect l="0" t="0" r="r" b="b"/>
            <ns1:pathLst>
              <ns1:path w="4788" h="3596">
                <ns1:moveTo>
                  <ns1:pt x="0" y="0"/>
                </ns1:moveTo>
                <ns1:lnTo>
                  <ns1:pt x="4788" y="0"/>
                </ns1:lnTo>
                <ns1:lnTo>
                  <ns1:pt x="4788" y="3596"/>
                </ns1:lnTo>
                <ns1:lnTo>
                  <ns1:pt x="0" y="3596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eaf3f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80" name=""/>
          <ns0:cNvSpPr txBox="1"/>
          <ns0:nvPr/>
        </ns0:nvSpPr>
        <ns0:spPr>
          <ns1:xfrm>
            <ns1:off x="10692360" y="2513880"/>
            <ns1:ext cx="208080" cy="874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6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/LRU)</ns1:t>
            </ns1:r>
            <ns1:endParaRPr b="0" lang="en-US" sz="6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81" name=""/>
          <ns0:cNvSpPr txBox="1"/>
          <ns0:nvPr/>
        </ns0:nvSpPr>
        <ns0:spPr>
          <ns1:xfrm>
            <ns1:off x="9317520" y="2815200"/>
            <ns1:ext cx="20304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 i="0">
                <ns1:solidFill>
                  <ns1:srgbClr val="888888"/>
                </ns1:solidFill>
                <ns1:effectLst/>
                <ns1:uFillTx/>
                <ns1:latin typeface="Noto Sans SC"/>
                <ns1:ea typeface="Noto Sans SC"/>
              </ns1:rPr>
              <ns1:t>GH200相⼲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83" name=""/>
          <ns0:cNvSpPr txBox="1"/>
          <ns0:nvPr/>
        </ns0:nvSpPr>
        <ns0:spPr>
          <ns1:xfrm>
            <ns1:off x="9345960" y="2872440"/>
            <ns1:ext cx="14616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888888"/>
                </ns1:solidFill>
                <ns1:effectLst/>
                <ns1:uFillTx/>
                <ns1:latin typeface="Arial"/>
                <ns1:ea typeface="Arial"/>
              </ns1:rPr>
              <ns1:t>ρ≈1 端点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85" name=""/>
          <ns0:cNvSpPr txBox="1"/>
          <ns0:nvPr/>
        </ns0:nvSpPr>
        <ns0:spPr>
          <ns1:xfrm>
            <ns1:off x="9328680" y="2935080"/>
            <ns1:ext cx="218160" cy="460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30" strike="noStrike" u="none">
                <ns1:solidFill>
                  <ns1:srgbClr val="aaaaaa"/>
                </ns1:solidFill>
                <ns1:effectLst/>
                <ns1:uFillTx/>
                <ns1:latin typeface="Arial"/>
                <ns1:ea typeface="Arial"/>
              </ns1:rPr>
              <ns1:t>2608.12103</ns1:t>
            </ns1:r>
            <ns1:endParaRPr b="0" lang="en-US" sz="33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86" name=""/>
          <ns0:cNvSpPr txBox="1"/>
          <ns0:nvPr/>
        </ns0:nvSpPr>
        <ns0:spPr>
          <ns1:xfrm>
            <ns1:off x="10118160" y="2815200"/>
            <ns1:ext cx="5544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370" strike="noStrike" u="none">
                <ns1:solidFill>
                  <ns1:srgbClr val="3a7bbf"/>
                </ns1:solidFill>
                <ns1:effectLst/>
                <ns1:uFillTx/>
                <ns1:latin typeface="WenQuanYiMicroHei"/>
                <ns1:ea typeface="WenQuanYiMicroHei"/>
              </ns1:rPr>
              <ns1:t>离散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87" name=""/>
          <ns0:cNvSpPr txBox="1"/>
          <ns0:nvPr/>
        </ns0:nvSpPr>
        <ns0:spPr>
          <ns1:xfrm>
            <ns1:off x="10211400" y="2816280"/>
            <ns1:ext cx="510120" cy="507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3a7bbf"/>
                </ns1:solidFill>
                <ns1:effectLst/>
                <ns1:uFillTx/>
                <ns1:latin typeface="Arial"/>
                <ns1:ea typeface="Arial"/>
              </ns1:rPr>
              <ns1:t>GPU + PCIe/SSD offload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88" name=""/>
          <ns0:cNvSpPr txBox="1"/>
          <ns0:nvPr/>
        </ns0:nvSpPr>
        <ns0:spPr>
          <ns1:xfrm>
            <ns1:off x="10159920" y="2872440"/>
            <ns1:ext cx="5544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370" strike="noStrike" u="none">
                <ns1:solidFill>
                  <ns1:srgbClr val="3a7bbf"/>
                </ns1:solidFill>
                <ns1:effectLst/>
                <ns1:uFillTx/>
                <ns1:latin typeface="WenQuanYiMicroHei"/>
                <ns1:ea typeface="WenQuanYiMicroHei"/>
              </ns1:rPr>
              <ns1:t>本文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89" name=""/>
          <ns0:cNvSpPr txBox="1"/>
          <ns0:nvPr/>
        </ns0:nvSpPr>
        <ns0:spPr>
          <ns1:xfrm>
            <ns1:off x="10253160" y="2873520"/>
            <ns1:ext cx="320760" cy="507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370" strike="noStrike" u="none">
                <ns1:solidFill>
                  <ns1:srgbClr val="3a7bbf"/>
                </ns1:solidFill>
                <ns1:effectLst/>
                <ns1:uFillTx/>
                <ns1:latin typeface="Arial"/>
                <ns1:ea typeface="Arial"/>
              </ns1:rPr>
              <ns1:t> regime (ρ≥10, 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90" name=""/>
          <ns0:cNvSpPr txBox="1"/>
          <ns0:nvPr/>
        </ns0:nvSpPr>
        <ns0:spPr>
          <ns1:xfrm>
            <ns1:off x="10579320" y="2872440"/>
            <ns1:ext cx="5544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370" strike="noStrike" u="none">
                <ns1:solidFill>
                  <ns1:srgbClr val="3a7bbf"/>
                </ns1:solidFill>
                <ns1:effectLst/>
                <ns1:uFillTx/>
                <ns1:latin typeface="WenQuanYiMicroHei"/>
                <ns1:ea typeface="WenQuanYiMicroHei"/>
              </ns1:rPr>
              <ns1:t>饱和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91" name=""/>
          <ns0:cNvSpPr txBox="1"/>
          <ns0:nvPr/>
        </ns0:nvSpPr>
        <ns0:spPr>
          <ns1:xfrm>
            <ns1:off x="10672560" y="2873520"/>
            <ns1:ext cx="46440" cy="507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370" strike="noStrike" u="none" i="0">
                <ns1:solidFill>
                  <ns1:srgbClr val="3a7bbf"/>
                </ns1:solidFill>
                <ns1:effectLst/>
                <ns1:uFillTx/>
                <ns1:latin typeface="Noto Sans SC"/>
                <ns1:ea typeface="Noto Sans SC"/>
              </ns1:rPr>
              <ns1:t>)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92" name=""/>
          <ns0:cNvSpPr txBox="1"/>
          <ns0:nvPr/>
        </ns0:nvSpPr>
        <ns0:spPr>
          <ns1:xfrm>
            <ns1:off x="9365400" y="4003200"/>
            <ns1:ext cx="227520" cy="52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50" strike="noStrike" u="none">
                <ns1:solidFill>
                  <ns1:srgbClr val="333333"/>
                </ns1:solidFill>
                <ns1:effectLst/>
                <ns1:uFillTx/>
                <ns1:latin typeface="NotoSansCJKsc"/>
                <ns1:ea typeface="NotoSansCJKsc"/>
              </ns1:rPr>
              <ns1:t>◆=各模型实测</ns1:t>
            </ns1:r>
            <ns1:endParaRPr b="0" lang="en-US" sz="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95" name=""/>
          <ns0:cNvSpPr txBox="1"/>
          <ns0:nvPr/>
        </ns0:nvSpPr>
        <ns0:spPr>
          <ns1:xfrm>
            <ns1:off x="9680040" y="4003200"/>
            <ns1:ext cx="129600" cy="52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350" strike="noStrike" u="none" i="0">
                <ns1:solidFill>
                  <ns1:srgbClr val="333333"/>
                </ns1:solidFill>
                <ns1:effectLst/>
                <ns1:uFillTx/>
                <ns1:latin typeface="Noto Sans SC"/>
                <ns1:ea typeface="Noto Sans SC"/>
              </ns1:rPr>
              <ns1:t>ρ操作点</ns1:t>
            </ns1:r>
            <ns1:endParaRPr b="0" lang="en-US" sz="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97" name=""/>
          <ns0:cNvSpPr txBox="1"/>
          <ns0:nvPr/>
        </ns0:nvSpPr>
        <ns0:spPr>
          <ns1:xfrm>
            <ns1:off x="9861480" y="4003200"/>
            <ns1:ext cx="80640" cy="52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350" strike="noStrike" u="none" i="0">
                <ns1:solidFill>
                  <ns1:srgbClr val="333333"/>
                </ns1:solidFill>
                <ns1:effectLst/>
                <ns1:uFillTx/>
                <ns1:latin typeface="Noto Sans SC"/>
                <ns1:ea typeface="Noto Sans SC"/>
              </ns1:rPr>
              <ns1:t>(真机</ns1:t>
            </ns1:r>
            <ns1:endParaRPr b="0" lang="en-US" sz="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599" name=""/>
          <ns0:cNvSpPr txBox="1"/>
          <ns0:nvPr/>
        </ns0:nvSpPr>
        <ns0:spPr>
          <ns1:xfrm>
            <ns1:off x="9976680" y="4004280"/>
            <ns1:ext cx="371520" cy="48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350" strike="noStrike" u="none" i="0">
                <ns1:solidFill>
                  <ns1:srgbClr val="333333"/>
                </ns1:solidFill>
                <ns1:effectLst/>
                <ns1:uFillTx/>
                <ns1:latin typeface="Noto Sans SC"/>
                <ns1:ea typeface="Noto Sans SC"/>
              </ns1:rPr>
              <ns1:t>A100-80GB-PCIe)</ns1:t>
            </ns1:r>
            <ns1:endParaRPr b="0" lang="en-US" sz="35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00" name=""/>
          <ns0:cNvSpPr txBox="1"/>
          <ns0:nvPr/>
        </ns0:nvSpPr>
        <ns0:spPr>
          <ns1:xfrm>
            <ns1:off x="9729000" y="3933000"/>
            <ns1:ext cx="41040" cy="475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330" strike="noStrike" u="none" i="0">
                <ns1:solidFill>
                  <ns1:srgbClr val="8c564b"/>
                </ns1:solidFill>
                <ns1:effectLst/>
                <ns1:uFillTx/>
                <ns1:latin typeface="Noto Sans SC"/>
                <ns1:ea typeface="Noto Sans SC"/>
              </ns1:rPr>
              <ns1:t>＋</ns1:t>
            </ns1:r>
            <ns1:endParaRPr b="0" lang="en-US" sz="33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01" name=""/>
          <ns0:cNvSpPr txBox="1"/>
          <ns0:nvPr/>
        </ns0:nvSpPr>
        <ns0:spPr>
          <ns1:xfrm>
            <ns1:off x="9770400" y="3934080"/>
            <ns1:ext cx="234000" cy="460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30" strike="noStrike" u="none">
                <ns1:solidFill>
                  <ns1:srgbClr val="8c564b"/>
                </ns1:solidFill>
                <ns1:effectLst/>
                <ns1:uFillTx/>
                <ns1:latin typeface="Arial"/>
                <ns1:ea typeface="Arial"/>
              </ns1:rPr>
              <ns1:t>SSD offload(</ns1:t>
            </ns1:r>
            <ns1:endParaRPr b="0" lang="en-US" sz="33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02" name=""/>
          <ns0:cNvSpPr txBox="1"/>
          <ns0:nvPr/>
        </ns0:nvSpPr>
        <ns0:spPr>
          <ns1:xfrm>
            <ns1:off x="10004040" y="3933000"/>
            <ns1:ext cx="50040" cy="475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330" strike="noStrike" u="none" i="0">
                <ns1:solidFill>
                  <ns1:srgbClr val="8c564b"/>
                </ns1:solidFill>
                <ns1:effectLst/>
                <ns1:uFillTx/>
                <ns1:latin typeface="Noto Sans SC"/>
                <ns1:ea typeface="Noto Sans SC"/>
              </ns1:rPr>
              <ns1:t>实测</ns1:t>
            </ns1:r>
            <ns1:endParaRPr b="0" lang="en-US" sz="33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03" name=""/>
          <ns0:cNvSpPr txBox="1"/>
          <ns0:nvPr/>
        </ns0:nvSpPr>
        <ns0:spPr>
          <ns1:xfrm>
            <ns1:off x="10086840" y="3933000"/>
            <ns1:ext cx="165240" cy="475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30" strike="noStrike" u="none" i="0">
                <ns1:solidFill>
                  <ns1:srgbClr val="8c564b"/>
                </ns1:solidFill>
                <ns1:effectLst/>
                <ns1:uFillTx/>
                <ns1:latin typeface="Noto Sans SC"/>
                <ns1:ea typeface="Noto Sans SC"/>
              </ns1:rPr>
              <ns1:t>NVMe冷读</ns1:t>
            </ns1:r>
            <ns1:endParaRPr b="0" lang="en-US" sz="33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05" name=""/>
          <ns0:cNvSpPr txBox="1"/>
          <ns0:nvPr/>
        </ns0:nvSpPr>
        <ns0:spPr>
          <ns1:xfrm>
            <ns1:off x="10284480" y="3933000"/>
            <ns1:ext cx="924480" cy="475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30" strike="noStrike" u="none">
                <ns1:solidFill>
                  <ns1:srgbClr val="8c564b"/>
                </ns1:solidFill>
                <ns1:effectLst/>
                <ns1:uFillTx/>
                <ns1:latin typeface="Arial"/>
                <ns1:ea typeface="Arial"/>
              </ns1:rPr>
              <ns1:t>5.6GB/s): Llama4 ρ≈208–312 → off-scale右,同天花板</ns1:t>
            </ns1:r>
            <ns1:endParaRPr b="0" lang="en-US" sz="33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08" name=""/>
          <ns0:cNvSpPr/>
          <ns0:nvPr/>
        </ns0:nvSpPr>
        <ns0:spPr>
          <ns1:xfrm>
            <ns1:off x="9313200" y="3816000"/>
            <ns1:ext cx="1972440" cy="0"/>
          </ns1:xfrm>
          <ns1:prstGeom prst="line">
            <ns1:avLst/>
          </ns1:prstGeom>
          <ns1:ln w="5040">
            <ns1:solidFill>
              <ns1:srgbClr val="ddddd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0" name=""/>
          <ns0:cNvSpPr/>
          <ns0:nvPr/>
        </ns0:nvSpPr>
        <ns0:spPr>
          <ns1:xfrm>
            <ns1:off x="9313200" y="3546720"/>
            <ns1:ext cx="1972440" cy="0"/>
          </ns1:xfrm>
          <ns1:prstGeom prst="line">
            <ns1:avLst/>
          </ns1:prstGeom>
          <ns1:ln w="5040">
            <ns1:solidFill>
              <ns1:srgbClr val="ddddd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1" name=""/>
          <ns0:cNvSpPr txBox="1"/>
          <ns0:nvPr/>
        </ns0:nvSpPr>
        <ns0:spPr>
          <ns1:xfrm>
            <ns1:off x="9184320" y="3790080"/>
            <ns1:ext cx="9864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0.5x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2" name=""/>
          <ns0:cNvSpPr/>
          <ns0:nvPr/>
        </ns0:nvSpPr>
        <ns0:spPr>
          <ns1:xfrm>
            <ns1:off x="9313200" y="3277800"/>
            <ns1:ext cx="1972440" cy="0"/>
          </ns1:xfrm>
          <ns1:prstGeom prst="line">
            <ns1:avLst/>
          </ns1:prstGeom>
          <ns1:ln w="5040">
            <ns1:solidFill>
              <ns1:srgbClr val="ddddd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3" name=""/>
          <ns0:cNvSpPr txBox="1"/>
          <ns0:nvPr/>
        </ns0:nvSpPr>
        <ns0:spPr>
          <ns1:xfrm>
            <ns1:off x="9184320" y="3520800"/>
            <ns1:ext cx="9864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1.0x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4" name=""/>
          <ns0:cNvSpPr/>
          <ns0:nvPr/>
        </ns0:nvSpPr>
        <ns0:spPr>
          <ns1:xfrm>
            <ns1:off x="9313200" y="3008520"/>
            <ns1:ext cx="1972440" cy="0"/>
          </ns1:xfrm>
          <ns1:prstGeom prst="line">
            <ns1:avLst/>
          </ns1:prstGeom>
          <ns1:ln w="5040">
            <ns1:solidFill>
              <ns1:srgbClr val="ddddd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-2520" bIns="-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5" name=""/>
          <ns0:cNvSpPr txBox="1"/>
          <ns0:nvPr/>
        </ns0:nvSpPr>
        <ns0:spPr>
          <ns1:xfrm>
            <ns1:off x="9184320" y="3251520"/>
            <ns1:ext cx="9864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1.5x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6" name=""/>
          <ns0:cNvSpPr/>
          <ns0:nvPr/>
        </ns0:nvSpPr>
        <ns0:spPr>
          <ns1:xfrm>
            <ns1:off x="9313200" y="3544200"/>
            <ns1:ext cx="1972800" cy="5760"/>
          </ns1:xfrm>
          <ns1:custGeom>
            <ns1:avLst/>
            <ns1:gdLst/>
            <ns1:ahLst/>
            <ns1:rect l="0" t="0" r="r" b="b"/>
            <ns1:pathLst>
              <ns1:path w="5480" h="16">
                <ns1:moveTo>
                  <ns1:pt x="0" y="0"/>
                </ns1:moveTo>
                <ns1:lnTo>
                  <ns1:pt x="58" y="0"/>
                </ns1:lnTo>
                <ns1:lnTo>
                  <ns1:pt x="58" y="16"/>
                </ns1:lnTo>
                <ns1:lnTo>
                  <ns1:pt x="0" y="16"/>
                </ns1:lnTo>
                <ns1:lnTo>
                  <ns1:pt x="0" y="0"/>
                </ns1:lnTo>
                <ns1:moveTo>
                  <ns1:pt x="101" y="0"/>
                </ns1:moveTo>
                <ns1:lnTo>
                  <ns1:pt x="159" y="0"/>
                </ns1:lnTo>
                <ns1:lnTo>
                  <ns1:pt x="159" y="16"/>
                </ns1:lnTo>
                <ns1:lnTo>
                  <ns1:pt x="101" y="16"/>
                </ns1:lnTo>
                <ns1:lnTo>
                  <ns1:pt x="101" y="0"/>
                </ns1:lnTo>
                <ns1:moveTo>
                  <ns1:pt x="202" y="0"/>
                </ns1:moveTo>
                <ns1:lnTo>
                  <ns1:pt x="260" y="0"/>
                </ns1:lnTo>
                <ns1:lnTo>
                  <ns1:pt x="260" y="16"/>
                </ns1:lnTo>
                <ns1:lnTo>
                  <ns1:pt x="202" y="16"/>
                </ns1:lnTo>
                <ns1:lnTo>
                  <ns1:pt x="202" y="0"/>
                </ns1:lnTo>
                <ns1:moveTo>
                  <ns1:pt x="303" y="0"/>
                </ns1:moveTo>
                <ns1:lnTo>
                  <ns1:pt x="361" y="0"/>
                </ns1:lnTo>
                <ns1:lnTo>
                  <ns1:pt x="361" y="16"/>
                </ns1:lnTo>
                <ns1:lnTo>
                  <ns1:pt x="303" y="16"/>
                </ns1:lnTo>
                <ns1:lnTo>
                  <ns1:pt x="303" y="0"/>
                </ns1:lnTo>
                <ns1:moveTo>
                  <ns1:pt x="404" y="0"/>
                </ns1:moveTo>
                <ns1:lnTo>
                  <ns1:pt x="462" y="0"/>
                </ns1:lnTo>
                <ns1:lnTo>
                  <ns1:pt x="462" y="16"/>
                </ns1:lnTo>
                <ns1:lnTo>
                  <ns1:pt x="404" y="16"/>
                </ns1:lnTo>
                <ns1:lnTo>
                  <ns1:pt x="404" y="0"/>
                </ns1:lnTo>
                <ns1:moveTo>
                  <ns1:pt x="505" y="0"/>
                </ns1:moveTo>
                <ns1:lnTo>
                  <ns1:pt x="563" y="0"/>
                </ns1:lnTo>
                <ns1:lnTo>
                  <ns1:pt x="563" y="16"/>
                </ns1:lnTo>
                <ns1:lnTo>
                  <ns1:pt x="505" y="16"/>
                </ns1:lnTo>
                <ns1:lnTo>
                  <ns1:pt x="505" y="0"/>
                </ns1:lnTo>
                <ns1:moveTo>
                  <ns1:pt x="606" y="0"/>
                </ns1:moveTo>
                <ns1:lnTo>
                  <ns1:pt x="664" y="0"/>
                </ns1:lnTo>
                <ns1:lnTo>
                  <ns1:pt x="664" y="16"/>
                </ns1:lnTo>
                <ns1:lnTo>
                  <ns1:pt x="606" y="16"/>
                </ns1:lnTo>
                <ns1:lnTo>
                  <ns1:pt x="606" y="0"/>
                </ns1:lnTo>
                <ns1:moveTo>
                  <ns1:pt x="707" y="0"/>
                </ns1:moveTo>
                <ns1:lnTo>
                  <ns1:pt x="764" y="0"/>
                </ns1:lnTo>
                <ns1:lnTo>
                  <ns1:pt x="764" y="16"/>
                </ns1:lnTo>
                <ns1:lnTo>
                  <ns1:pt x="707" y="16"/>
                </ns1:lnTo>
                <ns1:lnTo>
                  <ns1:pt x="707" y="0"/>
                </ns1:lnTo>
                <ns1:moveTo>
                  <ns1:pt x="808" y="0"/>
                </ns1:moveTo>
                <ns1:lnTo>
                  <ns1:pt x="865" y="0"/>
                </ns1:lnTo>
                <ns1:lnTo>
                  <ns1:pt x="865" y="16"/>
                </ns1:lnTo>
                <ns1:lnTo>
                  <ns1:pt x="808" y="16"/>
                </ns1:lnTo>
                <ns1:lnTo>
                  <ns1:pt x="808" y="0"/>
                </ns1:lnTo>
                <ns1:moveTo>
                  <ns1:pt x="909" y="0"/>
                </ns1:moveTo>
                <ns1:lnTo>
                  <ns1:pt x="966" y="0"/>
                </ns1:lnTo>
                <ns1:lnTo>
                  <ns1:pt x="966" y="16"/>
                </ns1:lnTo>
                <ns1:lnTo>
                  <ns1:pt x="909" y="16"/>
                </ns1:lnTo>
                <ns1:lnTo>
                  <ns1:pt x="909" y="0"/>
                </ns1:lnTo>
                <ns1:moveTo>
                  <ns1:pt x="1010" y="0"/>
                </ns1:moveTo>
                <ns1:lnTo>
                  <ns1:pt x="1067" y="0"/>
                </ns1:lnTo>
                <ns1:lnTo>
                  <ns1:pt x="1067" y="16"/>
                </ns1:lnTo>
                <ns1:lnTo>
                  <ns1:pt x="1010" y="16"/>
                </ns1:lnTo>
                <ns1:lnTo>
                  <ns1:pt x="1010" y="0"/>
                </ns1:lnTo>
                <ns1:moveTo>
                  <ns1:pt x="1110" y="0"/>
                </ns1:moveTo>
                <ns1:lnTo>
                  <ns1:pt x="1168" y="0"/>
                </ns1:lnTo>
                <ns1:lnTo>
                  <ns1:pt x="1168" y="16"/>
                </ns1:lnTo>
                <ns1:lnTo>
                  <ns1:pt x="1110" y="16"/>
                </ns1:lnTo>
                <ns1:lnTo>
                  <ns1:pt x="1110" y="0"/>
                </ns1:lnTo>
                <ns1:moveTo>
                  <ns1:pt x="1211" y="0"/>
                </ns1:moveTo>
                <ns1:lnTo>
                  <ns1:pt x="1269" y="0"/>
                </ns1:lnTo>
                <ns1:lnTo>
                  <ns1:pt x="1269" y="16"/>
                </ns1:lnTo>
                <ns1:lnTo>
                  <ns1:pt x="1211" y="16"/>
                </ns1:lnTo>
                <ns1:lnTo>
                  <ns1:pt x="1211" y="0"/>
                </ns1:lnTo>
                <ns1:moveTo>
                  <ns1:pt x="1312" y="0"/>
                </ns1:moveTo>
                <ns1:lnTo>
                  <ns1:pt x="1370" y="0"/>
                </ns1:lnTo>
                <ns1:lnTo>
                  <ns1:pt x="1370" y="16"/>
                </ns1:lnTo>
                <ns1:lnTo>
                  <ns1:pt x="1312" y="16"/>
                </ns1:lnTo>
                <ns1:lnTo>
                  <ns1:pt x="1312" y="0"/>
                </ns1:lnTo>
                <ns1:moveTo>
                  <ns1:pt x="1413" y="0"/>
                </ns1:moveTo>
                <ns1:lnTo>
                  <ns1:pt x="1471" y="0"/>
                </ns1:lnTo>
                <ns1:lnTo>
                  <ns1:pt x="1471" y="16"/>
                </ns1:lnTo>
                <ns1:lnTo>
                  <ns1:pt x="1413" y="16"/>
                </ns1:lnTo>
                <ns1:lnTo>
                  <ns1:pt x="1413" y="0"/>
                </ns1:lnTo>
                <ns1:moveTo>
                  <ns1:pt x="1514" y="0"/>
                </ns1:moveTo>
                <ns1:lnTo>
                  <ns1:pt x="1572" y="0"/>
                </ns1:lnTo>
                <ns1:lnTo>
                  <ns1:pt x="1572" y="16"/>
                </ns1:lnTo>
                <ns1:lnTo>
                  <ns1:pt x="1514" y="16"/>
                </ns1:lnTo>
                <ns1:lnTo>
                  <ns1:pt x="1514" y="0"/>
                </ns1:lnTo>
                <ns1:moveTo>
                  <ns1:pt x="1615" y="0"/>
                </ns1:moveTo>
                <ns1:lnTo>
                  <ns1:pt x="1673" y="0"/>
                </ns1:lnTo>
                <ns1:lnTo>
                  <ns1:pt x="1673" y="16"/>
                </ns1:lnTo>
                <ns1:lnTo>
                  <ns1:pt x="1615" y="16"/>
                </ns1:lnTo>
                <ns1:lnTo>
                  <ns1:pt x="1615" y="0"/>
                </ns1:lnTo>
                <ns1:moveTo>
                  <ns1:pt x="1716" y="0"/>
                </ns1:moveTo>
                <ns1:lnTo>
                  <ns1:pt x="1774" y="0"/>
                </ns1:lnTo>
                <ns1:lnTo>
                  <ns1:pt x="1774" y="16"/>
                </ns1:lnTo>
                <ns1:lnTo>
                  <ns1:pt x="1716" y="16"/>
                </ns1:lnTo>
                <ns1:lnTo>
                  <ns1:pt x="1716" y="0"/>
                </ns1:lnTo>
                <ns1:moveTo>
                  <ns1:pt x="1817" y="0"/>
                </ns1:moveTo>
                <ns1:lnTo>
                  <ns1:pt x="1875" y="0"/>
                </ns1:lnTo>
                <ns1:lnTo>
                  <ns1:pt x="1875" y="16"/>
                </ns1:lnTo>
                <ns1:lnTo>
                  <ns1:pt x="1817" y="16"/>
                </ns1:lnTo>
                <ns1:lnTo>
                  <ns1:pt x="1817" y="0"/>
                </ns1:lnTo>
                <ns1:moveTo>
                  <ns1:pt x="1918" y="0"/>
                </ns1:moveTo>
                <ns1:lnTo>
                  <ns1:pt x="1975" y="0"/>
                </ns1:lnTo>
                <ns1:lnTo>
                  <ns1:pt x="1975" y="16"/>
                </ns1:lnTo>
                <ns1:lnTo>
                  <ns1:pt x="1918" y="16"/>
                </ns1:lnTo>
                <ns1:lnTo>
                  <ns1:pt x="1918" y="0"/>
                </ns1:lnTo>
                <ns1:moveTo>
                  <ns1:pt x="2019" y="0"/>
                </ns1:moveTo>
                <ns1:lnTo>
                  <ns1:pt x="2076" y="0"/>
                </ns1:lnTo>
                <ns1:lnTo>
                  <ns1:pt x="2076" y="16"/>
                </ns1:lnTo>
                <ns1:lnTo>
                  <ns1:pt x="2019" y="16"/>
                </ns1:lnTo>
                <ns1:lnTo>
                  <ns1:pt x="2019" y="0"/>
                </ns1:lnTo>
                <ns1:moveTo>
                  <ns1:pt x="2120" y="0"/>
                </ns1:moveTo>
                <ns1:lnTo>
                  <ns1:pt x="2177" y="0"/>
                </ns1:lnTo>
                <ns1:lnTo>
                  <ns1:pt x="2177" y="16"/>
                </ns1:lnTo>
                <ns1:lnTo>
                  <ns1:pt x="2120" y="16"/>
                </ns1:lnTo>
                <ns1:lnTo>
                  <ns1:pt x="2120" y="0"/>
                </ns1:lnTo>
                <ns1:moveTo>
                  <ns1:pt x="2221" y="0"/>
                </ns1:moveTo>
                <ns1:lnTo>
                  <ns1:pt x="2278" y="0"/>
                </ns1:lnTo>
                <ns1:lnTo>
                  <ns1:pt x="2278" y="16"/>
                </ns1:lnTo>
                <ns1:lnTo>
                  <ns1:pt x="2221" y="16"/>
                </ns1:lnTo>
                <ns1:lnTo>
                  <ns1:pt x="2221" y="0"/>
                </ns1:lnTo>
                <ns1:moveTo>
                  <ns1:pt x="2322" y="0"/>
                </ns1:moveTo>
                <ns1:lnTo>
                  <ns1:pt x="2379" y="0"/>
                </ns1:lnTo>
                <ns1:lnTo>
                  <ns1:pt x="2379" y="16"/>
                </ns1:lnTo>
                <ns1:lnTo>
                  <ns1:pt x="2322" y="16"/>
                </ns1:lnTo>
                <ns1:lnTo>
                  <ns1:pt x="2322" y="0"/>
                </ns1:lnTo>
                <ns1:moveTo>
                  <ns1:pt x="2422" y="0"/>
                </ns1:moveTo>
                <ns1:lnTo>
                  <ns1:pt x="2480" y="0"/>
                </ns1:lnTo>
                <ns1:lnTo>
                  <ns1:pt x="2480" y="16"/>
                </ns1:lnTo>
                <ns1:lnTo>
                  <ns1:pt x="2422" y="16"/>
                </ns1:lnTo>
                <ns1:lnTo>
                  <ns1:pt x="2422" y="0"/>
                </ns1:lnTo>
                <ns1:moveTo>
                  <ns1:pt x="2523" y="0"/>
                </ns1:moveTo>
                <ns1:lnTo>
                  <ns1:pt x="2581" y="0"/>
                </ns1:lnTo>
                <ns1:lnTo>
                  <ns1:pt x="2581" y="16"/>
                </ns1:lnTo>
                <ns1:lnTo>
                  <ns1:pt x="2523" y="16"/>
                </ns1:lnTo>
                <ns1:lnTo>
                  <ns1:pt x="2523" y="0"/>
                </ns1:lnTo>
                <ns1:moveTo>
                  <ns1:pt x="2624" y="0"/>
                </ns1:moveTo>
                <ns1:lnTo>
                  <ns1:pt x="2682" y="0"/>
                </ns1:lnTo>
                <ns1:lnTo>
                  <ns1:pt x="2682" y="16"/>
                </ns1:lnTo>
                <ns1:lnTo>
                  <ns1:pt x="2624" y="16"/>
                </ns1:lnTo>
                <ns1:lnTo>
                  <ns1:pt x="2624" y="0"/>
                </ns1:lnTo>
                <ns1:moveTo>
                  <ns1:pt x="2725" y="0"/>
                </ns1:moveTo>
                <ns1:lnTo>
                  <ns1:pt x="2783" y="0"/>
                </ns1:lnTo>
                <ns1:lnTo>
                  <ns1:pt x="2783" y="16"/>
                </ns1:lnTo>
                <ns1:lnTo>
                  <ns1:pt x="2725" y="16"/>
                </ns1:lnTo>
                <ns1:lnTo>
                  <ns1:pt x="2725" y="0"/>
                </ns1:lnTo>
                <ns1:moveTo>
                  <ns1:pt x="2826" y="0"/>
                </ns1:moveTo>
                <ns1:lnTo>
                  <ns1:pt x="2884" y="0"/>
                </ns1:lnTo>
                <ns1:lnTo>
                  <ns1:pt x="2884" y="16"/>
                </ns1:lnTo>
                <ns1:lnTo>
                  <ns1:pt x="2826" y="16"/>
                </ns1:lnTo>
                <ns1:lnTo>
                  <ns1:pt x="2826" y="0"/>
                </ns1:lnTo>
                <ns1:moveTo>
                  <ns1:pt x="2927" y="0"/>
                </ns1:moveTo>
                <ns1:lnTo>
                  <ns1:pt x="2985" y="0"/>
                </ns1:lnTo>
                <ns1:lnTo>
                  <ns1:pt x="2985" y="16"/>
                </ns1:lnTo>
                <ns1:lnTo>
                  <ns1:pt x="2927" y="16"/>
                </ns1:lnTo>
                <ns1:lnTo>
                  <ns1:pt x="2927" y="0"/>
                </ns1:lnTo>
                <ns1:moveTo>
                  <ns1:pt x="3028" y="0"/>
                </ns1:moveTo>
                <ns1:lnTo>
                  <ns1:pt x="3086" y="0"/>
                </ns1:lnTo>
                <ns1:lnTo>
                  <ns1:pt x="3086" y="16"/>
                </ns1:lnTo>
                <ns1:lnTo>
                  <ns1:pt x="3028" y="16"/>
                </ns1:lnTo>
                <ns1:lnTo>
                  <ns1:pt x="3028" y="0"/>
                </ns1:lnTo>
                <ns1:moveTo>
                  <ns1:pt x="3129" y="0"/>
                </ns1:moveTo>
                <ns1:lnTo>
                  <ns1:pt x="3187" y="0"/>
                </ns1:lnTo>
                <ns1:lnTo>
                  <ns1:pt x="3187" y="16"/>
                </ns1:lnTo>
                <ns1:lnTo>
                  <ns1:pt x="3129" y="16"/>
                </ns1:lnTo>
                <ns1:lnTo>
                  <ns1:pt x="3129" y="0"/>
                </ns1:lnTo>
                <ns1:moveTo>
                  <ns1:pt x="3230" y="0"/>
                </ns1:moveTo>
                <ns1:lnTo>
                  <ns1:pt x="3287" y="0"/>
                </ns1:lnTo>
                <ns1:lnTo>
                  <ns1:pt x="3287" y="16"/>
                </ns1:lnTo>
                <ns1:lnTo>
                  <ns1:pt x="3230" y="16"/>
                </ns1:lnTo>
                <ns1:lnTo>
                  <ns1:pt x="3230" y="0"/>
                </ns1:lnTo>
                <ns1:moveTo>
                  <ns1:pt x="3331" y="0"/>
                </ns1:moveTo>
                <ns1:lnTo>
                  <ns1:pt x="3388" y="0"/>
                </ns1:lnTo>
                <ns1:lnTo>
                  <ns1:pt x="3388" y="16"/>
                </ns1:lnTo>
                <ns1:lnTo>
                  <ns1:pt x="3331" y="16"/>
                </ns1:lnTo>
                <ns1:lnTo>
                  <ns1:pt x="3331" y="0"/>
                </ns1:lnTo>
                <ns1:moveTo>
                  <ns1:pt x="3432" y="0"/>
                </ns1:moveTo>
                <ns1:lnTo>
                  <ns1:pt x="3489" y="0"/>
                </ns1:lnTo>
                <ns1:lnTo>
                  <ns1:pt x="3489" y="16"/>
                </ns1:lnTo>
                <ns1:lnTo>
                  <ns1:pt x="3432" y="16"/>
                </ns1:lnTo>
                <ns1:lnTo>
                  <ns1:pt x="3432" y="0"/>
                </ns1:lnTo>
                <ns1:moveTo>
                  <ns1:pt x="3533" y="0"/>
                </ns1:moveTo>
                <ns1:lnTo>
                  <ns1:pt x="3590" y="0"/>
                </ns1:lnTo>
                <ns1:lnTo>
                  <ns1:pt x="3590" y="16"/>
                </ns1:lnTo>
                <ns1:lnTo>
                  <ns1:pt x="3533" y="16"/>
                </ns1:lnTo>
                <ns1:lnTo>
                  <ns1:pt x="3533" y="0"/>
                </ns1:lnTo>
                <ns1:moveTo>
                  <ns1:pt x="3633" y="0"/>
                </ns1:moveTo>
                <ns1:lnTo>
                  <ns1:pt x="3691" y="0"/>
                </ns1:lnTo>
                <ns1:lnTo>
                  <ns1:pt x="3691" y="16"/>
                </ns1:lnTo>
                <ns1:lnTo>
                  <ns1:pt x="3633" y="16"/>
                </ns1:lnTo>
                <ns1:lnTo>
                  <ns1:pt x="3633" y="0"/>
                </ns1:lnTo>
                <ns1:moveTo>
                  <ns1:pt x="3734" y="0"/>
                </ns1:moveTo>
                <ns1:lnTo>
                  <ns1:pt x="3792" y="0"/>
                </ns1:lnTo>
                <ns1:lnTo>
                  <ns1:pt x="3792" y="16"/>
                </ns1:lnTo>
                <ns1:lnTo>
                  <ns1:pt x="3734" y="16"/>
                </ns1:lnTo>
                <ns1:lnTo>
                  <ns1:pt x="3734" y="0"/>
                </ns1:lnTo>
                <ns1:moveTo>
                  <ns1:pt x="3835" y="0"/>
                </ns1:moveTo>
                <ns1:lnTo>
                  <ns1:pt x="3893" y="0"/>
                </ns1:lnTo>
                <ns1:lnTo>
                  <ns1:pt x="3893" y="16"/>
                </ns1:lnTo>
                <ns1:lnTo>
                  <ns1:pt x="3835" y="16"/>
                </ns1:lnTo>
                <ns1:lnTo>
                  <ns1:pt x="3835" y="0"/>
                </ns1:lnTo>
                <ns1:moveTo>
                  <ns1:pt x="3936" y="0"/>
                </ns1:moveTo>
                <ns1:lnTo>
                  <ns1:pt x="3994" y="0"/>
                </ns1:lnTo>
                <ns1:lnTo>
                  <ns1:pt x="3994" y="16"/>
                </ns1:lnTo>
                <ns1:lnTo>
                  <ns1:pt x="3936" y="16"/>
                </ns1:lnTo>
                <ns1:lnTo>
                  <ns1:pt x="3936" y="0"/>
                </ns1:lnTo>
                <ns1:moveTo>
                  <ns1:pt x="4037" y="0"/>
                </ns1:moveTo>
                <ns1:lnTo>
                  <ns1:pt x="4095" y="0"/>
                </ns1:lnTo>
                <ns1:lnTo>
                  <ns1:pt x="4095" y="16"/>
                </ns1:lnTo>
                <ns1:lnTo>
                  <ns1:pt x="4037" y="16"/>
                </ns1:lnTo>
                <ns1:lnTo>
                  <ns1:pt x="4037" y="0"/>
                </ns1:lnTo>
                <ns1:moveTo>
                  <ns1:pt x="4138" y="0"/>
                </ns1:moveTo>
                <ns1:lnTo>
                  <ns1:pt x="4196" y="0"/>
                </ns1:lnTo>
                <ns1:lnTo>
                  <ns1:pt x="4196" y="16"/>
                </ns1:lnTo>
                <ns1:lnTo>
                  <ns1:pt x="4138" y="16"/>
                </ns1:lnTo>
                <ns1:lnTo>
                  <ns1:pt x="4138" y="0"/>
                </ns1:lnTo>
                <ns1:moveTo>
                  <ns1:pt x="4239" y="0"/>
                </ns1:moveTo>
                <ns1:lnTo>
                  <ns1:pt x="4298" y="0"/>
                </ns1:lnTo>
                <ns1:lnTo>
                  <ns1:pt x="4298" y="16"/>
                </ns1:lnTo>
                <ns1:lnTo>
                  <ns1:pt x="4239" y="16"/>
                </ns1:lnTo>
                <ns1:lnTo>
                  <ns1:pt x="4239" y="0"/>
                </ns1:lnTo>
                <ns1:moveTo>
                  <ns1:pt x="4341" y="0"/>
                </ns1:moveTo>
                <ns1:lnTo>
                  <ns1:pt x="4399" y="0"/>
                </ns1:lnTo>
                <ns1:lnTo>
                  <ns1:pt x="4399" y="16"/>
                </ns1:lnTo>
                <ns1:lnTo>
                  <ns1:pt x="4341" y="16"/>
                </ns1:lnTo>
                <ns1:lnTo>
                  <ns1:pt x="4341" y="0"/>
                </ns1:lnTo>
                <ns1:moveTo>
                  <ns1:pt x="4442" y="0"/>
                </ns1:moveTo>
                <ns1:lnTo>
                  <ns1:pt x="4499" y="0"/>
                </ns1:lnTo>
                <ns1:lnTo>
                  <ns1:pt x="4499" y="16"/>
                </ns1:lnTo>
                <ns1:lnTo>
                  <ns1:pt x="4442" y="16"/>
                </ns1:lnTo>
                <ns1:lnTo>
                  <ns1:pt x="4442" y="0"/>
                </ns1:lnTo>
                <ns1:moveTo>
                  <ns1:pt x="4543" y="0"/>
                </ns1:moveTo>
                <ns1:lnTo>
                  <ns1:pt x="4600" y="0"/>
                </ns1:lnTo>
                <ns1:lnTo>
                  <ns1:pt x="4600" y="16"/>
                </ns1:lnTo>
                <ns1:lnTo>
                  <ns1:pt x="4543" y="16"/>
                </ns1:lnTo>
                <ns1:lnTo>
                  <ns1:pt x="4543" y="0"/>
                </ns1:lnTo>
                <ns1:moveTo>
                  <ns1:pt x="4644" y="0"/>
                </ns1:moveTo>
                <ns1:lnTo>
                  <ns1:pt x="4701" y="0"/>
                </ns1:lnTo>
                <ns1:lnTo>
                  <ns1:pt x="4701" y="16"/>
                </ns1:lnTo>
                <ns1:lnTo>
                  <ns1:pt x="4644" y="16"/>
                </ns1:lnTo>
                <ns1:lnTo>
                  <ns1:pt x="4644" y="0"/>
                </ns1:lnTo>
                <ns1:moveTo>
                  <ns1:pt x="4745" y="0"/>
                </ns1:moveTo>
                <ns1:lnTo>
                  <ns1:pt x="4802" y="0"/>
                </ns1:lnTo>
                <ns1:lnTo>
                  <ns1:pt x="4802" y="16"/>
                </ns1:lnTo>
                <ns1:lnTo>
                  <ns1:pt x="4745" y="16"/>
                </ns1:lnTo>
                <ns1:lnTo>
                  <ns1:pt x="4745" y="0"/>
                </ns1:lnTo>
                <ns1:moveTo>
                  <ns1:pt x="4845" y="0"/>
                </ns1:moveTo>
                <ns1:lnTo>
                  <ns1:pt x="4903" y="0"/>
                </ns1:lnTo>
                <ns1:lnTo>
                  <ns1:pt x="4903" y="16"/>
                </ns1:lnTo>
                <ns1:lnTo>
                  <ns1:pt x="4845" y="16"/>
                </ns1:lnTo>
                <ns1:lnTo>
                  <ns1:pt x="4845" y="0"/>
                </ns1:lnTo>
                <ns1:moveTo>
                  <ns1:pt x="4946" y="0"/>
                </ns1:moveTo>
                <ns1:lnTo>
                  <ns1:pt x="5004" y="0"/>
                </ns1:lnTo>
                <ns1:lnTo>
                  <ns1:pt x="5004" y="16"/>
                </ns1:lnTo>
                <ns1:lnTo>
                  <ns1:pt x="4946" y="16"/>
                </ns1:lnTo>
                <ns1:lnTo>
                  <ns1:pt x="4946" y="0"/>
                </ns1:lnTo>
                <ns1:moveTo>
                  <ns1:pt x="5047" y="0"/>
                </ns1:moveTo>
                <ns1:lnTo>
                  <ns1:pt x="5105" y="0"/>
                </ns1:lnTo>
                <ns1:lnTo>
                  <ns1:pt x="5105" y="16"/>
                </ns1:lnTo>
                <ns1:lnTo>
                  <ns1:pt x="5047" y="16"/>
                </ns1:lnTo>
                <ns1:lnTo>
                  <ns1:pt x="5047" y="0"/>
                </ns1:lnTo>
                <ns1:moveTo>
                  <ns1:pt x="5148" y="0"/>
                </ns1:moveTo>
                <ns1:lnTo>
                  <ns1:pt x="5206" y="0"/>
                </ns1:lnTo>
                <ns1:lnTo>
                  <ns1:pt x="5206" y="16"/>
                </ns1:lnTo>
                <ns1:lnTo>
                  <ns1:pt x="5148" y="16"/>
                </ns1:lnTo>
                <ns1:lnTo>
                  <ns1:pt x="5148" y="0"/>
                </ns1:lnTo>
                <ns1:moveTo>
                  <ns1:pt x="5249" y="0"/>
                </ns1:moveTo>
                <ns1:lnTo>
                  <ns1:pt x="5307" y="0"/>
                </ns1:lnTo>
                <ns1:lnTo>
                  <ns1:pt x="5307" y="16"/>
                </ns1:lnTo>
                <ns1:lnTo>
                  <ns1:pt x="5249" y="16"/>
                </ns1:lnTo>
                <ns1:lnTo>
                  <ns1:pt x="5249" y="0"/>
                </ns1:lnTo>
                <ns1:moveTo>
                  <ns1:pt x="5350" y="0"/>
                </ns1:moveTo>
                <ns1:lnTo>
                  <ns1:pt x="5408" y="0"/>
                </ns1:lnTo>
                <ns1:lnTo>
                  <ns1:pt x="5408" y="16"/>
                </ns1:lnTo>
                <ns1:lnTo>
                  <ns1:pt x="5350" y="16"/>
                </ns1:lnTo>
                <ns1:lnTo>
                  <ns1:pt x="5350" y="0"/>
                </ns1:lnTo>
                <ns1:moveTo>
                  <ns1:pt x="5451" y="0"/>
                </ns1:moveTo>
                <ns1:lnTo>
                  <ns1:pt x="5480" y="0"/>
                </ns1:lnTo>
                <ns1:lnTo>
                  <ns1:pt x="5480" y="16"/>
                </ns1:lnTo>
                <ns1:lnTo>
                  <ns1:pt x="5451" y="16"/>
                </ns1:lnTo>
                <ns1:lnTo>
                  <ns1:pt x="5451" y="0"/>
                </ns1:lnTo>
                <ns1:close/>
              </ns1:path>
            </ns1:pathLst>
          </ns1:custGeom>
          <ns1:solidFill>
            <ns1:srgbClr val="333333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7" name=""/>
          <ns0:cNvSpPr txBox="1"/>
          <ns0:nvPr/>
        </ns0:nvSpPr>
        <ns0:spPr>
          <ns1:xfrm>
            <ns1:off x="9184320" y="2982600"/>
            <ns1:ext cx="9864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2.0x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18" name=""/>
          <ns0:cNvSpPr txBox="1"/>
          <ns0:nvPr/>
        </ns0:nvSpPr>
        <ns0:spPr>
          <ns1:xfrm>
            <ns1:off x="10941120" y="3478320"/>
            <ns1:ext cx="18108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333333"/>
                </ns1:solidFill>
                <ns1:effectLst/>
                <ns1:uFillTx/>
                <ns1:latin typeface="Arial"/>
                <ns1:ea typeface="Arial"/>
              </ns1:rPr>
              <ns1:t>LRU 基线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0" name=""/>
          <ns0:cNvSpPr txBox="1"/>
          <ns0:nvPr/>
        </ns0:nvSpPr>
        <ns0:spPr>
          <ns1:xfrm>
            <ns1:off x="11162520" y="3479400"/>
            <ns1:ext cx="10296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333333"/>
                </ns1:solidFill>
                <ns1:effectLst/>
                <ns1:uFillTx/>
                <ns1:latin typeface="Arial"/>
                <ns1:ea typeface="Arial"/>
              </ns1:rPr>
              <ns1:t>=1.0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1" name=""/>
          <ns0:cNvSpPr txBox="1"/>
          <ns0:nvPr/>
        </ns0:nvSpPr>
        <ns0:spPr>
          <ns1:xfrm>
            <ns1:off x="9268920" y="4116240"/>
            <ns1:ext cx="8928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ρ=1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2" name=""/>
          <ns0:cNvSpPr txBox="1"/>
          <ns0:nvPr/>
        </ns0:nvSpPr>
        <ns0:spPr>
          <ns1:xfrm>
            <ns1:off x="9747720" y="4116240"/>
            <ns1:ext cx="11808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ρ=10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3" name=""/>
          <ns0:cNvSpPr txBox="1"/>
          <ns0:nvPr/>
        </ns0:nvSpPr>
        <ns0:spPr>
          <ns1:xfrm>
            <ns1:off x="10240920" y="4116240"/>
            <ns1:ext cx="11808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ρ=25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4" name=""/>
          <ns0:cNvSpPr txBox="1"/>
          <ns0:nvPr/>
        </ns0:nvSpPr>
        <ns0:spPr>
          <ns1:xfrm>
            <ns1:off x="10733760" y="4116240"/>
            <ns1:ext cx="11808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ρ=50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5" name=""/>
          <ns0:cNvSpPr txBox="1"/>
          <ns0:nvPr/>
        </ns0:nvSpPr>
        <ns0:spPr>
          <ns1:xfrm>
            <ns1:off x="11212560" y="4116240"/>
            <ns1:ext cx="14688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ρ=100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6" name=""/>
          <ns0:cNvSpPr txBox="1"/>
          <ns0:nvPr/>
        </ns0:nvSpPr>
        <ns0:spPr>
          <ns1:xfrm>
            <ns1:off x="10705320" y="4197600"/>
            <ns1:ext cx="5544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370" strike="noStrike" u="none">
                <ns1:solidFill>
                  <ns1:srgbClr val="3a7bbf"/>
                </ns1:solidFill>
                <ns1:effectLst/>
                <ns1:uFillTx/>
                <ns1:latin typeface="WenQuanYiMicroHei"/>
                <ns1:ea typeface="WenQuanYiMicroHei"/>
              </ns1:rPr>
              <ns1:t>边缘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7" name=""/>
          <ns0:cNvSpPr txBox="1"/>
          <ns0:nvPr/>
        </ns0:nvSpPr>
        <ns0:spPr>
          <ns1:xfrm>
            <ns1:off x="10798560" y="4197600"/>
            <ns1:ext cx="9612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 i="0">
                <ns1:solidFill>
                  <ns1:srgbClr val="3a7bbf"/>
                </ns1:solidFill>
                <ns1:effectLst/>
                <ns1:uFillTx/>
                <ns1:latin typeface="Noto Sans SC"/>
                <ns1:ea typeface="Noto Sans SC"/>
              </ns1:rPr>
              <ns1:t>/消费级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29" name=""/>
          <ns0:cNvSpPr txBox="1"/>
          <ns0:nvPr/>
        </ns0:nvSpPr>
        <ns0:spPr>
          <ns1:xfrm>
            <ns1:off x="10951200" y="4197600"/>
            <ns1:ext cx="16740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3a7bbf"/>
                </ns1:solidFill>
                <ns1:effectLst/>
                <ns1:uFillTx/>
                <ns1:latin typeface="Arial"/>
                <ns1:ea typeface="Arial"/>
              </ns1:rPr>
              <ns1:t> → ρ 更大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31" name=""/>
          <ns0:cNvSpPr txBox="1"/>
          <ns0:nvPr/>
        </ns0:nvSpPr>
        <ns0:spPr>
          <ns1:xfrm>
            <ns1:off x="11156400" y="4197600"/>
            <ns1:ext cx="8100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 i="0">
                <ns1:solidFill>
                  <ns1:srgbClr val="3a7bbf"/>
                </ns1:solidFill>
                <ns1:effectLst/>
                <ns1:uFillTx/>
                <ns1:latin typeface="Noto Sans SC"/>
                <ns1:ea typeface="Noto Sans SC"/>
              </ns1:rPr>
              <ns1:t>,更右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33" name=""/>
          <ns0:cNvSpPr txBox="1"/>
          <ns0:nvPr/>
        </ns0:nvSpPr>
        <ns0:spPr>
          <ns1:xfrm>
            <ns1:off x="9794880" y="4270320"/>
            <ns1:ext cx="6300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410" strike="noStrike" u="none">
                <ns1:solidFill>
                  <ns1:srgbClr val="000000"/>
                </ns1:solidFill>
                <ns1:effectLst/>
                <ns1:uFillTx/>
                <ns1:latin typeface="NotoSansCJKsc"/>
                <ns1:ea typeface="NotoSansCJKsc"/>
              </ns1:rPr>
              <ns1:t>单次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34" name=""/>
          <ns0:cNvSpPr txBox="1"/>
          <ns0:nvPr/>
        </ns0:nvSpPr>
        <ns0:spPr>
          <ns1:xfrm>
            <ns1:off x="9898560" y="4270320"/>
            <ns1:ext cx="19800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 miss 代价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36" name=""/>
          <ns0:cNvSpPr txBox="1"/>
          <ns0:nvPr/>
        </ns0:nvSpPr>
        <ns0:spPr>
          <ns1:xfrm>
            <ns1:off x="10137240" y="4270320"/>
            <ns1:ext cx="27252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000000"/>
                </ns1:solidFill>
                <ns1:effectLst/>
                <ns1:uFillTx/>
                <ns1:latin typeface="Arial"/>
                <ns1:ea typeface="Arial"/>
              </ns1:rPr>
              <ns1:t> ρ = miss延迟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38" name=""/>
          <ns0:cNvSpPr txBox="1"/>
          <ns0:nvPr/>
        </ns0:nvSpPr>
        <ns0:spPr>
          <ns1:xfrm>
            <ns1:off x="10450080" y="4270320"/>
            <ns1:ext cx="23040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 i="0">
                <ns1:solidFill>
                  <ns1:srgbClr val="000000"/>
                </ns1:solidFill>
                <ns1:effectLst/>
                <ns1:uFillTx/>
                <ns1:latin typeface="Noto Sans SC"/>
                <ns1:ea typeface="Noto Sans SC"/>
              </ns1:rPr>
              <ns1:t>/单次专家计算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39" name=""/>
          <ns0:cNvSpPr/>
          <ns0:nvPr/>
        </ns0:nvSpPr>
        <ns0:spPr>
          <ns1:xfrm>
            <ns1:off x="9313200" y="3360600"/>
            <ns1:ext cx="1972800" cy="109080"/>
          </ns1:xfrm>
          <ns1:custGeom>
            <ns1:avLst/>
            <ns1:gdLst/>
            <ns1:ahLst/>
            <ns1:rect l="0" t="0" r="r" b="b"/>
            <ns1:pathLst>
              <ns1:path fill="none" w="5480" h="303">
                <ns1:moveTo>
                  <ns1:pt x="0" y="303"/>
                </ns1:moveTo>
                <ns1:lnTo>
                  <ns1:pt x="1370" y="57"/>
                </ns1:lnTo>
                <ns1:lnTo>
                  <ns1:pt x="2740" y="14"/>
                </ns1:lnTo>
                <ns1:lnTo>
                  <ns1:pt x="4109" y="0"/>
                </ns1:lnTo>
                <ns1:lnTo>
                  <ns1:pt x="5480" y="0"/>
                </ns1:lnTo>
              </ns1:path>
            </ns1:pathLst>
          </ns1:custGeom>
          <ns1:ln w="11160">
            <ns1:solidFill>
              <ns1:srgbClr val="d62728"/>
            </ns1:solidFill>
            <ns1:miter/>
          </ns1:ln>
        </ns0:spPr>
        <ns0:txBody>
          <ns1:bodyPr lIns="5400" rIns="5400" tIns="5400" bIns="540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0" name=""/>
          <ns0:cNvSpPr/>
          <ns0:nvPr/>
        </ns0:nvSpPr>
        <ns0:spPr>
          <ns1:xfrm flipV="1">
            <ns1:off x="9313200" y="3463920"/>
            <ns1:ext cx="0" cy="5400"/>
          </ns1:xfrm>
          <ns1:prstGeom prst="line">
            <ns1:avLst/>
          </ns1:prstGeom>
          <ns1:ln w="5040">
            <ns1:solidFill>
              <ns1:srgbClr val="d62728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1" name=""/>
          <ns0:cNvSpPr/>
          <ns0:nvPr/>
        </ns0:nvSpPr>
        <ns0:spPr>
          <ns1:xfrm>
            <ns1:off x="9297720" y="3453840"/>
            <ns1:ext cx="31680" cy="31320"/>
          </ns1:xfrm>
          <ns1:custGeom>
            <ns1:avLst/>
            <ns1:gdLst/>
            <ns1:ahLst/>
            <ns1:rect l="0" t="0" r="r" b="b"/>
            <ns1:pathLst>
              <ns1:path w="88" h="87">
                <ns1:moveTo>
                  <ns1:pt x="88" y="43"/>
                </ns1:moveTo>
                <ns1:cubicBezTo>
                  <ns1:pt x="88" y="48"/>
                  <ns1:pt x="87" y="54"/>
                  <ns1:pt x="84" y="59"/>
                </ns1:cubicBezTo>
                <ns1:cubicBezTo>
                  <ns1:pt x="82" y="64"/>
                  <ns1:pt x="79" y="69"/>
                  <ns1:pt x="75" y="73"/>
                </ns1:cubicBezTo>
                <ns1:cubicBezTo>
                  <ns1:pt x="71" y="77"/>
                  <ns1:pt x="66" y="80"/>
                  <ns1:pt x="61" y="84"/>
                </ns1:cubicBezTo>
                <ns1:cubicBezTo>
                  <ns1:pt x="56" y="86"/>
                  <ns1:pt x="50" y="87"/>
                  <ns1:pt x="44" y="87"/>
                </ns1:cubicBezTo>
                <ns1:cubicBezTo>
                  <ns1:pt x="39" y="87"/>
                  <ns1:pt x="33" y="86"/>
                  <ns1:pt x="28" y="84"/>
                </ns1:cubicBezTo>
                <ns1:cubicBezTo>
                  <ns1:pt x="22" y="80"/>
                  <ns1:pt x="18" y="77"/>
                  <ns1:pt x="13" y="73"/>
                </ns1:cubicBezTo>
                <ns1:cubicBezTo>
                  <ns1:pt x="9" y="69"/>
                  <ns1:pt x="6" y="64"/>
                  <ns1:pt x="3" y="59"/>
                </ns1:cubicBezTo>
                <ns1:cubicBezTo>
                  <ns1:pt x="1" y="54"/>
                  <ns1:pt x="0" y="48"/>
                  <ns1:pt x="0" y="43"/>
                </ns1:cubicBezTo>
                <ns1:cubicBezTo>
                  <ns1:pt x="0" y="37"/>
                  <ns1:pt x="1" y="31"/>
                  <ns1:pt x="3" y="26"/>
                </ns1:cubicBezTo>
                <ns1:cubicBezTo>
                  <ns1:pt x="6" y="21"/>
                  <ns1:pt x="9" y="16"/>
                  <ns1:pt x="13" y="12"/>
                </ns1:cubicBezTo>
                <ns1:cubicBezTo>
                  <ns1:pt x="18" y="8"/>
                  <ns1:pt x="22" y="5"/>
                  <ns1:pt x="28" y="3"/>
                </ns1:cubicBezTo>
                <ns1:cubicBezTo>
                  <ns1:pt x="33" y="1"/>
                  <ns1:pt x="39" y="0"/>
                  <ns1:pt x="44" y="0"/>
                </ns1:cubicBezTo>
                <ns1:cubicBezTo>
                  <ns1:pt x="50" y="0"/>
                  <ns1:pt x="56" y="1"/>
                  <ns1:pt x="61" y="3"/>
                </ns1:cubicBezTo>
                <ns1:cubicBezTo>
                  <ns1:pt x="66" y="5"/>
                  <ns1:pt x="71" y="8"/>
                  <ns1:pt x="75" y="12"/>
                </ns1:cubicBezTo>
                <ns1:cubicBezTo>
                  <ns1:pt x="79" y="16"/>
                  <ns1:pt x="82" y="21"/>
                  <ns1:pt x="84" y="26"/>
                </ns1:cubicBezTo>
                <ns1:cubicBezTo>
                  <ns1:pt x="87" y="31"/>
                  <ns1:pt x="88" y="37"/>
                  <ns1:pt x="88" y="43"/>
                </ns1:cubicBezTo>
                <ns1:close/>
              </ns1:path>
            </ns1:pathLst>
          </ns1:custGeom>
          <ns1:solidFill>
            <ns1:srgbClr val="d62728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2" name=""/>
          <ns0:cNvSpPr/>
          <ns0:nvPr/>
        </ns0:nvSpPr>
        <ns0:spPr>
          <ns1:xfrm flipV="1">
            <ns1:off x="9806400" y="3376080"/>
            <ns1:ext cx="0" cy="10440"/>
          </ns1:xfrm>
          <ns1:prstGeom prst="line">
            <ns1:avLst/>
          </ns1:prstGeom>
          <ns1:ln w="5040">
            <ns1:solidFill>
              <ns1:srgbClr val="d62728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3" name=""/>
          <ns0:cNvSpPr/>
          <ns0:nvPr/>
        </ns0:nvSpPr>
        <ns0:spPr>
          <ns1:xfrm>
            <ns1:off x="9790920" y="336564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3"/>
                </ns1:moveTo>
                <ns1:cubicBezTo>
                  <ns1:pt x="87" y="49"/>
                  <ns1:pt x="86" y="54"/>
                  <ns1:pt x="84" y="60"/>
                </ns1:cubicBezTo>
                <ns1:cubicBezTo>
                  <ns1:pt x="82" y="65"/>
                  <ns1:pt x="79" y="71"/>
                  <ns1:pt x="75" y="75"/>
                </ns1:cubicBezTo>
                <ns1:cubicBezTo>
                  <ns1:pt x="70" y="79"/>
                  <ns1:pt x="66" y="82"/>
                  <ns1:pt x="61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8" y="87"/>
                  <ns1:pt x="33" y="86"/>
                  <ns1:pt x="27" y="84"/>
                </ns1:cubicBezTo>
                <ns1:cubicBezTo>
                  <ns1:pt x="21" y="82"/>
                  <ns1:pt x="16" y="79"/>
                  <ns1:pt x="12" y="75"/>
                </ns1:cubicBezTo>
                <ns1:cubicBezTo>
                  <ns1:pt x="8" y="71"/>
                  <ns1:pt x="5" y="65"/>
                  <ns1:pt x="3" y="60"/>
                </ns1:cubicBezTo>
                <ns1:cubicBezTo>
                  <ns1:pt x="1" y="54"/>
                  <ns1:pt x="0" y="49"/>
                  <ns1:pt x="0" y="43"/>
                </ns1:cubicBezTo>
                <ns1:cubicBezTo>
                  <ns1:pt x="0" y="37"/>
                  <ns1:pt x="1" y="32"/>
                  <ns1:pt x="3" y="27"/>
                </ns1:cubicBezTo>
                <ns1:cubicBezTo>
                  <ns1:pt x="5" y="21"/>
                  <ns1:pt x="8" y="17"/>
                  <ns1:pt x="12" y="13"/>
                </ns1:cubicBezTo>
                <ns1:cubicBezTo>
                  <ns1:pt x="16" y="9"/>
                  <ns1:pt x="21" y="6"/>
                  <ns1:pt x="27" y="3"/>
                </ns1:cubicBezTo>
                <ns1:cubicBezTo>
                  <ns1:pt x="33" y="1"/>
                  <ns1:pt x="38" y="0"/>
                  <ns1:pt x="44" y="0"/>
                </ns1:cubicBezTo>
                <ns1:cubicBezTo>
                  <ns1:pt x="50" y="0"/>
                  <ns1:pt x="55" y="1"/>
                  <ns1:pt x="61" y="3"/>
                </ns1:cubicBezTo>
                <ns1:cubicBezTo>
                  <ns1:pt x="66" y="6"/>
                  <ns1:pt x="70" y="9"/>
                  <ns1:pt x="75" y="13"/>
                </ns1:cubicBezTo>
                <ns1:cubicBezTo>
                  <ns1:pt x="79" y="17"/>
                  <ns1:pt x="82" y="21"/>
                  <ns1:pt x="84" y="27"/>
                </ns1:cubicBezTo>
                <ns1:cubicBezTo>
                  <ns1:pt x="86" y="32"/>
                  <ns1:pt x="87" y="37"/>
                  <ns1:pt x="87" y="43"/>
                </ns1:cubicBezTo>
                <ns1:close/>
              </ns1:path>
            </ns1:pathLst>
          </ns1:custGeom>
          <ns1:solidFill>
            <ns1:srgbClr val="d62728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4" name=""/>
          <ns0:cNvSpPr/>
          <ns0:nvPr/>
        </ns0:nvSpPr>
        <ns0:spPr>
          <ns1:xfrm flipV="1">
            <ns1:off x="10299600" y="3360600"/>
            <ns1:ext cx="0" cy="10080"/>
          </ns1:xfrm>
          <ns1:prstGeom prst="line">
            <ns1:avLst/>
          </ns1:prstGeom>
          <ns1:ln w="5040">
            <ns1:solidFill>
              <ns1:srgbClr val="d62728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5" name=""/>
          <ns0:cNvSpPr/>
          <ns0:nvPr/>
        </ns0:nvSpPr>
        <ns0:spPr>
          <ns1:xfrm>
            <ns1:off x="10283760" y="3350160"/>
            <ns1:ext cx="31680" cy="31320"/>
          </ns1:xfrm>
          <ns1:custGeom>
            <ns1:avLst/>
            <ns1:gdLst/>
            <ns1:ahLst/>
            <ns1:rect l="0" t="0" r="r" b="b"/>
            <ns1:pathLst>
              <ns1:path w="88" h="87">
                <ns1:moveTo>
                  <ns1:pt x="88" y="44"/>
                </ns1:moveTo>
                <ns1:cubicBezTo>
                  <ns1:pt x="88" y="50"/>
                  <ns1:pt x="87" y="55"/>
                  <ns1:pt x="85" y="61"/>
                </ns1:cubicBezTo>
                <ns1:cubicBezTo>
                  <ns1:pt x="82" y="66"/>
                  <ns1:pt x="79" y="71"/>
                  <ns1:pt x="75" y="75"/>
                </ns1:cubicBezTo>
                <ns1:cubicBezTo>
                  <ns1:pt x="71" y="79"/>
                  <ns1:pt x="66" y="82"/>
                  <ns1:pt x="61" y="84"/>
                </ns1:cubicBezTo>
                <ns1:cubicBezTo>
                  <ns1:pt x="56" y="86"/>
                  <ns1:pt x="50" y="87"/>
                  <ns1:pt x="45" y="87"/>
                </ns1:cubicBezTo>
                <ns1:cubicBezTo>
                  <ns1:pt x="39" y="87"/>
                  <ns1:pt x="33" y="86"/>
                  <ns1:pt x="27" y="84"/>
                </ns1:cubicBezTo>
                <ns1:cubicBezTo>
                  <ns1:pt x="22" y="82"/>
                  <ns1:pt x="17" y="79"/>
                  <ns1:pt x="13" y="75"/>
                </ns1:cubicBezTo>
                <ns1:cubicBezTo>
                  <ns1:pt x="9" y="71"/>
                  <ns1:pt x="6" y="66"/>
                  <ns1:pt x="4" y="61"/>
                </ns1:cubicBezTo>
                <ns1:cubicBezTo>
                  <ns1:pt x="1" y="55"/>
                  <ns1:pt x="0" y="50"/>
                  <ns1:pt x="0" y="44"/>
                </ns1:cubicBezTo>
                <ns1:cubicBezTo>
                  <ns1:pt x="0" y="38"/>
                  <ns1:pt x="1" y="33"/>
                  <ns1:pt x="4" y="28"/>
                </ns1:cubicBezTo>
                <ns1:cubicBezTo>
                  <ns1:pt x="6" y="21"/>
                  <ns1:pt x="9" y="17"/>
                  <ns1:pt x="13" y="13"/>
                </ns1:cubicBezTo>
                <ns1:cubicBezTo>
                  <ns1:pt x="17" y="9"/>
                  <ns1:pt x="22" y="5"/>
                  <ns1:pt x="27" y="3"/>
                </ns1:cubicBezTo>
                <ns1:cubicBezTo>
                  <ns1:pt x="33" y="1"/>
                  <ns1:pt x="39" y="0"/>
                  <ns1:pt x="45" y="0"/>
                </ns1:cubicBezTo>
                <ns1:cubicBezTo>
                  <ns1:pt x="50" y="0"/>
                  <ns1:pt x="56" y="1"/>
                  <ns1:pt x="61" y="3"/>
                </ns1:cubicBezTo>
                <ns1:cubicBezTo>
                  <ns1:pt x="66" y="5"/>
                  <ns1:pt x="71" y="9"/>
                  <ns1:pt x="75" y="13"/>
                </ns1:cubicBezTo>
                <ns1:cubicBezTo>
                  <ns1:pt x="79" y="17"/>
                  <ns1:pt x="82" y="21"/>
                  <ns1:pt x="85" y="28"/>
                </ns1:cubicBezTo>
                <ns1:cubicBezTo>
                  <ns1:pt x="87" y="33"/>
                  <ns1:pt x="88" y="38"/>
                  <ns1:pt x="88" y="44"/>
                </ns1:cubicBezTo>
                <ns1:close/>
              </ns1:path>
            </ns1:pathLst>
          </ns1:custGeom>
          <ns1:solidFill>
            <ns1:srgbClr val="d62728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6" name=""/>
          <ns0:cNvSpPr/>
          <ns0:nvPr/>
        </ns0:nvSpPr>
        <ns0:spPr>
          <ns1:xfrm flipV="1">
            <ns1:off x="10792440" y="3355200"/>
            <ns1:ext cx="0" cy="10440"/>
          </ns1:xfrm>
          <ns1:prstGeom prst="line">
            <ns1:avLst/>
          </ns1:prstGeom>
          <ns1:ln w="5040">
            <ns1:solidFill>
              <ns1:srgbClr val="d62728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7" name=""/>
          <ns0:cNvSpPr/>
          <ns0:nvPr/>
        </ns0:nvSpPr>
        <ns0:spPr>
          <ns1:xfrm>
            <ns1:off x="10776960" y="334512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4"/>
                </ns1:moveTo>
                <ns1:cubicBezTo>
                  <ns1:pt x="87" y="49"/>
                  <ns1:pt x="86" y="55"/>
                  <ns1:pt x="84" y="60"/>
                </ns1:cubicBezTo>
                <ns1:cubicBezTo>
                  <ns1:pt x="82" y="65"/>
                  <ns1:pt x="79" y="70"/>
                  <ns1:pt x="75" y="74"/>
                </ns1:cubicBezTo>
                <ns1:cubicBezTo>
                  <ns1:pt x="71" y="78"/>
                  <ns1:pt x="66" y="81"/>
                  <ns1:pt x="61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8" y="87"/>
                  <ns1:pt x="32" y="86"/>
                  <ns1:pt x="27" y="84"/>
                </ns1:cubicBezTo>
                <ns1:cubicBezTo>
                  <ns1:pt x="21" y="81"/>
                  <ns1:pt x="17" y="78"/>
                  <ns1:pt x="13" y="74"/>
                </ns1:cubicBezTo>
                <ns1:cubicBezTo>
                  <ns1:pt x="9" y="70"/>
                  <ns1:pt x="5" y="65"/>
                  <ns1:pt x="3" y="60"/>
                </ns1:cubicBezTo>
                <ns1:cubicBezTo>
                  <ns1:pt x="1" y="55"/>
                  <ns1:pt x="0" y="49"/>
                  <ns1:pt x="0" y="44"/>
                </ns1:cubicBezTo>
                <ns1:cubicBezTo>
                  <ns1:pt x="0" y="37"/>
                  <ns1:pt x="1" y="31"/>
                  <ns1:pt x="3" y="26"/>
                </ns1:cubicBezTo>
                <ns1:cubicBezTo>
                  <ns1:pt x="5" y="21"/>
                  <ns1:pt x="9" y="16"/>
                  <ns1:pt x="13" y="12"/>
                </ns1:cubicBezTo>
                <ns1:cubicBezTo>
                  <ns1:pt x="17" y="8"/>
                  <ns1:pt x="21" y="5"/>
                  <ns1:pt x="27" y="3"/>
                </ns1:cubicBezTo>
                <ns1:cubicBezTo>
                  <ns1:pt x="32" y="1"/>
                  <ns1:pt x="38" y="0"/>
                  <ns1:pt x="44" y="0"/>
                </ns1:cubicBezTo>
                <ns1:cubicBezTo>
                  <ns1:pt x="50" y="0"/>
                  <ns1:pt x="55" y="1"/>
                  <ns1:pt x="61" y="3"/>
                </ns1:cubicBezTo>
                <ns1:cubicBezTo>
                  <ns1:pt x="66" y="5"/>
                  <ns1:pt x="71" y="8"/>
                  <ns1:pt x="75" y="12"/>
                </ns1:cubicBezTo>
                <ns1:cubicBezTo>
                  <ns1:pt x="79" y="16"/>
                  <ns1:pt x="82" y="21"/>
                  <ns1:pt x="84" y="26"/>
                </ns1:cubicBezTo>
                <ns1:cubicBezTo>
                  <ns1:pt x="86" y="31"/>
                  <ns1:pt x="87" y="37"/>
                  <ns1:pt x="87" y="44"/>
                </ns1:cubicBezTo>
                <ns1:close/>
              </ns1:path>
            </ns1:pathLst>
          </ns1:custGeom>
          <ns1:solidFill>
            <ns1:srgbClr val="d62728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8" name=""/>
          <ns0:cNvSpPr/>
          <ns0:nvPr/>
        </ns0:nvSpPr>
        <ns0:spPr>
          <ns1:xfrm flipV="1">
            <ns1:off x="11285640" y="3350160"/>
            <ns1:ext cx="0" cy="15480"/>
          </ns1:xfrm>
          <ns1:prstGeom prst="line">
            <ns1:avLst/>
          </ns1:prstGeom>
          <ns1:ln w="5040">
            <ns1:solidFill>
              <ns1:srgbClr val="d62728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49" name=""/>
          <ns0:cNvSpPr/>
          <ns0:nvPr/>
        </ns0:nvSpPr>
        <ns0:spPr>
          <ns1:xfrm>
            <ns1:off x="11270160" y="334512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4"/>
                </ns1:moveTo>
                <ns1:cubicBezTo>
                  <ns1:pt x="87" y="49"/>
                  <ns1:pt x="86" y="55"/>
                  <ns1:pt x="84" y="60"/>
                </ns1:cubicBezTo>
                <ns1:cubicBezTo>
                  <ns1:pt x="82" y="65"/>
                  <ns1:pt x="78" y="70"/>
                  <ns1:pt x="74" y="74"/>
                </ns1:cubicBezTo>
                <ns1:cubicBezTo>
                  <ns1:pt x="70" y="78"/>
                  <ns1:pt x="66" y="81"/>
                  <ns1:pt x="60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7" y="87"/>
                  <ns1:pt x="32" y="86"/>
                  <ns1:pt x="26" y="84"/>
                </ns1:cubicBezTo>
                <ns1:cubicBezTo>
                  <ns1:pt x="21" y="81"/>
                  <ns1:pt x="16" y="78"/>
                  <ns1:pt x="12" y="74"/>
                </ns1:cubicBezTo>
                <ns1:cubicBezTo>
                  <ns1:pt x="8" y="70"/>
                  <ns1:pt x="5" y="65"/>
                  <ns1:pt x="3" y="60"/>
                </ns1:cubicBezTo>
                <ns1:cubicBezTo>
                  <ns1:pt x="1" y="55"/>
                  <ns1:pt x="0" y="49"/>
                  <ns1:pt x="0" y="44"/>
                </ns1:cubicBezTo>
                <ns1:cubicBezTo>
                  <ns1:pt x="0" y="37"/>
                  <ns1:pt x="1" y="31"/>
                  <ns1:pt x="3" y="26"/>
                </ns1:cubicBezTo>
                <ns1:cubicBezTo>
                  <ns1:pt x="5" y="21"/>
                  <ns1:pt x="8" y="16"/>
                  <ns1:pt x="12" y="12"/>
                </ns1:cubicBezTo>
                <ns1:cubicBezTo>
                  <ns1:pt x="16" y="8"/>
                  <ns1:pt x="21" y="5"/>
                  <ns1:pt x="26" y="3"/>
                </ns1:cubicBezTo>
                <ns1:cubicBezTo>
                  <ns1:pt x="32" y="1"/>
                  <ns1:pt x="37" y="0"/>
                  <ns1:pt x="44" y="0"/>
                </ns1:cubicBezTo>
                <ns1:cubicBezTo>
                  <ns1:pt x="50" y="0"/>
                  <ns1:pt x="55" y="1"/>
                  <ns1:pt x="60" y="3"/>
                </ns1:cubicBezTo>
                <ns1:cubicBezTo>
                  <ns1:pt x="66" y="5"/>
                  <ns1:pt x="70" y="8"/>
                  <ns1:pt x="74" y="12"/>
                </ns1:cubicBezTo>
                <ns1:cubicBezTo>
                  <ns1:pt x="78" y="16"/>
                  <ns1:pt x="82" y="21"/>
                  <ns1:pt x="84" y="26"/>
                </ns1:cubicBezTo>
                <ns1:cubicBezTo>
                  <ns1:pt x="86" y="31"/>
                  <ns1:pt x="87" y="37"/>
                  <ns1:pt x="87" y="44"/>
                </ns1:cubicBezTo>
                <ns1:close/>
              </ns1:path>
            </ns1:pathLst>
          </ns1:custGeom>
          <ns1:solidFill>
            <ns1:srgbClr val="d62728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1" name=""/>
          <ns0:cNvSpPr/>
          <ns0:nvPr/>
        </ns0:nvSpPr>
        <ns0:spPr>
          <ns1:xfrm>
            <ns1:off x="9313200" y="2941200"/>
            <ns1:ext cx="1972800" cy="424800"/>
          </ns1:xfrm>
          <ns1:custGeom>
            <ns1:avLst/>
            <ns1:gdLst/>
            <ns1:ahLst/>
            <ns1:rect l="0" t="0" r="r" b="b"/>
            <ns1:pathLst>
              <ns1:path fill="none" w="5480" h="1180">
                <ns1:moveTo>
                  <ns1:pt x="0" y="1180"/>
                </ns1:moveTo>
                <ns1:lnTo>
                  <ns1:pt x="1370" y="302"/>
                </ns1:lnTo>
                <ns1:lnTo>
                  <ns1:pt x="2740" y="115"/>
                </ns1:lnTo>
                <ns1:lnTo>
                  <ns1:pt x="4109" y="29"/>
                </ns1:lnTo>
                <ns1:lnTo>
                  <ns1:pt x="5480" y="0"/>
                </ns1:lnTo>
              </ns1:path>
            </ns1:pathLst>
          </ns1:custGeom>
          <ns1:ln w="11160">
            <ns1:solidFill>
              <ns1:srgbClr val="1f77b4"/>
            </ns1:solidFill>
            <ns1:miter/>
          </ns1:ln>
        </ns0:spPr>
        <ns0:txBody>
          <ns1:bodyPr lIns="5400" rIns="5400" tIns="5400" bIns="540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2" name=""/>
          <ns0:cNvSpPr/>
          <ns0:nvPr/>
        </ns0:nvSpPr>
        <ns0:spPr>
          <ns1:xfrm flipV="1">
            <ns1:off x="9313200" y="3365640"/>
            <ns1:ext cx="0" cy="5040"/>
          </ns1:xfrm>
          <ns1:prstGeom prst="line">
            <ns1:avLst/>
          </ns1:prstGeom>
          <ns1:ln w="5040">
            <ns1:solidFill>
              <ns1:srgbClr val="1f77b4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3" name=""/>
          <ns0:cNvSpPr/>
          <ns0:nvPr/>
        </ns0:nvSpPr>
        <ns0:spPr>
          <ns1:xfrm>
            <ns1:off x="9297720" y="3350160"/>
            <ns1:ext cx="31680" cy="31320"/>
          </ns1:xfrm>
          <ns1:custGeom>
            <ns1:avLst/>
            <ns1:gdLst/>
            <ns1:ahLst/>
            <ns1:rect l="0" t="0" r="r" b="b"/>
            <ns1:pathLst>
              <ns1:path w="88" h="87">
                <ns1:moveTo>
                  <ns1:pt x="88" y="44"/>
                </ns1:moveTo>
                <ns1:cubicBezTo>
                  <ns1:pt x="88" y="50"/>
                  <ns1:pt x="87" y="55"/>
                  <ns1:pt x="84" y="61"/>
                </ns1:cubicBezTo>
                <ns1:cubicBezTo>
                  <ns1:pt x="82" y="66"/>
                  <ns1:pt x="79" y="71"/>
                  <ns1:pt x="75" y="75"/>
                </ns1:cubicBezTo>
                <ns1:cubicBezTo>
                  <ns1:pt x="71" y="79"/>
                  <ns1:pt x="66" y="82"/>
                  <ns1:pt x="61" y="84"/>
                </ns1:cubicBezTo>
                <ns1:cubicBezTo>
                  <ns1:pt x="56" y="86"/>
                  <ns1:pt x="50" y="87"/>
                  <ns1:pt x="44" y="87"/>
                </ns1:cubicBezTo>
                <ns1:cubicBezTo>
                  <ns1:pt x="39" y="87"/>
                  <ns1:pt x="33" y="86"/>
                  <ns1:pt x="28" y="84"/>
                </ns1:cubicBezTo>
                <ns1:cubicBezTo>
                  <ns1:pt x="22" y="82"/>
                  <ns1:pt x="18" y="79"/>
                  <ns1:pt x="13" y="75"/>
                </ns1:cubicBezTo>
                <ns1:cubicBezTo>
                  <ns1:pt x="9" y="71"/>
                  <ns1:pt x="6" y="66"/>
                  <ns1:pt x="3" y="61"/>
                </ns1:cubicBezTo>
                <ns1:cubicBezTo>
                  <ns1:pt x="1" y="55"/>
                  <ns1:pt x="0" y="50"/>
                  <ns1:pt x="0" y="44"/>
                </ns1:cubicBezTo>
                <ns1:cubicBezTo>
                  <ns1:pt x="0" y="38"/>
                  <ns1:pt x="1" y="33"/>
                  <ns1:pt x="3" y="28"/>
                </ns1:cubicBezTo>
                <ns1:cubicBezTo>
                  <ns1:pt x="6" y="21"/>
                  <ns1:pt x="9" y="17"/>
                  <ns1:pt x="13" y="13"/>
                </ns1:cubicBezTo>
                <ns1:cubicBezTo>
                  <ns1:pt x="18" y="9"/>
                  <ns1:pt x="22" y="5"/>
                  <ns1:pt x="28" y="3"/>
                </ns1:cubicBezTo>
                <ns1:cubicBezTo>
                  <ns1:pt x="33" y="1"/>
                  <ns1:pt x="39" y="0"/>
                  <ns1:pt x="44" y="0"/>
                </ns1:cubicBezTo>
                <ns1:cubicBezTo>
                  <ns1:pt x="50" y="0"/>
                  <ns1:pt x="56" y="1"/>
                  <ns1:pt x="61" y="3"/>
                </ns1:cubicBezTo>
                <ns1:cubicBezTo>
                  <ns1:pt x="66" y="5"/>
                  <ns1:pt x="71" y="9"/>
                  <ns1:pt x="75" y="13"/>
                </ns1:cubicBezTo>
                <ns1:cubicBezTo>
                  <ns1:pt x="79" y="17"/>
                  <ns1:pt x="82" y="21"/>
                  <ns1:pt x="84" y="28"/>
                </ns1:cubicBezTo>
                <ns1:cubicBezTo>
                  <ns1:pt x="87" y="33"/>
                  <ns1:pt x="88" y="38"/>
                  <ns1:pt x="88" y="44"/>
                </ns1:cubicBez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4" name=""/>
          <ns0:cNvSpPr/>
          <ns0:nvPr/>
        </ns0:nvSpPr>
        <ns0:spPr>
          <ns1:xfrm flipV="1">
            <ns1:off x="9806400" y="3034440"/>
            <ns1:ext cx="0" cy="25920"/>
          </ns1:xfrm>
          <ns1:prstGeom prst="line">
            <ns1:avLst/>
          </ns1:prstGeom>
          <ns1:ln w="5040">
            <ns1:solidFill>
              <ns1:srgbClr val="1f77b4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5" name=""/>
          <ns0:cNvSpPr/>
          <ns0:nvPr/>
        </ns0:nvSpPr>
        <ns0:spPr>
          <ns1:xfrm>
            <ns1:off x="9790920" y="303444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4"/>
                </ns1:moveTo>
                <ns1:cubicBezTo>
                  <ns1:pt x="87" y="50"/>
                  <ns1:pt x="86" y="55"/>
                  <ns1:pt x="84" y="60"/>
                </ns1:cubicBezTo>
                <ns1:cubicBezTo>
                  <ns1:pt x="82" y="66"/>
                  <ns1:pt x="79" y="70"/>
                  <ns1:pt x="75" y="74"/>
                </ns1:cubicBezTo>
                <ns1:cubicBezTo>
                  <ns1:pt x="70" y="78"/>
                  <ns1:pt x="66" y="82"/>
                  <ns1:pt x="61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8" y="87"/>
                  <ns1:pt x="33" y="86"/>
                  <ns1:pt x="27" y="84"/>
                </ns1:cubicBezTo>
                <ns1:cubicBezTo>
                  <ns1:pt x="21" y="82"/>
                  <ns1:pt x="16" y="78"/>
                  <ns1:pt x="12" y="74"/>
                </ns1:cubicBezTo>
                <ns1:cubicBezTo>
                  <ns1:pt x="8" y="70"/>
                  <ns1:pt x="5" y="66"/>
                  <ns1:pt x="3" y="60"/>
                </ns1:cubicBezTo>
                <ns1:cubicBezTo>
                  <ns1:pt x="1" y="55"/>
                  <ns1:pt x="0" y="50"/>
                  <ns1:pt x="0" y="44"/>
                </ns1:cubicBezTo>
                <ns1:cubicBezTo>
                  <ns1:pt x="0" y="37"/>
                  <ns1:pt x="1" y="32"/>
                  <ns1:pt x="3" y="26"/>
                </ns1:cubicBezTo>
                <ns1:cubicBezTo>
                  <ns1:pt x="5" y="21"/>
                  <ns1:pt x="8" y="16"/>
                  <ns1:pt x="12" y="12"/>
                </ns1:cubicBezTo>
                <ns1:cubicBezTo>
                  <ns1:pt x="16" y="8"/>
                  <ns1:pt x="21" y="5"/>
                  <ns1:pt x="27" y="3"/>
                </ns1:cubicBezTo>
                <ns1:cubicBezTo>
                  <ns1:pt x="33" y="1"/>
                  <ns1:pt x="38" y="0"/>
                  <ns1:pt x="44" y="0"/>
                </ns1:cubicBezTo>
                <ns1:cubicBezTo>
                  <ns1:pt x="50" y="0"/>
                  <ns1:pt x="55" y="1"/>
                  <ns1:pt x="61" y="3"/>
                </ns1:cubicBezTo>
                <ns1:cubicBezTo>
                  <ns1:pt x="66" y="5"/>
                  <ns1:pt x="70" y="8"/>
                  <ns1:pt x="75" y="12"/>
                </ns1:cubicBezTo>
                <ns1:cubicBezTo>
                  <ns1:pt x="79" y="16"/>
                  <ns1:pt x="82" y="21"/>
                  <ns1:pt x="84" y="26"/>
                </ns1:cubicBezTo>
                <ns1:cubicBezTo>
                  <ns1:pt x="86" y="32"/>
                  <ns1:pt x="87" y="37"/>
                  <ns1:pt x="87" y="44"/>
                </ns1:cubicBez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6" name=""/>
          <ns0:cNvSpPr/>
          <ns0:nvPr/>
        </ns0:nvSpPr>
        <ns0:spPr>
          <ns1:xfrm flipV="1">
            <ns1:off x="10299600" y="2967120"/>
            <ns1:ext cx="0" cy="30960"/>
          </ns1:xfrm>
          <ns1:prstGeom prst="line">
            <ns1:avLst/>
          </ns1:prstGeom>
          <ns1:ln w="5040">
            <ns1:solidFill>
              <ns1:srgbClr val="1f77b4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7" name=""/>
          <ns0:cNvSpPr/>
          <ns0:nvPr/>
        </ns0:nvSpPr>
        <ns0:spPr>
          <ns1:xfrm>
            <ns1:off x="10283760" y="2967120"/>
            <ns1:ext cx="31680" cy="31320"/>
          </ns1:xfrm>
          <ns1:custGeom>
            <ns1:avLst/>
            <ns1:gdLst/>
            <ns1:ahLst/>
            <ns1:rect l="0" t="0" r="r" b="b"/>
            <ns1:pathLst>
              <ns1:path w="88" h="87">
                <ns1:moveTo>
                  <ns1:pt x="88" y="43"/>
                </ns1:moveTo>
                <ns1:cubicBezTo>
                  <ns1:pt x="88" y="49"/>
                  <ns1:pt x="87" y="54"/>
                  <ns1:pt x="85" y="60"/>
                </ns1:cubicBezTo>
                <ns1:cubicBezTo>
                  <ns1:pt x="82" y="66"/>
                  <ns1:pt x="79" y="70"/>
                  <ns1:pt x="75" y="74"/>
                </ns1:cubicBezTo>
                <ns1:cubicBezTo>
                  <ns1:pt x="71" y="79"/>
                  <ns1:pt x="66" y="82"/>
                  <ns1:pt x="61" y="84"/>
                </ns1:cubicBezTo>
                <ns1:cubicBezTo>
                  <ns1:pt x="56" y="86"/>
                  <ns1:pt x="50" y="87"/>
                  <ns1:pt x="45" y="87"/>
                </ns1:cubicBezTo>
                <ns1:cubicBezTo>
                  <ns1:pt x="39" y="87"/>
                  <ns1:pt x="33" y="86"/>
                  <ns1:pt x="27" y="84"/>
                </ns1:cubicBezTo>
                <ns1:cubicBezTo>
                  <ns1:pt x="22" y="82"/>
                  <ns1:pt x="17" y="79"/>
                  <ns1:pt x="13" y="74"/>
                </ns1:cubicBezTo>
                <ns1:cubicBezTo>
                  <ns1:pt x="9" y="70"/>
                  <ns1:pt x="6" y="66"/>
                  <ns1:pt x="4" y="60"/>
                </ns1:cubicBezTo>
                <ns1:cubicBezTo>
                  <ns1:pt x="1" y="54"/>
                  <ns1:pt x="0" y="49"/>
                  <ns1:pt x="0" y="43"/>
                </ns1:cubicBezTo>
                <ns1:cubicBezTo>
                  <ns1:pt x="0" y="37"/>
                  <ns1:pt x="1" y="32"/>
                  <ns1:pt x="4" y="26"/>
                </ns1:cubicBezTo>
                <ns1:cubicBezTo>
                  <ns1:pt x="6" y="21"/>
                  <ns1:pt x="9" y="17"/>
                  <ns1:pt x="13" y="12"/>
                </ns1:cubicBezTo>
                <ns1:cubicBezTo>
                  <ns1:pt x="17" y="8"/>
                  <ns1:pt x="22" y="5"/>
                  <ns1:pt x="27" y="3"/>
                </ns1:cubicBezTo>
                <ns1:cubicBezTo>
                  <ns1:pt x="33" y="1"/>
                  <ns1:pt x="39" y="0"/>
                  <ns1:pt x="45" y="0"/>
                </ns1:cubicBezTo>
                <ns1:cubicBezTo>
                  <ns1:pt x="50" y="0"/>
                  <ns1:pt x="56" y="1"/>
                  <ns1:pt x="61" y="3"/>
                </ns1:cubicBezTo>
                <ns1:cubicBezTo>
                  <ns1:pt x="66" y="5"/>
                  <ns1:pt x="71" y="8"/>
                  <ns1:pt x="75" y="12"/>
                </ns1:cubicBezTo>
                <ns1:cubicBezTo>
                  <ns1:pt x="79" y="17"/>
                  <ns1:pt x="82" y="21"/>
                  <ns1:pt x="85" y="26"/>
                </ns1:cubicBezTo>
                <ns1:cubicBezTo>
                  <ns1:pt x="87" y="32"/>
                  <ns1:pt x="88" y="37"/>
                  <ns1:pt x="88" y="43"/>
                </ns1:cubicBez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8" name=""/>
          <ns0:cNvSpPr/>
          <ns0:nvPr/>
        </ns0:nvSpPr>
        <ns0:spPr>
          <ns1:xfrm flipV="1">
            <ns1:off x="10792440" y="2936160"/>
            <ns1:ext cx="0" cy="36000"/>
          </ns1:xfrm>
          <ns1:prstGeom prst="line">
            <ns1:avLst/>
          </ns1:prstGeom>
          <ns1:ln w="5040">
            <ns1:solidFill>
              <ns1:srgbClr val="1f77b4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59" name=""/>
          <ns0:cNvSpPr/>
          <ns0:nvPr/>
        </ns0:nvSpPr>
        <ns0:spPr>
          <ns1:xfrm>
            <ns1:off x="10776960" y="293616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3"/>
                </ns1:moveTo>
                <ns1:cubicBezTo>
                  <ns1:pt x="87" y="48"/>
                  <ns1:pt x="86" y="54"/>
                  <ns1:pt x="84" y="60"/>
                </ns1:cubicBezTo>
                <ns1:cubicBezTo>
                  <ns1:pt x="82" y="66"/>
                  <ns1:pt x="79" y="70"/>
                  <ns1:pt x="75" y="74"/>
                </ns1:cubicBezTo>
                <ns1:cubicBezTo>
                  <ns1:pt x="71" y="78"/>
                  <ns1:pt x="66" y="81"/>
                  <ns1:pt x="61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8" y="87"/>
                  <ns1:pt x="32" y="86"/>
                  <ns1:pt x="27" y="84"/>
                </ns1:cubicBezTo>
                <ns1:cubicBezTo>
                  <ns1:pt x="21" y="81"/>
                  <ns1:pt x="17" y="78"/>
                  <ns1:pt x="13" y="74"/>
                </ns1:cubicBezTo>
                <ns1:cubicBezTo>
                  <ns1:pt x="9" y="70"/>
                  <ns1:pt x="5" y="66"/>
                  <ns1:pt x="3" y="60"/>
                </ns1:cubicBezTo>
                <ns1:cubicBezTo>
                  <ns1:pt x="1" y="54"/>
                  <ns1:pt x="0" y="48"/>
                  <ns1:pt x="0" y="43"/>
                </ns1:cubicBezTo>
                <ns1:cubicBezTo>
                  <ns1:pt x="0" y="37"/>
                  <ns1:pt x="1" y="31"/>
                  <ns1:pt x="3" y="26"/>
                </ns1:cubicBezTo>
                <ns1:cubicBezTo>
                  <ns1:pt x="5" y="21"/>
                  <ns1:pt x="9" y="16"/>
                  <ns1:pt x="13" y="12"/>
                </ns1:cubicBezTo>
                <ns1:cubicBezTo>
                  <ns1:pt x="17" y="8"/>
                  <ns1:pt x="21" y="5"/>
                  <ns1:pt x="27" y="3"/>
                </ns1:cubicBezTo>
                <ns1:cubicBezTo>
                  <ns1:pt x="32" y="1"/>
                  <ns1:pt x="38" y="0"/>
                  <ns1:pt x="44" y="0"/>
                </ns1:cubicBezTo>
                <ns1:cubicBezTo>
                  <ns1:pt x="50" y="0"/>
                  <ns1:pt x="55" y="1"/>
                  <ns1:pt x="61" y="3"/>
                </ns1:cubicBezTo>
                <ns1:cubicBezTo>
                  <ns1:pt x="66" y="5"/>
                  <ns1:pt x="71" y="8"/>
                  <ns1:pt x="75" y="12"/>
                </ns1:cubicBezTo>
                <ns1:cubicBezTo>
                  <ns1:pt x="79" y="16"/>
                  <ns1:pt x="82" y="21"/>
                  <ns1:pt x="84" y="26"/>
                </ns1:cubicBezTo>
                <ns1:cubicBezTo>
                  <ns1:pt x="86" y="31"/>
                  <ns1:pt x="87" y="37"/>
                  <ns1:pt x="87" y="43"/>
                </ns1:cubicBez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0" name=""/>
          <ns0:cNvSpPr/>
          <ns0:nvPr/>
        </ns0:nvSpPr>
        <ns0:spPr>
          <ns1:xfrm flipV="1">
            <ns1:off x="11285640" y="2920320"/>
            <ns1:ext cx="0" cy="36360"/>
          </ns1:xfrm>
          <ns1:prstGeom prst="line">
            <ns1:avLst/>
          </ns1:prstGeom>
          <ns1:ln w="5040">
            <ns1:solidFill>
              <ns1:srgbClr val="1f77b4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1" name=""/>
          <ns0:cNvSpPr/>
          <ns0:nvPr/>
        </ns0:nvSpPr>
        <ns0:spPr>
          <ns1:xfrm>
            <ns1:off x="11270160" y="292572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3"/>
                </ns1:moveTo>
                <ns1:cubicBezTo>
                  <ns1:pt x="87" y="49"/>
                  <ns1:pt x="86" y="54"/>
                  <ns1:pt x="84" y="59"/>
                </ns1:cubicBezTo>
                <ns1:cubicBezTo>
                  <ns1:pt x="82" y="65"/>
                  <ns1:pt x="78" y="69"/>
                  <ns1:pt x="74" y="73"/>
                </ns1:cubicBezTo>
                <ns1:cubicBezTo>
                  <ns1:pt x="70" y="77"/>
                  <ns1:pt x="66" y="81"/>
                  <ns1:pt x="60" y="83"/>
                </ns1:cubicBezTo>
                <ns1:cubicBezTo>
                  <ns1:pt x="55" y="85"/>
                  <ns1:pt x="50" y="87"/>
                  <ns1:pt x="44" y="87"/>
                </ns1:cubicBezTo>
                <ns1:cubicBezTo>
                  <ns1:pt x="37" y="87"/>
                  <ns1:pt x="32" y="85"/>
                  <ns1:pt x="26" y="83"/>
                </ns1:cubicBezTo>
                <ns1:cubicBezTo>
                  <ns1:pt x="21" y="81"/>
                  <ns1:pt x="16" y="77"/>
                  <ns1:pt x="12" y="73"/>
                </ns1:cubicBezTo>
                <ns1:cubicBezTo>
                  <ns1:pt x="8" y="69"/>
                  <ns1:pt x="5" y="65"/>
                  <ns1:pt x="3" y="59"/>
                </ns1:cubicBezTo>
                <ns1:cubicBezTo>
                  <ns1:pt x="1" y="54"/>
                  <ns1:pt x="0" y="49"/>
                  <ns1:pt x="0" y="43"/>
                </ns1:cubicBezTo>
                <ns1:cubicBezTo>
                  <ns1:pt x="0" y="37"/>
                  <ns1:pt x="1" y="32"/>
                  <ns1:pt x="3" y="26"/>
                </ns1:cubicBezTo>
                <ns1:cubicBezTo>
                  <ns1:pt x="5" y="21"/>
                  <ns1:pt x="8" y="16"/>
                  <ns1:pt x="12" y="12"/>
                </ns1:cubicBezTo>
                <ns1:cubicBezTo>
                  <ns1:pt x="16" y="8"/>
                  <ns1:pt x="21" y="5"/>
                  <ns1:pt x="26" y="3"/>
                </ns1:cubicBezTo>
                <ns1:cubicBezTo>
                  <ns1:pt x="32" y="1"/>
                  <ns1:pt x="37" y="0"/>
                  <ns1:pt x="44" y="0"/>
                </ns1:cubicBezTo>
                <ns1:cubicBezTo>
                  <ns1:pt x="50" y="0"/>
                  <ns1:pt x="55" y="1"/>
                  <ns1:pt x="60" y="3"/>
                </ns1:cubicBezTo>
                <ns1:cubicBezTo>
                  <ns1:pt x="66" y="5"/>
                  <ns1:pt x="70" y="8"/>
                  <ns1:pt x="74" y="12"/>
                </ns1:cubicBezTo>
                <ns1:cubicBezTo>
                  <ns1:pt x="78" y="16"/>
                  <ns1:pt x="82" y="21"/>
                  <ns1:pt x="84" y="26"/>
                </ns1:cubicBezTo>
                <ns1:cubicBezTo>
                  <ns1:pt x="86" y="32"/>
                  <ns1:pt x="87" y="37"/>
                  <ns1:pt x="87" y="43"/>
                </ns1:cubicBez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3" name=""/>
          <ns0:cNvSpPr/>
          <ns0:nvPr/>
        </ns0:nvSpPr>
        <ns0:spPr>
          <ns1:xfrm>
            <ns1:off x="9313200" y="3215520"/>
            <ns1:ext cx="1972800" cy="207360"/>
          </ns1:xfrm>
          <ns1:custGeom>
            <ns1:avLst/>
            <ns1:gdLst/>
            <ns1:ahLst/>
            <ns1:rect l="0" t="0" r="r" b="b"/>
            <ns1:pathLst>
              <ns1:path fill="none" w="5480" h="576">
                <ns1:moveTo>
                  <ns1:pt x="0" y="576"/>
                </ns1:moveTo>
                <ns1:lnTo>
                  <ns1:pt x="1370" y="115"/>
                </ns1:lnTo>
                <ns1:lnTo>
                  <ns1:pt x="2740" y="43"/>
                </ns1:lnTo>
                <ns1:lnTo>
                  <ns1:pt x="4109" y="14"/>
                </ns1:lnTo>
                <ns1:lnTo>
                  <ns1:pt x="5480" y="0"/>
                </ns1:lnTo>
              </ns1:path>
            </ns1:pathLst>
          </ns1:custGeom>
          <ns1:ln w="11160">
            <ns1:solidFill>
              <ns1:srgbClr val="2ca02c"/>
            </ns1:solidFill>
            <ns1:miter/>
          </ns1:ln>
        </ns0:spPr>
        <ns0:txBody>
          <ns1:bodyPr lIns="5400" rIns="5400" tIns="5400" bIns="540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4" name=""/>
          <ns0:cNvSpPr/>
          <ns0:nvPr/>
        </ns0:nvSpPr>
        <ns0:spPr>
          <ns1:xfrm flipV="1">
            <ns1:off x="9313200" y="3417480"/>
            <ns1:ext cx="0" cy="10440"/>
          </ns1:xfrm>
          <ns1:prstGeom prst="line">
            <ns1:avLst/>
          </ns1:prstGeom>
          <ns1:ln w="5040">
            <ns1:solidFill>
              <ns1:srgbClr val="2ca02c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5" name=""/>
          <ns0:cNvSpPr/>
          <ns0:nvPr/>
        </ns0:nvSpPr>
        <ns0:spPr>
          <ns1:xfrm>
            <ns1:off x="9297720" y="3407040"/>
            <ns1:ext cx="31680" cy="31320"/>
          </ns1:xfrm>
          <ns1:custGeom>
            <ns1:avLst/>
            <ns1:gdLst/>
            <ns1:ahLst/>
            <ns1:rect l="0" t="0" r="r" b="b"/>
            <ns1:pathLst>
              <ns1:path w="88" h="87">
                <ns1:moveTo>
                  <ns1:pt x="88" y="44"/>
                </ns1:moveTo>
                <ns1:cubicBezTo>
                  <ns1:pt x="88" y="50"/>
                  <ns1:pt x="87" y="55"/>
                  <ns1:pt x="84" y="61"/>
                </ns1:cubicBezTo>
                <ns1:cubicBezTo>
                  <ns1:pt x="82" y="66"/>
                  <ns1:pt x="79" y="71"/>
                  <ns1:pt x="75" y="75"/>
                </ns1:cubicBezTo>
                <ns1:cubicBezTo>
                  <ns1:pt x="71" y="79"/>
                  <ns1:pt x="66" y="82"/>
                  <ns1:pt x="61" y="84"/>
                </ns1:cubicBezTo>
                <ns1:cubicBezTo>
                  <ns1:pt x="56" y="86"/>
                  <ns1:pt x="50" y="87"/>
                  <ns1:pt x="44" y="87"/>
                </ns1:cubicBezTo>
                <ns1:cubicBezTo>
                  <ns1:pt x="39" y="87"/>
                  <ns1:pt x="33" y="86"/>
                  <ns1:pt x="28" y="84"/>
                </ns1:cubicBezTo>
                <ns1:cubicBezTo>
                  <ns1:pt x="22" y="82"/>
                  <ns1:pt x="18" y="79"/>
                  <ns1:pt x="13" y="75"/>
                </ns1:cubicBezTo>
                <ns1:cubicBezTo>
                  <ns1:pt x="9" y="71"/>
                  <ns1:pt x="6" y="66"/>
                  <ns1:pt x="3" y="61"/>
                </ns1:cubicBezTo>
                <ns1:cubicBezTo>
                  <ns1:pt x="1" y="55"/>
                  <ns1:pt x="0" y="50"/>
                  <ns1:pt x="0" y="44"/>
                </ns1:cubicBezTo>
                <ns1:cubicBezTo>
                  <ns1:pt x="0" y="38"/>
                  <ns1:pt x="1" y="32"/>
                  <ns1:pt x="3" y="27"/>
                </ns1:cubicBezTo>
                <ns1:cubicBezTo>
                  <ns1:pt x="6" y="21"/>
                  <ns1:pt x="9" y="17"/>
                  <ns1:pt x="13" y="13"/>
                </ns1:cubicBezTo>
                <ns1:cubicBezTo>
                  <ns1:pt x="18" y="9"/>
                  <ns1:pt x="22" y="6"/>
                  <ns1:pt x="28" y="3"/>
                </ns1:cubicBezTo>
                <ns1:cubicBezTo>
                  <ns1:pt x="33" y="1"/>
                  <ns1:pt x="39" y="0"/>
                  <ns1:pt x="44" y="0"/>
                </ns1:cubicBezTo>
                <ns1:cubicBezTo>
                  <ns1:pt x="50" y="0"/>
                  <ns1:pt x="56" y="1"/>
                  <ns1:pt x="61" y="3"/>
                </ns1:cubicBezTo>
                <ns1:cubicBezTo>
                  <ns1:pt x="66" y="6"/>
                  <ns1:pt x="71" y="9"/>
                  <ns1:pt x="75" y="13"/>
                </ns1:cubicBezTo>
                <ns1:cubicBezTo>
                  <ns1:pt x="79" y="17"/>
                  <ns1:pt x="82" y="21"/>
                  <ns1:pt x="84" y="27"/>
                </ns1:cubicBezTo>
                <ns1:cubicBezTo>
                  <ns1:pt x="87" y="32"/>
                  <ns1:pt x="88" y="38"/>
                  <ns1:pt x="88" y="44"/>
                </ns1:cubicBezTo>
                <ns1:close/>
              </ns1:path>
            </ns1:pathLst>
          </ns1:custGeom>
          <ns1:solidFill>
            <ns1:srgbClr val="2ca02c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6" name=""/>
          <ns0:cNvSpPr/>
          <ns0:nvPr/>
        </ns0:nvSpPr>
        <ns0:spPr>
          <ns1:xfrm flipV="1">
            <ns1:off x="9806400" y="3246480"/>
            <ns1:ext cx="0" cy="25920"/>
          </ns1:xfrm>
          <ns1:prstGeom prst="line">
            <ns1:avLst/>
          </ns1:prstGeom>
          <ns1:ln w="5040">
            <ns1:solidFill>
              <ns1:srgbClr val="2ca02c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7" name=""/>
          <ns0:cNvSpPr/>
          <ns0:nvPr/>
        </ns0:nvSpPr>
        <ns0:spPr>
          <ns1:xfrm>
            <ns1:off x="9790920" y="324144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3"/>
                </ns1:moveTo>
                <ns1:cubicBezTo>
                  <ns1:pt x="87" y="49"/>
                  <ns1:pt x="86" y="54"/>
                  <ns1:pt x="84" y="60"/>
                </ns1:cubicBezTo>
                <ns1:cubicBezTo>
                  <ns1:pt x="82" y="65"/>
                  <ns1:pt x="79" y="71"/>
                  <ns1:pt x="75" y="75"/>
                </ns1:cubicBezTo>
                <ns1:cubicBezTo>
                  <ns1:pt x="70" y="79"/>
                  <ns1:pt x="66" y="82"/>
                  <ns1:pt x="61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8" y="87"/>
                  <ns1:pt x="33" y="86"/>
                  <ns1:pt x="27" y="84"/>
                </ns1:cubicBezTo>
                <ns1:cubicBezTo>
                  <ns1:pt x="21" y="82"/>
                  <ns1:pt x="16" y="79"/>
                  <ns1:pt x="12" y="75"/>
                </ns1:cubicBezTo>
                <ns1:cubicBezTo>
                  <ns1:pt x="8" y="71"/>
                  <ns1:pt x="5" y="65"/>
                  <ns1:pt x="3" y="60"/>
                </ns1:cubicBezTo>
                <ns1:cubicBezTo>
                  <ns1:pt x="1" y="54"/>
                  <ns1:pt x="0" y="49"/>
                  <ns1:pt x="0" y="43"/>
                </ns1:cubicBezTo>
                <ns1:cubicBezTo>
                  <ns1:pt x="0" y="37"/>
                  <ns1:pt x="1" y="32"/>
                  <ns1:pt x="3" y="27"/>
                </ns1:cubicBezTo>
                <ns1:cubicBezTo>
                  <ns1:pt x="5" y="21"/>
                  <ns1:pt x="8" y="17"/>
                  <ns1:pt x="12" y="13"/>
                </ns1:cubicBezTo>
                <ns1:cubicBezTo>
                  <ns1:pt x="16" y="9"/>
                  <ns1:pt x="21" y="5"/>
                  <ns1:pt x="27" y="3"/>
                </ns1:cubicBezTo>
                <ns1:cubicBezTo>
                  <ns1:pt x="33" y="1"/>
                  <ns1:pt x="38" y="0"/>
                  <ns1:pt x="44" y="0"/>
                </ns1:cubicBezTo>
                <ns1:cubicBezTo>
                  <ns1:pt x="50" y="0"/>
                  <ns1:pt x="55" y="1"/>
                  <ns1:pt x="61" y="3"/>
                </ns1:cubicBezTo>
                <ns1:cubicBezTo>
                  <ns1:pt x="66" y="5"/>
                  <ns1:pt x="70" y="9"/>
                  <ns1:pt x="75" y="13"/>
                </ns1:cubicBezTo>
                <ns1:cubicBezTo>
                  <ns1:pt x="79" y="17"/>
                  <ns1:pt x="82" y="21"/>
                  <ns1:pt x="84" y="27"/>
                </ns1:cubicBezTo>
                <ns1:cubicBezTo>
                  <ns1:pt x="86" y="32"/>
                  <ns1:pt x="87" y="37"/>
                  <ns1:pt x="87" y="43"/>
                </ns1:cubicBezTo>
                <ns1:close/>
              </ns1:path>
            </ns1:pathLst>
          </ns1:custGeom>
          <ns1:solidFill>
            <ns1:srgbClr val="2ca02c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8" name=""/>
          <ns0:cNvSpPr/>
          <ns0:nvPr/>
        </ns0:nvSpPr>
        <ns0:spPr>
          <ns1:xfrm flipV="1">
            <ns1:off x="10299600" y="3215520"/>
            <ns1:ext cx="0" cy="30960"/>
          </ns1:xfrm>
          <ns1:prstGeom prst="line">
            <ns1:avLst/>
          </ns1:prstGeom>
          <ns1:ln w="5040">
            <ns1:solidFill>
              <ns1:srgbClr val="2ca02c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69" name=""/>
          <ns0:cNvSpPr/>
          <ns0:nvPr/>
        </ns0:nvSpPr>
        <ns0:spPr>
          <ns1:xfrm>
            <ns1:off x="10283760" y="3215520"/>
            <ns1:ext cx="31680" cy="31320"/>
          </ns1:xfrm>
          <ns1:custGeom>
            <ns1:avLst/>
            <ns1:gdLst/>
            <ns1:ahLst/>
            <ns1:rect l="0" t="0" r="r" b="b"/>
            <ns1:pathLst>
              <ns1:path w="88" h="87">
                <ns1:moveTo>
                  <ns1:pt x="88" y="43"/>
                </ns1:moveTo>
                <ns1:cubicBezTo>
                  <ns1:pt x="88" y="49"/>
                  <ns1:pt x="87" y="54"/>
                  <ns1:pt x="85" y="61"/>
                </ns1:cubicBezTo>
                <ns1:cubicBezTo>
                  <ns1:pt x="82" y="66"/>
                  <ns1:pt x="79" y="71"/>
                  <ns1:pt x="75" y="75"/>
                </ns1:cubicBezTo>
                <ns1:cubicBezTo>
                  <ns1:pt x="71" y="79"/>
                  <ns1:pt x="66" y="82"/>
                  <ns1:pt x="61" y="84"/>
                </ns1:cubicBezTo>
                <ns1:cubicBezTo>
                  <ns1:pt x="56" y="86"/>
                  <ns1:pt x="50" y="87"/>
                  <ns1:pt x="45" y="87"/>
                </ns1:cubicBezTo>
                <ns1:cubicBezTo>
                  <ns1:pt x="39" y="87"/>
                  <ns1:pt x="33" y="86"/>
                  <ns1:pt x="27" y="84"/>
                </ns1:cubicBezTo>
                <ns1:cubicBezTo>
                  <ns1:pt x="22" y="82"/>
                  <ns1:pt x="17" y="79"/>
                  <ns1:pt x="13" y="75"/>
                </ns1:cubicBezTo>
                <ns1:cubicBezTo>
                  <ns1:pt x="9" y="71"/>
                  <ns1:pt x="6" y="66"/>
                  <ns1:pt x="4" y="61"/>
                </ns1:cubicBezTo>
                <ns1:cubicBezTo>
                  <ns1:pt x="1" y="54"/>
                  <ns1:pt x="0" y="49"/>
                  <ns1:pt x="0" y="43"/>
                </ns1:cubicBezTo>
                <ns1:cubicBezTo>
                  <ns1:pt x="0" y="37"/>
                  <ns1:pt x="1" y="32"/>
                  <ns1:pt x="4" y="27"/>
                </ns1:cubicBezTo>
                <ns1:cubicBezTo>
                  <ns1:pt x="6" y="21"/>
                  <ns1:pt x="9" y="17"/>
                  <ns1:pt x="13" y="13"/>
                </ns1:cubicBezTo>
                <ns1:cubicBezTo>
                  <ns1:pt x="17" y="9"/>
                  <ns1:pt x="22" y="6"/>
                  <ns1:pt x="27" y="3"/>
                </ns1:cubicBezTo>
                <ns1:cubicBezTo>
                  <ns1:pt x="33" y="1"/>
                  <ns1:pt x="39" y="0"/>
                  <ns1:pt x="45" y="0"/>
                </ns1:cubicBezTo>
                <ns1:cubicBezTo>
                  <ns1:pt x="50" y="0"/>
                  <ns1:pt x="56" y="1"/>
                  <ns1:pt x="61" y="3"/>
                </ns1:cubicBezTo>
                <ns1:cubicBezTo>
                  <ns1:pt x="66" y="6"/>
                  <ns1:pt x="71" y="9"/>
                  <ns1:pt x="75" y="13"/>
                </ns1:cubicBezTo>
                <ns1:cubicBezTo>
                  <ns1:pt x="79" y="17"/>
                  <ns1:pt x="82" y="21"/>
                  <ns1:pt x="85" y="27"/>
                </ns1:cubicBezTo>
                <ns1:cubicBezTo>
                  <ns1:pt x="87" y="32"/>
                  <ns1:pt x="88" y="37"/>
                  <ns1:pt x="88" y="43"/>
                </ns1:cubicBezTo>
                <ns1:close/>
              </ns1:path>
            </ns1:pathLst>
          </ns1:custGeom>
          <ns1:solidFill>
            <ns1:srgbClr val="2ca02c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0" name=""/>
          <ns0:cNvSpPr/>
          <ns0:nvPr/>
        </ns0:nvSpPr>
        <ns0:spPr>
          <ns1:xfrm flipV="1">
            <ns1:off x="10792440" y="3205080"/>
            <ns1:ext cx="0" cy="31320"/>
          </ns1:xfrm>
          <ns1:prstGeom prst="line">
            <ns1:avLst/>
          </ns1:prstGeom>
          <ns1:ln w="5040">
            <ns1:solidFill>
              <ns1:srgbClr val="2ca02c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1" name=""/>
          <ns0:cNvSpPr/>
          <ns0:nvPr/>
        </ns0:nvSpPr>
        <ns0:spPr>
          <ns1:xfrm>
            <ns1:off x="10776960" y="3205080"/>
            <ns1:ext cx="31320" cy="31680"/>
          </ns1:xfrm>
          <ns1:custGeom>
            <ns1:avLst/>
            <ns1:gdLst/>
            <ns1:ahLst/>
            <ns1:rect l="0" t="0" r="r" b="b"/>
            <ns1:pathLst>
              <ns1:path w="87" h="88">
                <ns1:moveTo>
                  <ns1:pt x="87" y="43"/>
                </ns1:moveTo>
                <ns1:cubicBezTo>
                  <ns1:pt x="87" y="49"/>
                  <ns1:pt x="86" y="55"/>
                  <ns1:pt x="84" y="60"/>
                </ns1:cubicBezTo>
                <ns1:cubicBezTo>
                  <ns1:pt x="82" y="65"/>
                  <ns1:pt x="79" y="70"/>
                  <ns1:pt x="75" y="74"/>
                </ns1:cubicBezTo>
                <ns1:cubicBezTo>
                  <ns1:pt x="71" y="78"/>
                  <ns1:pt x="66" y="81"/>
                  <ns1:pt x="61" y="83"/>
                </ns1:cubicBezTo>
                <ns1:cubicBezTo>
                  <ns1:pt x="55" y="86"/>
                  <ns1:pt x="50" y="88"/>
                  <ns1:pt x="44" y="88"/>
                </ns1:cubicBezTo>
                <ns1:cubicBezTo>
                  <ns1:pt x="38" y="88"/>
                  <ns1:pt x="32" y="86"/>
                  <ns1:pt x="27" y="83"/>
                </ns1:cubicBezTo>
                <ns1:cubicBezTo>
                  <ns1:pt x="21" y="81"/>
                  <ns1:pt x="17" y="78"/>
                  <ns1:pt x="13" y="74"/>
                </ns1:cubicBezTo>
                <ns1:cubicBezTo>
                  <ns1:pt x="9" y="70"/>
                  <ns1:pt x="5" y="65"/>
                  <ns1:pt x="3" y="60"/>
                </ns1:cubicBezTo>
                <ns1:cubicBezTo>
                  <ns1:pt x="1" y="55"/>
                  <ns1:pt x="0" y="49"/>
                  <ns1:pt x="0" y="43"/>
                </ns1:cubicBezTo>
                <ns1:cubicBezTo>
                  <ns1:pt x="0" y="38"/>
                  <ns1:pt x="1" y="32"/>
                  <ns1:pt x="3" y="27"/>
                </ns1:cubicBezTo>
                <ns1:cubicBezTo>
                  <ns1:pt x="5" y="22"/>
                  <ns1:pt x="9" y="17"/>
                  <ns1:pt x="13" y="13"/>
                </ns1:cubicBezTo>
                <ns1:cubicBezTo>
                  <ns1:pt x="17" y="9"/>
                  <ns1:pt x="21" y="6"/>
                  <ns1:pt x="27" y="4"/>
                </ns1:cubicBezTo>
                <ns1:cubicBezTo>
                  <ns1:pt x="32" y="1"/>
                  <ns1:pt x="38" y="0"/>
                  <ns1:pt x="44" y="0"/>
                </ns1:cubicBezTo>
                <ns1:cubicBezTo>
                  <ns1:pt x="50" y="0"/>
                  <ns1:pt x="55" y="1"/>
                  <ns1:pt x="61" y="4"/>
                </ns1:cubicBezTo>
                <ns1:cubicBezTo>
                  <ns1:pt x="66" y="6"/>
                  <ns1:pt x="71" y="9"/>
                  <ns1:pt x="75" y="13"/>
                </ns1:cubicBezTo>
                <ns1:cubicBezTo>
                  <ns1:pt x="79" y="17"/>
                  <ns1:pt x="82" y="22"/>
                  <ns1:pt x="84" y="27"/>
                </ns1:cubicBezTo>
                <ns1:cubicBezTo>
                  <ns1:pt x="86" y="32"/>
                  <ns1:pt x="87" y="38"/>
                  <ns1:pt x="87" y="43"/>
                </ns1:cubicBezTo>
                <ns1:close/>
              </ns1:path>
            </ns1:pathLst>
          </ns1:custGeom>
          <ns1:solidFill>
            <ns1:srgbClr val="2ca02c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2" name=""/>
          <ns0:cNvSpPr/>
          <ns0:nvPr/>
        </ns0:nvSpPr>
        <ns0:spPr>
          <ns1:xfrm flipV="1">
            <ns1:off x="11285640" y="3200040"/>
            <ns1:ext cx="0" cy="30960"/>
          </ns1:xfrm>
          <ns1:prstGeom prst="line">
            <ns1:avLst/>
          </ns1:prstGeom>
          <ns1:ln w="5040">
            <ns1:solidFill>
              <ns1:srgbClr val="2ca02c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3" name=""/>
          <ns0:cNvSpPr/>
          <ns0:nvPr/>
        </ns0:nvSpPr>
        <ns0:spPr>
          <ns1:xfrm>
            <ns1:off x="11270160" y="320004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4"/>
                </ns1:moveTo>
                <ns1:cubicBezTo>
                  <ns1:pt x="87" y="50"/>
                  <ns1:pt x="86" y="55"/>
                  <ns1:pt x="84" y="61"/>
                </ns1:cubicBezTo>
                <ns1:cubicBezTo>
                  <ns1:pt x="82" y="66"/>
                  <ns1:pt x="78" y="71"/>
                  <ns1:pt x="74" y="75"/>
                </ns1:cubicBezTo>
                <ns1:cubicBezTo>
                  <ns1:pt x="70" y="79"/>
                  <ns1:pt x="66" y="82"/>
                  <ns1:pt x="60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7" y="87"/>
                  <ns1:pt x="32" y="86"/>
                  <ns1:pt x="26" y="84"/>
                </ns1:cubicBezTo>
                <ns1:cubicBezTo>
                  <ns1:pt x="21" y="82"/>
                  <ns1:pt x="16" y="79"/>
                  <ns1:pt x="12" y="75"/>
                </ns1:cubicBezTo>
                <ns1:cubicBezTo>
                  <ns1:pt x="8" y="71"/>
                  <ns1:pt x="5" y="66"/>
                  <ns1:pt x="3" y="61"/>
                </ns1:cubicBezTo>
                <ns1:cubicBezTo>
                  <ns1:pt x="1" y="55"/>
                  <ns1:pt x="0" y="50"/>
                  <ns1:pt x="0" y="44"/>
                </ns1:cubicBezTo>
                <ns1:cubicBezTo>
                  <ns1:pt x="0" y="38"/>
                  <ns1:pt x="1" y="33"/>
                  <ns1:pt x="3" y="28"/>
                </ns1:cubicBezTo>
                <ns1:cubicBezTo>
                  <ns1:pt x="5" y="22"/>
                  <ns1:pt x="8" y="18"/>
                  <ns1:pt x="12" y="14"/>
                </ns1:cubicBezTo>
                <ns1:cubicBezTo>
                  <ns1:pt x="16" y="9"/>
                  <ns1:pt x="21" y="5"/>
                  <ns1:pt x="26" y="3"/>
                </ns1:cubicBezTo>
                <ns1:cubicBezTo>
                  <ns1:pt x="32" y="1"/>
                  <ns1:pt x="37" y="0"/>
                  <ns1:pt x="44" y="0"/>
                </ns1:cubicBezTo>
                <ns1:cubicBezTo>
                  <ns1:pt x="50" y="0"/>
                  <ns1:pt x="55" y="1"/>
                  <ns1:pt x="60" y="3"/>
                </ns1:cubicBezTo>
                <ns1:cubicBezTo>
                  <ns1:pt x="66" y="5"/>
                  <ns1:pt x="70" y="9"/>
                  <ns1:pt x="74" y="14"/>
                </ns1:cubicBezTo>
                <ns1:cubicBezTo>
                  <ns1:pt x="78" y="18"/>
                  <ns1:pt x="82" y="22"/>
                  <ns1:pt x="84" y="28"/>
                </ns1:cubicBezTo>
                <ns1:cubicBezTo>
                  <ns1:pt x="86" y="33"/>
                  <ns1:pt x="87" y="38"/>
                  <ns1:pt x="87" y="44"/>
                </ns1:cubicBezTo>
                <ns1:close/>
              </ns1:path>
            </ns1:pathLst>
          </ns1:custGeom>
          <ns1:solidFill>
            <ns1:srgbClr val="2ca02c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4" name=""/>
          <ns0:cNvSpPr txBox="1"/>
          <ns0:nvPr/>
        </ns0:nvSpPr>
        <ns0:spPr>
          <ns1:xfrm>
            <ns1:off x="11301120" y="2919960"/>
            <ns1:ext cx="353880" cy="507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1f77b4"/>
                </ns1:solidFill>
                <ns1:effectLst/>
                <ns1:uFillTx/>
                <ns1:latin typeface="Arial"/>
                <ns1:ea typeface="Arial"/>
              </ns1:rPr>
              <ns1:t>Llama4(k1) 2.12x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5" name=""/>
          <ns0:cNvSpPr/>
          <ns0:nvPr/>
        </ns0:nvSpPr>
        <ns0:spPr>
          <ns1:xfrm>
            <ns1:off x="9313200" y="3319200"/>
            <ns1:ext cx="1972800" cy="135000"/>
          </ns1:xfrm>
          <ns1:custGeom>
            <ns1:avLst/>
            <ns1:gdLst/>
            <ns1:ahLst/>
            <ns1:rect l="0" t="0" r="r" b="b"/>
            <ns1:pathLst>
              <ns1:path fill="none" w="5480" h="375">
                <ns1:moveTo>
                  <ns1:pt x="0" y="375"/>
                </ns1:moveTo>
                <ns1:lnTo>
                  <ns1:pt x="1370" y="86"/>
                </ns1:lnTo>
                <ns1:lnTo>
                  <ns1:pt x="2740" y="28"/>
                </ns1:lnTo>
                <ns1:lnTo>
                  <ns1:pt x="4109" y="14"/>
                </ns1:lnTo>
                <ns1:lnTo>
                  <ns1:pt x="5480" y="0"/>
                </ns1:lnTo>
              </ns1:path>
            </ns1:pathLst>
          </ns1:custGeom>
          <ns1:ln w="11160">
            <ns1:solidFill>
              <ns1:srgbClr val="9467bd"/>
            </ns1:solidFill>
            <ns1:miter/>
          </ns1:ln>
        </ns0:spPr>
        <ns0:txBody>
          <ns1:bodyPr lIns="5400" rIns="5400" tIns="5400" bIns="540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6" name=""/>
          <ns0:cNvSpPr/>
          <ns0:nvPr/>
        </ns0:nvSpPr>
        <ns0:spPr>
          <ns1:xfrm flipV="1">
            <ns1:off x="9313200" y="3453840"/>
            <ns1:ext cx="0" cy="5040"/>
          </ns1:xfrm>
          <ns1:prstGeom prst="line">
            <ns1:avLst/>
          </ns1:prstGeom>
          <ns1:ln w="5040">
            <ns1:solidFill>
              <ns1:srgbClr val="9467b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7" name=""/>
          <ns0:cNvSpPr/>
          <ns0:nvPr/>
        </ns0:nvSpPr>
        <ns0:spPr>
          <ns1:xfrm>
            <ns1:off x="9297720" y="3438000"/>
            <ns1:ext cx="31680" cy="31680"/>
          </ns1:xfrm>
          <ns1:custGeom>
            <ns1:avLst/>
            <ns1:gdLst/>
            <ns1:ahLst/>
            <ns1:rect l="0" t="0" r="r" b="b"/>
            <ns1:pathLst>
              <ns1:path w="88" h="88">
                <ns1:moveTo>
                  <ns1:pt x="88" y="45"/>
                </ns1:moveTo>
                <ns1:cubicBezTo>
                  <ns1:pt x="88" y="50"/>
                  <ns1:pt x="87" y="56"/>
                  <ns1:pt x="84" y="61"/>
                </ns1:cubicBezTo>
                <ns1:cubicBezTo>
                  <ns1:pt x="82" y="66"/>
                  <ns1:pt x="79" y="71"/>
                  <ns1:pt x="75" y="75"/>
                </ns1:cubicBezTo>
                <ns1:cubicBezTo>
                  <ns1:pt x="71" y="79"/>
                  <ns1:pt x="66" y="82"/>
                  <ns1:pt x="61" y="84"/>
                </ns1:cubicBezTo>
                <ns1:cubicBezTo>
                  <ns1:pt x="56" y="87"/>
                  <ns1:pt x="50" y="88"/>
                  <ns1:pt x="44" y="88"/>
                </ns1:cubicBezTo>
                <ns1:cubicBezTo>
                  <ns1:pt x="39" y="88"/>
                  <ns1:pt x="33" y="87"/>
                  <ns1:pt x="28" y="84"/>
                </ns1:cubicBezTo>
                <ns1:cubicBezTo>
                  <ns1:pt x="22" y="82"/>
                  <ns1:pt x="18" y="79"/>
                  <ns1:pt x="13" y="75"/>
                </ns1:cubicBezTo>
                <ns1:cubicBezTo>
                  <ns1:pt x="9" y="71"/>
                  <ns1:pt x="6" y="66"/>
                  <ns1:pt x="3" y="61"/>
                </ns1:cubicBezTo>
                <ns1:cubicBezTo>
                  <ns1:pt x="1" y="56"/>
                  <ns1:pt x="0" y="50"/>
                  <ns1:pt x="0" y="45"/>
                </ns1:cubicBezTo>
                <ns1:cubicBezTo>
                  <ns1:pt x="0" y="38"/>
                  <ns1:pt x="1" y="32"/>
                  <ns1:pt x="3" y="27"/>
                </ns1:cubicBezTo>
                <ns1:cubicBezTo>
                  <ns1:pt x="6" y="22"/>
                  <ns1:pt x="9" y="17"/>
                  <ns1:pt x="13" y="13"/>
                </ns1:cubicBezTo>
                <ns1:cubicBezTo>
                  <ns1:pt x="18" y="9"/>
                  <ns1:pt x="22" y="6"/>
                  <ns1:pt x="28" y="4"/>
                </ns1:cubicBezTo>
                <ns1:cubicBezTo>
                  <ns1:pt x="33" y="1"/>
                  <ns1:pt x="39" y="0"/>
                  <ns1:pt x="44" y="0"/>
                </ns1:cubicBezTo>
                <ns1:cubicBezTo>
                  <ns1:pt x="50" y="0"/>
                  <ns1:pt x="56" y="1"/>
                  <ns1:pt x="61" y="4"/>
                </ns1:cubicBezTo>
                <ns1:cubicBezTo>
                  <ns1:pt x="66" y="6"/>
                  <ns1:pt x="71" y="9"/>
                  <ns1:pt x="75" y="13"/>
                </ns1:cubicBezTo>
                <ns1:cubicBezTo>
                  <ns1:pt x="79" y="17"/>
                  <ns1:pt x="82" y="22"/>
                  <ns1:pt x="84" y="27"/>
                </ns1:cubicBezTo>
                <ns1:cubicBezTo>
                  <ns1:pt x="87" y="32"/>
                  <ns1:pt x="88" y="38"/>
                  <ns1:pt x="88" y="45"/>
                </ns1:cubicBezTo>
                <ns1:close/>
              </ns1:path>
            </ns1:pathLst>
          </ns1:custGeom>
          <ns1:solidFill>
            <ns1:srgbClr val="9467bd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8" name=""/>
          <ns0:cNvSpPr/>
          <ns0:nvPr/>
        </ns0:nvSpPr>
        <ns0:spPr>
          <ns1:xfrm flipV="1">
            <ns1:off x="9806400" y="3345120"/>
            <ns1:ext cx="0" cy="5040"/>
          </ns1:xfrm>
          <ns1:prstGeom prst="line">
            <ns1:avLst/>
          </ns1:prstGeom>
          <ns1:ln w="5040">
            <ns1:solidFill>
              <ns1:srgbClr val="9467b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79" name=""/>
          <ns0:cNvSpPr/>
          <ns0:nvPr/>
        </ns0:nvSpPr>
        <ns0:spPr>
          <ns1:xfrm>
            <ns1:off x="9790920" y="333468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3"/>
                </ns1:moveTo>
                <ns1:cubicBezTo>
                  <ns1:pt x="87" y="49"/>
                  <ns1:pt x="86" y="54"/>
                  <ns1:pt x="84" y="59"/>
                </ns1:cubicBezTo>
                <ns1:cubicBezTo>
                  <ns1:pt x="82" y="65"/>
                  <ns1:pt x="79" y="70"/>
                  <ns1:pt x="75" y="74"/>
                </ns1:cubicBezTo>
                <ns1:cubicBezTo>
                  <ns1:pt x="70" y="78"/>
                  <ns1:pt x="66" y="82"/>
                  <ns1:pt x="61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8" y="87"/>
                  <ns1:pt x="33" y="86"/>
                  <ns1:pt x="27" y="84"/>
                </ns1:cubicBezTo>
                <ns1:cubicBezTo>
                  <ns1:pt x="21" y="82"/>
                  <ns1:pt x="16" y="78"/>
                  <ns1:pt x="12" y="74"/>
                </ns1:cubicBezTo>
                <ns1:cubicBezTo>
                  <ns1:pt x="8" y="70"/>
                  <ns1:pt x="5" y="65"/>
                  <ns1:pt x="3" y="59"/>
                </ns1:cubicBezTo>
                <ns1:cubicBezTo>
                  <ns1:pt x="1" y="54"/>
                  <ns1:pt x="0" y="49"/>
                  <ns1:pt x="0" y="43"/>
                </ns1:cubicBezTo>
                <ns1:cubicBezTo>
                  <ns1:pt x="0" y="37"/>
                  <ns1:pt x="1" y="32"/>
                  <ns1:pt x="3" y="26"/>
                </ns1:cubicBezTo>
                <ns1:cubicBezTo>
                  <ns1:pt x="5" y="21"/>
                  <ns1:pt x="8" y="16"/>
                  <ns1:pt x="12" y="12"/>
                </ns1:cubicBezTo>
                <ns1:cubicBezTo>
                  <ns1:pt x="16" y="8"/>
                  <ns1:pt x="21" y="5"/>
                  <ns1:pt x="27" y="3"/>
                </ns1:cubicBezTo>
                <ns1:cubicBezTo>
                  <ns1:pt x="33" y="1"/>
                  <ns1:pt x="38" y="0"/>
                  <ns1:pt x="44" y="0"/>
                </ns1:cubicBezTo>
                <ns1:cubicBezTo>
                  <ns1:pt x="50" y="0"/>
                  <ns1:pt x="55" y="1"/>
                  <ns1:pt x="61" y="3"/>
                </ns1:cubicBezTo>
                <ns1:cubicBezTo>
                  <ns1:pt x="66" y="5"/>
                  <ns1:pt x="70" y="8"/>
                  <ns1:pt x="75" y="12"/>
                </ns1:cubicBezTo>
                <ns1:cubicBezTo>
                  <ns1:pt x="79" y="16"/>
                  <ns1:pt x="82" y="21"/>
                  <ns1:pt x="84" y="26"/>
                </ns1:cubicBezTo>
                <ns1:cubicBezTo>
                  <ns1:pt x="86" y="32"/>
                  <ns1:pt x="87" y="37"/>
                  <ns1:pt x="87" y="43"/>
                </ns1:cubicBezTo>
                <ns1:close/>
              </ns1:path>
            </ns1:pathLst>
          </ns1:custGeom>
          <ns1:solidFill>
            <ns1:srgbClr val="9467bd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0" name=""/>
          <ns0:cNvSpPr/>
          <ns0:nvPr/>
        </ns0:nvSpPr>
        <ns0:spPr>
          <ns1:xfrm flipV="1">
            <ns1:off x="10299600" y="3324240"/>
            <ns1:ext cx="0" cy="10440"/>
          </ns1:xfrm>
          <ns1:prstGeom prst="line">
            <ns1:avLst/>
          </ns1:prstGeom>
          <ns1:ln w="5040">
            <ns1:solidFill>
              <ns1:srgbClr val="9467b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1" name=""/>
          <ns0:cNvSpPr/>
          <ns0:nvPr/>
        </ns0:nvSpPr>
        <ns0:spPr>
          <ns1:xfrm>
            <ns1:off x="10283760" y="3313800"/>
            <ns1:ext cx="31680" cy="31680"/>
          </ns1:xfrm>
          <ns1:custGeom>
            <ns1:avLst/>
            <ns1:gdLst/>
            <ns1:ahLst/>
            <ns1:rect l="0" t="0" r="r" b="b"/>
            <ns1:pathLst>
              <ns1:path w="88" h="88">
                <ns1:moveTo>
                  <ns1:pt x="88" y="44"/>
                </ns1:moveTo>
                <ns1:cubicBezTo>
                  <ns1:pt x="88" y="50"/>
                  <ns1:pt x="87" y="56"/>
                  <ns1:pt x="85" y="61"/>
                </ns1:cubicBezTo>
                <ns1:cubicBezTo>
                  <ns1:pt x="82" y="66"/>
                  <ns1:pt x="79" y="71"/>
                  <ns1:pt x="75" y="75"/>
                </ns1:cubicBezTo>
                <ns1:cubicBezTo>
                  <ns1:pt x="71" y="79"/>
                  <ns1:pt x="66" y="82"/>
                  <ns1:pt x="61" y="84"/>
                </ns1:cubicBezTo>
                <ns1:cubicBezTo>
                  <ns1:pt x="56" y="86"/>
                  <ns1:pt x="50" y="88"/>
                  <ns1:pt x="45" y="88"/>
                </ns1:cubicBezTo>
                <ns1:cubicBezTo>
                  <ns1:pt x="39" y="88"/>
                  <ns1:pt x="33" y="86"/>
                  <ns1:pt x="27" y="84"/>
                </ns1:cubicBezTo>
                <ns1:cubicBezTo>
                  <ns1:pt x="22" y="82"/>
                  <ns1:pt x="17" y="79"/>
                  <ns1:pt x="13" y="75"/>
                </ns1:cubicBezTo>
                <ns1:cubicBezTo>
                  <ns1:pt x="9" y="71"/>
                  <ns1:pt x="6" y="66"/>
                  <ns1:pt x="4" y="61"/>
                </ns1:cubicBezTo>
                <ns1:cubicBezTo>
                  <ns1:pt x="1" y="56"/>
                  <ns1:pt x="0" y="50"/>
                  <ns1:pt x="0" y="44"/>
                </ns1:cubicBezTo>
                <ns1:cubicBezTo>
                  <ns1:pt x="0" y="38"/>
                  <ns1:pt x="1" y="32"/>
                  <ns1:pt x="4" y="27"/>
                </ns1:cubicBezTo>
                <ns1:cubicBezTo>
                  <ns1:pt x="6" y="22"/>
                  <ns1:pt x="9" y="17"/>
                  <ns1:pt x="13" y="13"/>
                </ns1:cubicBezTo>
                <ns1:cubicBezTo>
                  <ns1:pt x="17" y="9"/>
                  <ns1:pt x="22" y="6"/>
                  <ns1:pt x="27" y="4"/>
                </ns1:cubicBezTo>
                <ns1:cubicBezTo>
                  <ns1:pt x="33" y="1"/>
                  <ns1:pt x="39" y="0"/>
                  <ns1:pt x="45" y="0"/>
                </ns1:cubicBezTo>
                <ns1:cubicBezTo>
                  <ns1:pt x="50" y="0"/>
                  <ns1:pt x="56" y="1"/>
                  <ns1:pt x="61" y="4"/>
                </ns1:cubicBezTo>
                <ns1:cubicBezTo>
                  <ns1:pt x="66" y="6"/>
                  <ns1:pt x="71" y="9"/>
                  <ns1:pt x="75" y="13"/>
                </ns1:cubicBezTo>
                <ns1:cubicBezTo>
                  <ns1:pt x="79" y="17"/>
                  <ns1:pt x="82" y="22"/>
                  <ns1:pt x="85" y="27"/>
                </ns1:cubicBezTo>
                <ns1:cubicBezTo>
                  <ns1:pt x="87" y="32"/>
                  <ns1:pt x="88" y="38"/>
                  <ns1:pt x="88" y="44"/>
                </ns1:cubicBezTo>
                <ns1:close/>
              </ns1:path>
            </ns1:pathLst>
          </ns1:custGeom>
          <ns1:solidFill>
            <ns1:srgbClr val="9467bd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2" name=""/>
          <ns0:cNvSpPr/>
          <ns0:nvPr/>
        </ns0:nvSpPr>
        <ns0:spPr>
          <ns1:xfrm flipV="1">
            <ns1:off x="10792440" y="3319200"/>
            <ns1:ext cx="0" cy="10080"/>
          </ns1:xfrm>
          <ns1:prstGeom prst="line">
            <ns1:avLst/>
          </ns1:prstGeom>
          <ns1:ln w="5040">
            <ns1:solidFill>
              <ns1:srgbClr val="9467b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3" name=""/>
          <ns0:cNvSpPr/>
          <ns0:nvPr/>
        </ns0:nvSpPr>
        <ns0:spPr>
          <ns1:xfrm>
            <ns1:off x="10776960" y="330876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3"/>
                </ns1:moveTo>
                <ns1:cubicBezTo>
                  <ns1:pt x="87" y="49"/>
                  <ns1:pt x="86" y="55"/>
                  <ns1:pt x="84" y="61"/>
                </ns1:cubicBezTo>
                <ns1:cubicBezTo>
                  <ns1:pt x="82" y="66"/>
                  <ns1:pt x="79" y="70"/>
                  <ns1:pt x="75" y="75"/>
                </ns1:cubicBezTo>
                <ns1:cubicBezTo>
                  <ns1:pt x="71" y="79"/>
                  <ns1:pt x="66" y="82"/>
                  <ns1:pt x="61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8" y="87"/>
                  <ns1:pt x="32" y="86"/>
                  <ns1:pt x="27" y="84"/>
                </ns1:cubicBezTo>
                <ns1:cubicBezTo>
                  <ns1:pt x="21" y="82"/>
                  <ns1:pt x="17" y="79"/>
                  <ns1:pt x="13" y="75"/>
                </ns1:cubicBezTo>
                <ns1:cubicBezTo>
                  <ns1:pt x="9" y="70"/>
                  <ns1:pt x="5" y="66"/>
                  <ns1:pt x="3" y="61"/>
                </ns1:cubicBezTo>
                <ns1:cubicBezTo>
                  <ns1:pt x="1" y="55"/>
                  <ns1:pt x="0" y="49"/>
                  <ns1:pt x="0" y="43"/>
                </ns1:cubicBezTo>
                <ns1:cubicBezTo>
                  <ns1:pt x="0" y="37"/>
                  <ns1:pt x="1" y="32"/>
                  <ns1:pt x="3" y="27"/>
                </ns1:cubicBezTo>
                <ns1:cubicBezTo>
                  <ns1:pt x="5" y="21"/>
                  <ns1:pt x="9" y="17"/>
                  <ns1:pt x="13" y="13"/>
                </ns1:cubicBezTo>
                <ns1:cubicBezTo>
                  <ns1:pt x="17" y="8"/>
                  <ns1:pt x="21" y="5"/>
                  <ns1:pt x="27" y="3"/>
                </ns1:cubicBezTo>
                <ns1:cubicBezTo>
                  <ns1:pt x="32" y="1"/>
                  <ns1:pt x="38" y="0"/>
                  <ns1:pt x="44" y="0"/>
                </ns1:cubicBezTo>
                <ns1:cubicBezTo>
                  <ns1:pt x="50" y="0"/>
                  <ns1:pt x="55" y="1"/>
                  <ns1:pt x="61" y="3"/>
                </ns1:cubicBezTo>
                <ns1:cubicBezTo>
                  <ns1:pt x="66" y="5"/>
                  <ns1:pt x="71" y="8"/>
                  <ns1:pt x="75" y="13"/>
                </ns1:cubicBezTo>
                <ns1:cubicBezTo>
                  <ns1:pt x="79" y="17"/>
                  <ns1:pt x="82" y="21"/>
                  <ns1:pt x="84" y="27"/>
                </ns1:cubicBezTo>
                <ns1:cubicBezTo>
                  <ns1:pt x="86" y="32"/>
                  <ns1:pt x="87" y="37"/>
                  <ns1:pt x="87" y="43"/>
                </ns1:cubicBezTo>
                <ns1:close/>
              </ns1:path>
            </ns1:pathLst>
          </ns1:custGeom>
          <ns1:solidFill>
            <ns1:srgbClr val="9467bd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4" name=""/>
          <ns0:cNvSpPr/>
          <ns0:nvPr/>
        </ns0:nvSpPr>
        <ns0:spPr>
          <ns1:xfrm flipV="1">
            <ns1:off x="11285640" y="3313800"/>
            <ns1:ext cx="0" cy="15480"/>
          </ns1:xfrm>
          <ns1:prstGeom prst="line">
            <ns1:avLst/>
          </ns1:prstGeom>
          <ns1:ln w="5040">
            <ns1:solidFill>
              <ns1:srgbClr val="9467b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520" rIns="2520" tIns="2520" bIns="252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5" name=""/>
          <ns0:cNvSpPr/>
          <ns0:nvPr/>
        </ns0:nvSpPr>
        <ns0:spPr>
          <ns1:xfrm>
            <ns1:off x="11270160" y="3303720"/>
            <ns1:ext cx="31320" cy="31320"/>
          </ns1:xfrm>
          <ns1:custGeom>
            <ns1:avLst/>
            <ns1:gdLst/>
            <ns1:ahLst/>
            <ns1:rect l="0" t="0" r="r" b="b"/>
            <ns1:pathLst>
              <ns1:path w="87" h="87">
                <ns1:moveTo>
                  <ns1:pt x="87" y="43"/>
                </ns1:moveTo>
                <ns1:cubicBezTo>
                  <ns1:pt x="87" y="48"/>
                  <ns1:pt x="86" y="54"/>
                  <ns1:pt x="84" y="59"/>
                </ns1:cubicBezTo>
                <ns1:cubicBezTo>
                  <ns1:pt x="82" y="64"/>
                  <ns1:pt x="78" y="70"/>
                  <ns1:pt x="74" y="74"/>
                </ns1:cubicBezTo>
                <ns1:cubicBezTo>
                  <ns1:pt x="70" y="78"/>
                  <ns1:pt x="66" y="81"/>
                  <ns1:pt x="60" y="84"/>
                </ns1:cubicBezTo>
                <ns1:cubicBezTo>
                  <ns1:pt x="55" y="86"/>
                  <ns1:pt x="50" y="87"/>
                  <ns1:pt x="44" y="87"/>
                </ns1:cubicBezTo>
                <ns1:cubicBezTo>
                  <ns1:pt x="37" y="87"/>
                  <ns1:pt x="32" y="86"/>
                  <ns1:pt x="26" y="84"/>
                </ns1:cubicBezTo>
                <ns1:cubicBezTo>
                  <ns1:pt x="21" y="81"/>
                  <ns1:pt x="16" y="78"/>
                  <ns1:pt x="12" y="74"/>
                </ns1:cubicBezTo>
                <ns1:cubicBezTo>
                  <ns1:pt x="8" y="70"/>
                  <ns1:pt x="5" y="64"/>
                  <ns1:pt x="3" y="59"/>
                </ns1:cubicBezTo>
                <ns1:cubicBezTo>
                  <ns1:pt x="1" y="54"/>
                  <ns1:pt x="0" y="48"/>
                  <ns1:pt x="0" y="43"/>
                </ns1:cubicBezTo>
                <ns1:cubicBezTo>
                  <ns1:pt x="0" y="37"/>
                  <ns1:pt x="1" y="31"/>
                  <ns1:pt x="3" y="26"/>
                </ns1:cubicBezTo>
                <ns1:cubicBezTo>
                  <ns1:pt x="5" y="21"/>
                  <ns1:pt x="8" y="16"/>
                  <ns1:pt x="12" y="12"/>
                </ns1:cubicBezTo>
                <ns1:cubicBezTo>
                  <ns1:pt x="16" y="8"/>
                  <ns1:pt x="21" y="5"/>
                  <ns1:pt x="26" y="3"/>
                </ns1:cubicBezTo>
                <ns1:cubicBezTo>
                  <ns1:pt x="32" y="1"/>
                  <ns1:pt x="37" y="0"/>
                  <ns1:pt x="44" y="0"/>
                </ns1:cubicBezTo>
                <ns1:cubicBezTo>
                  <ns1:pt x="50" y="0"/>
                  <ns1:pt x="55" y="1"/>
                  <ns1:pt x="60" y="3"/>
                </ns1:cubicBezTo>
                <ns1:cubicBezTo>
                  <ns1:pt x="66" y="5"/>
                  <ns1:pt x="70" y="8"/>
                  <ns1:pt x="74" y="12"/>
                </ns1:cubicBezTo>
                <ns1:cubicBezTo>
                  <ns1:pt x="78" y="16"/>
                  <ns1:pt x="82" y="21"/>
                  <ns1:pt x="84" y="26"/>
                </ns1:cubicBezTo>
                <ns1:cubicBezTo>
                  <ns1:pt x="86" y="31"/>
                  <ns1:pt x="87" y="37"/>
                  <ns1:pt x="87" y="43"/>
                </ns1:cubicBezTo>
                <ns1:close/>
              </ns1:path>
            </ns1:pathLst>
          </ns1:custGeom>
          <ns1:solidFill>
            <ns1:srgbClr val="9467bd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6" name=""/>
          <ns0:cNvSpPr txBox="1"/>
          <ns0:nvPr/>
        </ns0:nvSpPr>
        <ns0:spPr>
          <ns1:xfrm>
            <ns1:off x="11301120" y="3194280"/>
            <ns1:ext cx="293040" cy="507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2ca02c"/>
                </ns1:solidFill>
                <ns1:effectLst/>
                <ns1:uFillTx/>
                <ns1:latin typeface="Arial"/>
                <ns1:ea typeface="Arial"/>
              </ns1:rPr>
              <ns1:t>Kimi(k8) 1.61x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7" name=""/>
          <ns0:cNvSpPr/>
          <ns0:nvPr/>
        </ns0:nvSpPr>
        <ns0:spPr>
          <ns1:xfrm>
            <ns1:off x="10206000" y="3329280"/>
            <ns1:ext cx="581400" cy="0"/>
          </ns1:xfrm>
          <ns1:prstGeom prst="line">
            <ns1:avLst/>
          </ns1:prstGeom>
          <ns1:ln w="6120">
            <ns1:solidFill>
              <ns1:srgbClr val="9467bd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880" rIns="2880" tIns="-2880" bIns="-28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8" name=""/>
          <ns0:cNvSpPr/>
          <ns0:nvPr/>
        </ns0:nvSpPr>
        <ns0:spPr>
          <ns1:xfrm>
            <ns1:off x="10491480" y="3303720"/>
            <ns1:ext cx="52200" cy="51840"/>
          </ns1:xfrm>
          <ns1:custGeom>
            <ns1:avLst/>
            <ns1:gdLst/>
            <ns1:ahLst/>
            <ns1:rect l="0" t="0" r="r" b="b"/>
            <ns1:pathLst>
              <ns1:path w="145" h="144">
                <ns1:moveTo>
                  <ns1:pt x="73" y="0"/>
                </ns1:moveTo>
                <ns1:lnTo>
                  <ns1:pt x="145" y="72"/>
                </ns1:lnTo>
                <ns1:lnTo>
                  <ns1:pt x="73" y="144"/>
                </ns1:lnTo>
                <ns1:lnTo>
                  <ns1:pt x="0" y="72"/>
                </ns1:lnTo>
                <ns1:lnTo>
                  <ns1:pt x="73" y="0"/>
                </ns1:lnTo>
                <ns1:close/>
              </ns1:path>
            </ns1:pathLst>
          </ns1:custGeom>
          <ns1:solidFill>
            <ns1:srgbClr val="9467bd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89" name=""/>
          <ns0:cNvSpPr/>
          <ns0:nvPr/>
        </ns0:nvSpPr>
        <ns0:spPr>
          <ns1:xfrm>
            <ns1:off x="10491480" y="3303720"/>
            <ns1:ext cx="52200" cy="51840"/>
          </ns1:xfrm>
          <ns1:custGeom>
            <ns1:avLst/>
            <ns1:gdLst/>
            <ns1:ahLst/>
            <ns1:rect l="0" t="0" r="r" b="b"/>
            <ns1:pathLst>
              <ns1:path fill="none" w="145" h="144">
                <ns1:moveTo>
                  <ns1:pt x="73" y="0"/>
                </ns1:moveTo>
                <ns1:lnTo>
                  <ns1:pt x="145" y="72"/>
                </ns1:lnTo>
                <ns1:lnTo>
                  <ns1:pt x="73" y="144"/>
                </ns1:lnTo>
                <ns1:lnTo>
                  <ns1:pt x="0" y="72"/>
                </ns1:lnTo>
                <ns1:lnTo>
                  <ns1:pt x="73" y="0"/>
                </ns1:lnTo>
              </ns1:path>
            </ns1:pathLst>
          </ns1:custGeom>
          <ns1:ln w="4320">
            <ns1:solidFill>
              <ns1:srgbClr val="ffffff"/>
            </ns1:solidFill>
            <ns1:miter/>
          </ns1:ln>
        </ns0:spPr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0" name=""/>
          <ns0:cNvSpPr/>
          <ns0:nvPr/>
        </ns0:nvSpPr>
        <ns0:spPr>
          <ns1:xfrm>
            <ns1:off x="10807920" y="3360600"/>
            <ns1:ext cx="62280" cy="0"/>
          </ns1:xfrm>
          <ns1:prstGeom prst="line">
            <ns1:avLst/>
          </ns1:prstGeom>
          <ns1:ln w="6120">
            <ns1:solidFill>
              <ns1:srgbClr val="d62728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880" rIns="2880" tIns="-2880" bIns="-28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1" name=""/>
          <ns0:cNvSpPr/>
          <ns0:nvPr/>
        </ns0:nvSpPr>
        <ns0:spPr>
          <ns1:xfrm>
            <ns1:off x="10813320" y="3334680"/>
            <ns1:ext cx="52200" cy="52200"/>
          </ns1:xfrm>
          <ns1:custGeom>
            <ns1:avLst/>
            <ns1:gdLst/>
            <ns1:ahLst/>
            <ns1:rect l="0" t="0" r="r" b="b"/>
            <ns1:pathLst>
              <ns1:path w="145" h="145">
                <ns1:moveTo>
                  <ns1:pt x="72" y="0"/>
                </ns1:moveTo>
                <ns1:lnTo>
                  <ns1:pt x="145" y="72"/>
                </ns1:lnTo>
                <ns1:lnTo>
                  <ns1:pt x="72" y="145"/>
                </ns1:lnTo>
                <ns1:lnTo>
                  <ns1:pt x="0" y="72"/>
                </ns1:lnTo>
                <ns1:lnTo>
                  <ns1:pt x="72" y="0"/>
                </ns1:lnTo>
                <ns1:close/>
              </ns1:path>
            </ns1:pathLst>
          </ns1:custGeom>
          <ns1:solidFill>
            <ns1:srgbClr val="d62728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2" name=""/>
          <ns0:cNvSpPr/>
          <ns0:nvPr/>
        </ns0:nvSpPr>
        <ns0:spPr>
          <ns1:xfrm>
            <ns1:off x="10813320" y="3334680"/>
            <ns1:ext cx="52200" cy="52200"/>
          </ns1:xfrm>
          <ns1:custGeom>
            <ns1:avLst/>
            <ns1:gdLst/>
            <ns1:ahLst/>
            <ns1:rect l="0" t="0" r="r" b="b"/>
            <ns1:pathLst>
              <ns1:path fill="none" w="145" h="145">
                <ns1:moveTo>
                  <ns1:pt x="72" y="0"/>
                </ns1:moveTo>
                <ns1:lnTo>
                  <ns1:pt x="145" y="72"/>
                </ns1:lnTo>
                <ns1:lnTo>
                  <ns1:pt x="72" y="145"/>
                </ns1:lnTo>
                <ns1:lnTo>
                  <ns1:pt x="0" y="72"/>
                </ns1:lnTo>
                <ns1:lnTo>
                  <ns1:pt x="72" y="0"/>
                </ns1:lnTo>
              </ns1:path>
            </ns1:pathLst>
          </ns1:custGeom>
          <ns1:ln w="4320">
            <ns1:solidFill>
              <ns1:srgbClr val="ffffff"/>
            </ns1:solidFill>
            <ns1:miter/>
          </ns1:ln>
        </ns0:spPr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3" name=""/>
          <ns0:cNvSpPr/>
          <ns0:nvPr/>
        </ns0:nvSpPr>
        <ns0:spPr>
          <ns1:xfrm>
            <ns1:off x="10937880" y="2946240"/>
            <ns1:ext cx="326880" cy="0"/>
          </ns1:xfrm>
          <ns1:prstGeom prst="line">
            <ns1:avLst/>
          </ns1:prstGeom>
          <ns1:ln w="6120">
            <ns1:solidFill>
              <ns1:srgbClr val="1f77b4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2880" rIns="2880" tIns="-2880" bIns="-28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4" name=""/>
          <ns0:cNvSpPr/>
          <ns0:nvPr/>
        </ns0:nvSpPr>
        <ns0:spPr>
          <ns1:xfrm>
            <ns1:off x="11072880" y="2920320"/>
            <ns1:ext cx="52200" cy="52200"/>
          </ns1:xfrm>
          <ns1:custGeom>
            <ns1:avLst/>
            <ns1:gdLst/>
            <ns1:ahLst/>
            <ns1:rect l="0" t="0" r="r" b="b"/>
            <ns1:pathLst>
              <ns1:path w="145" h="145">
                <ns1:moveTo>
                  <ns1:pt x="72" y="0"/>
                </ns1:moveTo>
                <ns1:lnTo>
                  <ns1:pt x="145" y="72"/>
                </ns1:lnTo>
                <ns1:lnTo>
                  <ns1:pt x="72" y="145"/>
                </ns1:lnTo>
                <ns1:lnTo>
                  <ns1:pt x="0" y="72"/>
                </ns1:lnTo>
                <ns1:lnTo>
                  <ns1:pt x="72" y="0"/>
                </ns1:lnTo>
                <ns1:close/>
              </ns1:path>
            </ns1:pathLst>
          </ns1:custGeom>
          <ns1:solidFill>
            <ns1:srgbClr val="1f77b4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5" name=""/>
          <ns0:cNvSpPr/>
          <ns0:nvPr/>
        </ns0:nvSpPr>
        <ns0:spPr>
          <ns1:xfrm>
            <ns1:off x="11072880" y="2920320"/>
            <ns1:ext cx="52200" cy="52200"/>
          </ns1:xfrm>
          <ns1:custGeom>
            <ns1:avLst/>
            <ns1:gdLst/>
            <ns1:ahLst/>
            <ns1:rect l="0" t="0" r="r" b="b"/>
            <ns1:pathLst>
              <ns1:path fill="none" w="145" h="145">
                <ns1:moveTo>
                  <ns1:pt x="72" y="0"/>
                </ns1:moveTo>
                <ns1:lnTo>
                  <ns1:pt x="145" y="72"/>
                </ns1:lnTo>
                <ns1:lnTo>
                  <ns1:pt x="72" y="145"/>
                </ns1:lnTo>
                <ns1:lnTo>
                  <ns1:pt x="0" y="72"/>
                </ns1:lnTo>
                <ns1:lnTo>
                  <ns1:pt x="72" y="0"/>
                </ns1:lnTo>
              </ns1:path>
            </ns1:pathLst>
          </ns1:custGeom>
          <ns1:ln w="4320">
            <ns1:solidFill>
              <ns1:srgbClr val="ffffff"/>
            </ns1:solidFill>
            <ns1:miter/>
          </ns1:ln>
        </ns0:spPr>
        <ns0:txBody>
          <ns1:bodyPr lIns="2160" rIns="2160" tIns="2160" bIns="21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6" name=""/>
          <ns0:cNvSpPr txBox="1"/>
          <ns0:nvPr/>
        </ns0:nvSpPr>
        <ns0:spPr>
          <ns1:xfrm>
            <ns1:off x="11301120" y="3297600"/>
            <ns1:ext cx="343800" cy="921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9467bd"/>
                </ns1:solidFill>
                <ns1:effectLst/>
                <ns1:uFillTx/>
                <ns1:latin typeface="Arial"/>
                <ns1:ea typeface="Arial"/>
              </ns1:rPr>
              <ns1:t>Qwen3(k8*) 1.42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  <ns1:p>
            <ns1:r>
              <ns1:rPr b="0" lang="en-US" sz="370" strike="noStrike" u="none">
                <ns1:solidFill>
                  <ns1:srgbClr val="9467bd"/>
                </ns1:solidFill>
                <ns1:effectLst/>
                <ns1:uFillTx/>
                <ns1:latin typeface="Arial"/>
                <ns1:ea typeface="Arial"/>
              </ns1:rPr>
              <ns1:t>DeepSeek(k8) 1.</ns1:t>
            </ns1:r>
          </ns1:p>
        </ns0:txBody>
      </ns0:sp>
      <ns0:sp>
        <ns0:nvSpPr>
          <ns0:cNvPr id="697" name=""/>
          <ns0:cNvSpPr txBox="1"/>
          <ns0:nvPr/>
        </ns0:nvSpPr>
        <ns0:spPr>
          <ns1:xfrm>
            <ns1:off x="7908480" y="4658400"/>
            <ns1:ext cx="80964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666666"/>
                </ns1:solidFill>
                <ns1:effectLst/>
                <ns1:uFillTx/>
                <ns1:latin typeface="Arial"/>
                <ns1:ea typeface="Arial"/>
              </ns1:rPr>
              <ns1:t>A=livecodebench→B=mmlu 硬拼接漂移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699" name=""/>
          <ns0:cNvSpPr txBox="1"/>
          <ns0:nvPr/>
        </ns0:nvSpPr>
        <ns0:spPr>
          <ns1:xfrm>
            <ns1:off x="8820720" y="4658400"/>
            <ns1:ext cx="15372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 i="0">
                <ns1:solidFill>
                  <ns1:srgbClr val="666666"/>
                </ns1:solidFill>
                <ns1:effectLst/>
                <ns1:uFillTx/>
                <ns1:latin typeface="Noto Sans SC"/>
                <ns1:ea typeface="Noto Sans SC"/>
              </ns1:rPr>
              <ns1:t>;事件原子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1" name=""/>
          <ns0:cNvSpPr txBox="1"/>
          <ns0:nvPr/>
        </ns0:nvSpPr>
        <ns0:spPr>
          <ns1:xfrm>
            <ns1:off x="9056880" y="4659840"/>
            <ns1:ext cx="22824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666666"/>
                </ns1:solidFill>
                <ns1:effectLst/>
                <ns1:uFillTx/>
                <ns1:latin typeface="Arial"/>
                <ns1:ea typeface="Arial"/>
              </ns1:rPr>
              <ns1:t>; Qwen3* 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2" name=""/>
          <ns0:cNvSpPr txBox="1"/>
          <ns0:nvPr/>
        </ns0:nvSpPr>
        <ns0:spPr>
          <ns1:xfrm>
            <ns1:off x="9284040" y="4658400"/>
            <ns1:ext cx="51480" cy="61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410" strike="noStrike" u="none" i="0">
                <ns1:solidFill>
                  <ns1:srgbClr val="666666"/>
                </ns1:solidFill>
                <ns1:effectLst/>
                <ns1:uFillTx/>
                <ns1:latin typeface="Noto Sans SC"/>
                <ns1:ea typeface="Noto Sans SC"/>
              </ns1:rPr>
              <ns1:t>为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3" name=""/>
          <ns0:cNvSpPr txBox="1"/>
          <ns0:nvPr/>
        </ns0:nvSpPr>
        <ns0:spPr>
          <ns1:xfrm>
            <ns1:off x="9335880" y="4659840"/>
            <ns1:ext cx="968400" cy="58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410" strike="noStrike" u="none">
                <ns1:solidFill>
                  <ns1:srgbClr val="666666"/>
                </ns1:solidFill>
                <ns1:effectLst/>
                <ns1:uFillTx/>
                <ns1:latin typeface="Arial"/>
                <ns1:ea typeface="Arial"/>
              </ns1:rPr>
              <ns1:t> forced(C&lt;k); CI=per-query bootstrap 95%</ns1:t>
            </ns1:r>
            <ns1:endParaRPr b="0" lang="en-US" sz="41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4" name=""/>
          <ns0:cNvSpPr txBox="1"/>
          <ns0:nvPr/>
        </ns0:nvSpPr>
        <ns0:spPr>
          <ns1:xfrm>
            <ns1:off x="7261560" y="4735800"/>
            <ns1:ext cx="5544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370" strike="noStrike" u="none" i="0">
                <ns1:solidFill>
                  <ns1:srgbClr val="999999"/>
                </ns1:solidFill>
                <ns1:effectLst/>
                <ns1:uFillTx/>
                <ns1:latin typeface="Noto Sans SC"/>
                <ns1:ea typeface="Noto Sans SC"/>
              </ns1:rPr>
              <ns1:t>实测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5" name=""/>
          <ns0:cNvSpPr txBox="1"/>
          <ns0:nvPr/>
        </ns0:nvSpPr>
        <ns0:spPr>
          <ns1:xfrm>
            <ns1:off x="7354800" y="4736880"/>
            <ns1:ext cx="2499840" cy="507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999999"/>
                </ns1:solidFill>
                <ns1:effectLst/>
                <ns1:uFillTx/>
                <ns1:latin typeface="Arial"/>
                <ns1:ea typeface="Arial"/>
              </ns1:rPr>
              <ns1:t>@A100-80GB-PCIe: Qwen3(36MB)ρ≈22–50 · DeepSeek(84MB)52–58 · Llama4(240MB)65–98(PCIe)/208–312(NVMe-SSD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6" name=""/>
          <ns0:cNvSpPr txBox="1"/>
          <ns0:nvPr/>
        </ns0:nvSpPr>
        <ns0:spPr>
          <ns1:xfrm>
            <ns1:off x="9896040" y="4735800"/>
            <ns1:ext cx="5544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370" strike="noStrike" u="none" i="0">
                <ns1:solidFill>
                  <ns1:srgbClr val="999999"/>
                </ns1:solidFill>
                <ns1:effectLst/>
                <ns1:uFillTx/>
                <ns1:latin typeface="Noto Sans SC"/>
                <ns1:ea typeface="Noto Sans SC"/>
              </ns1:rPr>
              <ns1:t>冷读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7" name=""/>
          <ns0:cNvSpPr txBox="1"/>
          <ns0:nvPr/>
        </ns0:nvSpPr>
        <ns0:spPr>
          <ns1:xfrm>
            <ns1:off x="9989280" y="4735800"/>
            <ns1:ext cx="37476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999999"/>
                </ns1:solidFill>
                <ns1:effectLst/>
                <ns1:uFillTx/>
                <ns1:latin typeface="Arial"/>
                <ns1:ea typeface="Arial"/>
              </ns1:rPr>
              <ns1:t>5.6GB/s); 边缘存储更慢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09" name=""/>
          <ns0:cNvSpPr txBox="1"/>
          <ns0:nvPr/>
        </ns0:nvSpPr>
        <ns0:spPr>
          <ns1:xfrm>
            <ns1:off x="10478160" y="4735800"/>
            <ns1:ext cx="12852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>
                <ns1:solidFill>
                  <ns1:srgbClr val="999999"/>
                </ns1:solidFill>
                <ns1:effectLst/>
                <ns1:uFillTx/>
                <ns1:latin typeface="Arial"/>
                <ns1:ea typeface="Arial"/>
              </ns1:rPr>
              <ns1:t>→ρ更大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711" name=""/>
          <ns0:cNvSpPr txBox="1"/>
          <ns0:nvPr/>
        </ns0:nvSpPr>
        <ns0:spPr>
          <ns1:xfrm>
            <ns1:off x="10644480" y="4735800"/>
            <ns1:ext cx="191160" cy="54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370" strike="noStrike" u="none" i="0">
                <ns1:solidFill>
                  <ns1:srgbClr val="999999"/>
                </ns1:solidFill>
                <ns1:effectLst/>
                <ns1:uFillTx/>
                <ns1:latin typeface="Noto Sans SC"/>
                <ns1:ea typeface="Noto Sans SC"/>
              </ns1:rPr>
              <ns1:t>,全落饱和平台</ns1:t>
            </ns1:r>
            <ns1:endParaRPr b="0" lang="en-US" sz="37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</ns0:spTree>
  </ns0:cSld>
  <ns2:AlternateContent>
    <ns2:Choice Requires="p14">
      <ns0:transition spd="slow" ns3:dur="2000"/>
    </ns2:Choice>
    <ns2:Fallback>
      <ns0:transition spd="slow"/>
    </ns2:Fallback>
  </ns2:AlternateContent>
</ns0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1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2437920" cy="24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6" name="" descr=""/>
          <p:cNvPicPr/>
          <p:nvPr/>
        </p:nvPicPr>
        <p:blipFill>
          <a:blip r:embed="rId2"/>
          <a:stretch/>
        </p:blipFill>
        <p:spPr>
          <a:xfrm>
            <a:off x="9448920" y="4114800"/>
            <a:ext cx="2742840" cy="27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7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457200" y="465480"/>
            <a:ext cx="552069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动机：漂移延迟代价1.33–2.05×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457200" y="1613880"/>
            <a:ext cx="9220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实验场景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457200" y="2039760"/>
            <a:ext cx="5672709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A(livecodebench) → B(mmlu)顺序漂移，4个模型，per-query bootstrap 95% CI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457200" y="2499840"/>
            <a:ext cx="9220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代价模型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457200" y="2925720"/>
            <a:ext cx="3831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延迟比= (1 + miss率_策略× ρ) / (1 + miss率_LRU × ρ)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457200" y="3395160"/>
            <a:ext cx="9220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两个口径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457200" y="4662000"/>
            <a:ext cx="691515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稳定性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457200" y="5087880"/>
            <a:ext cx="4208526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CI极窄（±0.03×）；ρ=25→100增量≤ 0.03×——已进入饱和平台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457200" y="5557320"/>
            <a:ext cx="510062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α扫描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457200" y="5980680"/>
            <a:ext cx="5160645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即便一半缓存槽来自B的真实热专家，延迟仍 1.88×——静态缓存结构性缺陷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3581280" y="5981400"/>
            <a:ext cx="562320" cy="209880"/>
          </a:xfrm>
          <a:custGeom>
            <a:avLst/>
            <a:gdLst/>
            <a:ahLst/>
            <a:rect l="0" t="0" r="r" b="b"/>
            <a:pathLst>
              <a:path w="1562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456" y="0"/>
                </a:lnTo>
                <a:cubicBezTo>
                  <a:pt x="1470" y="0"/>
                  <a:pt x="1484" y="3"/>
                  <a:pt x="1497" y="8"/>
                </a:cubicBezTo>
                <a:cubicBezTo>
                  <a:pt x="1510" y="14"/>
                  <a:pt x="1521" y="21"/>
                  <a:pt x="1531" y="31"/>
                </a:cubicBezTo>
                <a:cubicBezTo>
                  <a:pt x="1541" y="41"/>
                  <a:pt x="1548" y="53"/>
                  <a:pt x="1554" y="66"/>
                </a:cubicBezTo>
                <a:cubicBezTo>
                  <a:pt x="1559" y="79"/>
                  <a:pt x="1562" y="92"/>
                  <a:pt x="1562" y="106"/>
                </a:cubicBezTo>
                <a:lnTo>
                  <a:pt x="1562" y="477"/>
                </a:lnTo>
                <a:cubicBezTo>
                  <a:pt x="1562" y="491"/>
                  <a:pt x="1559" y="504"/>
                  <a:pt x="1554" y="517"/>
                </a:cubicBezTo>
                <a:cubicBezTo>
                  <a:pt x="1548" y="530"/>
                  <a:pt x="1541" y="541"/>
                  <a:pt x="1531" y="551"/>
                </a:cubicBezTo>
                <a:cubicBezTo>
                  <a:pt x="1521" y="562"/>
                  <a:pt x="1510" y="570"/>
                  <a:pt x="1497" y="575"/>
                </a:cubicBezTo>
                <a:cubicBezTo>
                  <a:pt x="1484" y="581"/>
                  <a:pt x="1470" y="583"/>
                  <a:pt x="1456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1"/>
                </a:cubicBezTo>
                <a:cubicBezTo>
                  <a:pt x="21" y="541"/>
                  <a:pt x="13" y="530"/>
                  <a:pt x="8" y="517"/>
                </a:cubicBezTo>
                <a:cubicBezTo>
                  <a:pt x="3" y="504"/>
                  <a:pt x="0" y="491"/>
                  <a:pt x="0" y="477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6405480" y="1414440"/>
            <a:ext cx="5324760" cy="4981680"/>
          </a:xfrm>
          <a:custGeom>
            <a:avLst/>
            <a:gdLst/>
            <a:ahLst/>
            <a:rect l="0" t="0" r="r" b="b"/>
            <a:pathLst>
              <a:path w="14791" h="13838">
                <a:moveTo>
                  <a:pt x="0" y="13640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4592" y="0"/>
                </a:lnTo>
                <a:cubicBezTo>
                  <a:pt x="14606" y="0"/>
                  <a:pt x="14618" y="1"/>
                  <a:pt x="14631" y="3"/>
                </a:cubicBezTo>
                <a:cubicBezTo>
                  <a:pt x="14644" y="6"/>
                  <a:pt x="14656" y="10"/>
                  <a:pt x="14668" y="15"/>
                </a:cubicBezTo>
                <a:cubicBezTo>
                  <a:pt x="14680" y="20"/>
                  <a:pt x="14692" y="26"/>
                  <a:pt x="14703" y="33"/>
                </a:cubicBezTo>
                <a:cubicBezTo>
                  <a:pt x="14714" y="40"/>
                  <a:pt x="14724" y="48"/>
                  <a:pt x="14733" y="58"/>
                </a:cubicBezTo>
                <a:cubicBezTo>
                  <a:pt x="14742" y="67"/>
                  <a:pt x="14750" y="77"/>
                  <a:pt x="14757" y="88"/>
                </a:cubicBezTo>
                <a:cubicBezTo>
                  <a:pt x="14765" y="99"/>
                  <a:pt x="14771" y="110"/>
                  <a:pt x="14776" y="122"/>
                </a:cubicBezTo>
                <a:cubicBezTo>
                  <a:pt x="14781" y="134"/>
                  <a:pt x="14785" y="147"/>
                  <a:pt x="14787" y="159"/>
                </a:cubicBezTo>
                <a:cubicBezTo>
                  <a:pt x="14790" y="172"/>
                  <a:pt x="14791" y="185"/>
                  <a:pt x="14791" y="198"/>
                </a:cubicBezTo>
                <a:lnTo>
                  <a:pt x="14791" y="13640"/>
                </a:lnTo>
                <a:cubicBezTo>
                  <a:pt x="14791" y="13653"/>
                  <a:pt x="14790" y="13666"/>
                  <a:pt x="14787" y="13679"/>
                </a:cubicBezTo>
                <a:cubicBezTo>
                  <a:pt x="14785" y="13691"/>
                  <a:pt x="14781" y="13704"/>
                  <a:pt x="14776" y="13716"/>
                </a:cubicBezTo>
                <a:cubicBezTo>
                  <a:pt x="14771" y="13728"/>
                  <a:pt x="14765" y="13739"/>
                  <a:pt x="14757" y="13750"/>
                </a:cubicBezTo>
                <a:cubicBezTo>
                  <a:pt x="14750" y="13761"/>
                  <a:pt x="14742" y="13771"/>
                  <a:pt x="14733" y="13780"/>
                </a:cubicBezTo>
                <a:cubicBezTo>
                  <a:pt x="14724" y="13789"/>
                  <a:pt x="14714" y="13798"/>
                  <a:pt x="14703" y="13805"/>
                </a:cubicBezTo>
                <a:cubicBezTo>
                  <a:pt x="14692" y="13812"/>
                  <a:pt x="14680" y="13818"/>
                  <a:pt x="14668" y="13823"/>
                </a:cubicBezTo>
                <a:cubicBezTo>
                  <a:pt x="14656" y="13828"/>
                  <a:pt x="14644" y="13832"/>
                  <a:pt x="14631" y="13834"/>
                </a:cubicBezTo>
                <a:cubicBezTo>
                  <a:pt x="14618" y="13837"/>
                  <a:pt x="14606" y="13838"/>
                  <a:pt x="14592" y="13838"/>
                </a:cubicBezTo>
                <a:lnTo>
                  <a:pt x="198" y="13838"/>
                </a:lnTo>
                <a:cubicBezTo>
                  <a:pt x="185" y="13838"/>
                  <a:pt x="172" y="13837"/>
                  <a:pt x="159" y="13834"/>
                </a:cubicBezTo>
                <a:cubicBezTo>
                  <a:pt x="147" y="13832"/>
                  <a:pt x="134" y="13828"/>
                  <a:pt x="122" y="13823"/>
                </a:cubicBezTo>
                <a:cubicBezTo>
                  <a:pt x="110" y="13818"/>
                  <a:pt x="99" y="13812"/>
                  <a:pt x="88" y="13805"/>
                </a:cubicBezTo>
                <a:cubicBezTo>
                  <a:pt x="77" y="13798"/>
                  <a:pt x="67" y="13789"/>
                  <a:pt x="58" y="13780"/>
                </a:cubicBezTo>
                <a:cubicBezTo>
                  <a:pt x="49" y="13771"/>
                  <a:pt x="40" y="13761"/>
                  <a:pt x="33" y="13750"/>
                </a:cubicBezTo>
                <a:cubicBezTo>
                  <a:pt x="26" y="13739"/>
                  <a:pt x="20" y="13728"/>
                  <a:pt x="15" y="13716"/>
                </a:cubicBezTo>
                <a:cubicBezTo>
                  <a:pt x="10" y="13704"/>
                  <a:pt x="6" y="13691"/>
                  <a:pt x="4" y="13679"/>
                </a:cubicBezTo>
                <a:cubicBezTo>
                  <a:pt x="1" y="13666"/>
                  <a:pt x="0" y="13653"/>
                  <a:pt x="0" y="1364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blurRad="190500" dist="127000" dir="5400000" algn="tl" rotWithShape="0">
              <a:prstClr val="black">
                <a:alpha val="100000"/>
              </a:prstClr>
            </a:outerShdw>
          </a:effectLst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6405480" y="1414440"/>
            <a:ext cx="5324760" cy="4981680"/>
          </a:xfrm>
          <a:custGeom>
            <a:avLst/>
            <a:gdLst/>
            <a:ahLst/>
            <a:rect l="0" t="0" r="r" b="b"/>
            <a:pathLst>
              <a:path fill="none" w="14791" h="13838">
                <a:moveTo>
                  <a:pt x="0" y="13640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4592" y="0"/>
                </a:lnTo>
                <a:cubicBezTo>
                  <a:pt x="14606" y="0"/>
                  <a:pt x="14618" y="1"/>
                  <a:pt x="14631" y="3"/>
                </a:cubicBezTo>
                <a:cubicBezTo>
                  <a:pt x="14644" y="6"/>
                  <a:pt x="14656" y="10"/>
                  <a:pt x="14668" y="15"/>
                </a:cubicBezTo>
                <a:cubicBezTo>
                  <a:pt x="14680" y="20"/>
                  <a:pt x="14692" y="26"/>
                  <a:pt x="14703" y="33"/>
                </a:cubicBezTo>
                <a:cubicBezTo>
                  <a:pt x="14714" y="40"/>
                  <a:pt x="14724" y="48"/>
                  <a:pt x="14733" y="58"/>
                </a:cubicBezTo>
                <a:cubicBezTo>
                  <a:pt x="14742" y="67"/>
                  <a:pt x="14750" y="77"/>
                  <a:pt x="14757" y="88"/>
                </a:cubicBezTo>
                <a:cubicBezTo>
                  <a:pt x="14765" y="99"/>
                  <a:pt x="14771" y="110"/>
                  <a:pt x="14776" y="122"/>
                </a:cubicBezTo>
                <a:cubicBezTo>
                  <a:pt x="14781" y="134"/>
                  <a:pt x="14785" y="147"/>
                  <a:pt x="14787" y="159"/>
                </a:cubicBezTo>
                <a:cubicBezTo>
                  <a:pt x="14790" y="172"/>
                  <a:pt x="14791" y="185"/>
                  <a:pt x="14791" y="198"/>
                </a:cubicBezTo>
                <a:lnTo>
                  <a:pt x="14791" y="13640"/>
                </a:lnTo>
                <a:cubicBezTo>
                  <a:pt x="14791" y="13653"/>
                  <a:pt x="14790" y="13666"/>
                  <a:pt x="14787" y="13679"/>
                </a:cubicBezTo>
                <a:cubicBezTo>
                  <a:pt x="14785" y="13691"/>
                  <a:pt x="14781" y="13704"/>
                  <a:pt x="14776" y="13716"/>
                </a:cubicBezTo>
                <a:cubicBezTo>
                  <a:pt x="14771" y="13728"/>
                  <a:pt x="14765" y="13739"/>
                  <a:pt x="14757" y="13750"/>
                </a:cubicBezTo>
                <a:cubicBezTo>
                  <a:pt x="14750" y="13761"/>
                  <a:pt x="14742" y="13771"/>
                  <a:pt x="14733" y="13780"/>
                </a:cubicBezTo>
                <a:cubicBezTo>
                  <a:pt x="14724" y="13789"/>
                  <a:pt x="14714" y="13798"/>
                  <a:pt x="14703" y="13805"/>
                </a:cubicBezTo>
                <a:cubicBezTo>
                  <a:pt x="14692" y="13812"/>
                  <a:pt x="14680" y="13818"/>
                  <a:pt x="14668" y="13823"/>
                </a:cubicBezTo>
                <a:cubicBezTo>
                  <a:pt x="14656" y="13828"/>
                  <a:pt x="14644" y="13832"/>
                  <a:pt x="14631" y="13834"/>
                </a:cubicBezTo>
                <a:cubicBezTo>
                  <a:pt x="14618" y="13837"/>
                  <a:pt x="14606" y="13838"/>
                  <a:pt x="14592" y="13838"/>
                </a:cubicBezTo>
                <a:lnTo>
                  <a:pt x="198" y="13838"/>
                </a:lnTo>
                <a:cubicBezTo>
                  <a:pt x="185" y="13838"/>
                  <a:pt x="172" y="13837"/>
                  <a:pt x="159" y="13834"/>
                </a:cubicBezTo>
                <a:cubicBezTo>
                  <a:pt x="147" y="13832"/>
                  <a:pt x="134" y="13828"/>
                  <a:pt x="122" y="13823"/>
                </a:cubicBezTo>
                <a:cubicBezTo>
                  <a:pt x="110" y="13818"/>
                  <a:pt x="99" y="13812"/>
                  <a:pt x="88" y="13805"/>
                </a:cubicBezTo>
                <a:cubicBezTo>
                  <a:pt x="77" y="13798"/>
                  <a:pt x="67" y="13789"/>
                  <a:pt x="58" y="13780"/>
                </a:cubicBezTo>
                <a:cubicBezTo>
                  <a:pt x="49" y="13771"/>
                  <a:pt x="40" y="13761"/>
                  <a:pt x="33" y="13750"/>
                </a:cubicBezTo>
                <a:cubicBezTo>
                  <a:pt x="26" y="13739"/>
                  <a:pt x="20" y="13728"/>
                  <a:pt x="15" y="13716"/>
                </a:cubicBezTo>
                <a:cubicBezTo>
                  <a:pt x="10" y="13704"/>
                  <a:pt x="6" y="13691"/>
                  <a:pt x="4" y="13679"/>
                </a:cubicBezTo>
                <a:cubicBezTo>
                  <a:pt x="1" y="13666"/>
                  <a:pt x="0" y="13653"/>
                  <a:pt x="0" y="13640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6486480" y="2695320"/>
            <a:ext cx="5162760" cy="2419920"/>
          </a:xfrm>
          <a:custGeom>
            <a:avLst/>
            <a:gdLst/>
            <a:ahLst/>
            <a:rect l="0" t="0" r="r" b="b"/>
            <a:pathLst>
              <a:path w="14341" h="6722">
                <a:moveTo>
                  <a:pt x="14341" y="6722"/>
                </a:moveTo>
                <a:lnTo>
                  <a:pt x="0" y="6722"/>
                </a:lnTo>
                <a:lnTo>
                  <a:pt x="0" y="0"/>
                </a:lnTo>
                <a:lnTo>
                  <a:pt x="14341" y="0"/>
                </a:lnTo>
                <a:lnTo>
                  <a:pt x="14341" y="672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7281720" y="2781720"/>
            <a:ext cx="1195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2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(a) 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7400160" y="2779920"/>
            <a:ext cx="1432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620" strike="noStrike" u="none">
                <a:solidFill>
                  <a:srgbClr val="000000"/>
                </a:solidFill>
                <a:effectLst/>
                <a:uFillTx/>
                <a:latin typeface="WenQuanYiMicroHei"/>
                <a:ea typeface="WenQuanYiMicroHei"/>
              </a:rPr>
              <a:t>漂移下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7636680" y="2779920"/>
            <a:ext cx="264566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2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miss率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6775920" y="4378320"/>
            <a:ext cx="2001960" cy="0"/>
          </a:xfrm>
          <a:prstGeom prst="line">
            <a:avLst/>
          </a:prstGeom>
          <a:ln w="5040">
            <a:solidFill>
              <a:srgbClr val="eeee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7939080" y="2781720"/>
            <a:ext cx="3355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2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(95% CI)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6775920" y="4115520"/>
            <a:ext cx="2001960" cy="0"/>
          </a:xfrm>
          <a:prstGeom prst="line">
            <a:avLst/>
          </a:prstGeom>
          <a:ln w="5040">
            <a:solidFill>
              <a:srgbClr val="eeee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6668640" y="4352040"/>
            <a:ext cx="7560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0%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6775920" y="3852360"/>
            <a:ext cx="2001960" cy="0"/>
          </a:xfrm>
          <a:prstGeom prst="line">
            <a:avLst/>
          </a:prstGeom>
          <a:ln w="5040">
            <a:solidFill>
              <a:srgbClr val="eeee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6639480" y="4088880"/>
            <a:ext cx="10440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20%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6775920" y="3589560"/>
            <a:ext cx="2001960" cy="0"/>
          </a:xfrm>
          <a:prstGeom prst="line">
            <a:avLst/>
          </a:prstGeom>
          <a:ln w="5040">
            <a:solidFill>
              <a:srgbClr val="eeee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6639480" y="3826080"/>
            <a:ext cx="10440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40%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6775920" y="3326400"/>
            <a:ext cx="2001960" cy="0"/>
          </a:xfrm>
          <a:prstGeom prst="line">
            <a:avLst/>
          </a:prstGeom>
          <a:ln w="5040">
            <a:solidFill>
              <a:srgbClr val="eeee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6639480" y="3562920"/>
            <a:ext cx="10440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60%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6775920" y="3063600"/>
            <a:ext cx="2001960" cy="0"/>
          </a:xfrm>
          <a:prstGeom prst="line">
            <a:avLst/>
          </a:prstGeom>
          <a:ln w="5040">
            <a:solidFill>
              <a:srgbClr val="eeeee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6639480" y="3300120"/>
            <a:ext cx="10440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80%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6823440" y="3147840"/>
            <a:ext cx="84600" cy="1230840"/>
          </a:xfrm>
          <a:custGeom>
            <a:avLst/>
            <a:gdLst/>
            <a:ahLst/>
            <a:rect l="0" t="0" r="r" b="b"/>
            <a:pathLst>
              <a:path w="235" h="3419">
                <a:moveTo>
                  <a:pt x="0" y="0"/>
                </a:moveTo>
                <a:lnTo>
                  <a:pt x="235" y="0"/>
                </a:lnTo>
                <a:lnTo>
                  <a:pt x="235" y="3419"/>
                </a:lnTo>
                <a:lnTo>
                  <a:pt x="0" y="3419"/>
                </a:lnTo>
                <a:lnTo>
                  <a:pt x="0" y="0"/>
                </a:lnTo>
                <a:close/>
              </a:path>
            </a:pathLst>
          </a:custGeom>
          <a:solidFill>
            <a:srgbClr val="8c56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 flipV="1">
            <a:off x="6870960" y="3142440"/>
            <a:ext cx="0" cy="540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6860520" y="314244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6860520" y="314784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6928920" y="3416040"/>
            <a:ext cx="84600" cy="962640"/>
          </a:xfrm>
          <a:custGeom>
            <a:avLst/>
            <a:gdLst/>
            <a:ahLst/>
            <a:rect l="0" t="0" r="r" b="b"/>
            <a:pathLst>
              <a:path w="235" h="2674">
                <a:moveTo>
                  <a:pt x="0" y="0"/>
                </a:moveTo>
                <a:lnTo>
                  <a:pt x="235" y="0"/>
                </a:lnTo>
                <a:lnTo>
                  <a:pt x="235" y="2674"/>
                </a:lnTo>
                <a:lnTo>
                  <a:pt x="0" y="2674"/>
                </a:lnTo>
                <a:lnTo>
                  <a:pt x="0" y="0"/>
                </a:lnTo>
                <a:close/>
              </a:path>
            </a:pathLst>
          </a:custGeom>
          <a:solidFill>
            <a:srgbClr val="ff7f0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 flipV="1">
            <a:off x="6971040" y="3410640"/>
            <a:ext cx="0" cy="158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6960600" y="341064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6960600" y="342648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7023600" y="3468600"/>
            <a:ext cx="84600" cy="910080"/>
          </a:xfrm>
          <a:custGeom>
            <a:avLst/>
            <a:gdLst/>
            <a:ahLst/>
            <a:rect l="0" t="0" r="r" b="b"/>
            <a:pathLst>
              <a:path w="235" h="2528">
                <a:moveTo>
                  <a:pt x="0" y="0"/>
                </a:moveTo>
                <a:lnTo>
                  <a:pt x="235" y="0"/>
                </a:lnTo>
                <a:lnTo>
                  <a:pt x="235" y="2528"/>
                </a:lnTo>
                <a:lnTo>
                  <a:pt x="0" y="2528"/>
                </a:lnTo>
                <a:lnTo>
                  <a:pt x="0" y="0"/>
                </a:ln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 flipV="1">
            <a:off x="7071120" y="3458160"/>
            <a:ext cx="0" cy="1548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7060680" y="345816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7060680" y="347364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7129080" y="3726360"/>
            <a:ext cx="84600" cy="652320"/>
          </a:xfrm>
          <a:custGeom>
            <a:avLst/>
            <a:gdLst/>
            <a:ahLst/>
            <a:rect l="0" t="0" r="r" b="b"/>
            <a:pathLst>
              <a:path w="235" h="1812">
                <a:moveTo>
                  <a:pt x="0" y="0"/>
                </a:moveTo>
                <a:lnTo>
                  <a:pt x="235" y="0"/>
                </a:lnTo>
                <a:lnTo>
                  <a:pt x="235" y="1812"/>
                </a:lnTo>
                <a:lnTo>
                  <a:pt x="0" y="1812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 flipV="1">
            <a:off x="7171200" y="3720960"/>
            <a:ext cx="0" cy="104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7160760" y="372096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7160760" y="373140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6610320" y="3036960"/>
            <a:ext cx="13320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100%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7329240" y="3242520"/>
            <a:ext cx="84600" cy="1136160"/>
          </a:xfrm>
          <a:custGeom>
            <a:avLst/>
            <a:gdLst/>
            <a:ahLst/>
            <a:rect l="0" t="0" r="r" b="b"/>
            <a:pathLst>
              <a:path w="235" h="3156">
                <a:moveTo>
                  <a:pt x="0" y="0"/>
                </a:moveTo>
                <a:lnTo>
                  <a:pt x="235" y="0"/>
                </a:lnTo>
                <a:lnTo>
                  <a:pt x="235" y="3156"/>
                </a:lnTo>
                <a:lnTo>
                  <a:pt x="0" y="3156"/>
                </a:lnTo>
                <a:lnTo>
                  <a:pt x="0" y="0"/>
                </a:lnTo>
                <a:close/>
              </a:path>
            </a:pathLst>
          </a:custGeom>
          <a:solidFill>
            <a:srgbClr val="8c56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 flipV="1">
            <a:off x="7371360" y="3237120"/>
            <a:ext cx="0" cy="158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7360920" y="323712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7360920" y="325296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7423920" y="3568320"/>
            <a:ext cx="84600" cy="810360"/>
          </a:xfrm>
          <a:custGeom>
            <a:avLst/>
            <a:gdLst/>
            <a:ahLst/>
            <a:rect l="0" t="0" r="r" b="b"/>
            <a:pathLst>
              <a:path w="235" h="2251">
                <a:moveTo>
                  <a:pt x="0" y="0"/>
                </a:moveTo>
                <a:lnTo>
                  <a:pt x="235" y="0"/>
                </a:lnTo>
                <a:lnTo>
                  <a:pt x="235" y="2251"/>
                </a:lnTo>
                <a:lnTo>
                  <a:pt x="0" y="2251"/>
                </a:lnTo>
                <a:lnTo>
                  <a:pt x="0" y="0"/>
                </a:lnTo>
                <a:close/>
              </a:path>
            </a:pathLst>
          </a:custGeom>
          <a:solidFill>
            <a:srgbClr val="ff7f0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 flipV="1">
            <a:off x="7471440" y="3563280"/>
            <a:ext cx="0" cy="158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7461000" y="356328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7461000" y="357912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7529400" y="3852360"/>
            <a:ext cx="84600" cy="526320"/>
          </a:xfrm>
          <a:custGeom>
            <a:avLst/>
            <a:gdLst/>
            <a:ahLst/>
            <a:rect l="0" t="0" r="r" b="b"/>
            <a:pathLst>
              <a:path w="235" h="1462">
                <a:moveTo>
                  <a:pt x="0" y="0"/>
                </a:moveTo>
                <a:lnTo>
                  <a:pt x="235" y="0"/>
                </a:lnTo>
                <a:lnTo>
                  <a:pt x="235" y="1462"/>
                </a:lnTo>
                <a:lnTo>
                  <a:pt x="0" y="1462"/>
                </a:lnTo>
                <a:lnTo>
                  <a:pt x="0" y="0"/>
                </a:ln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 flipV="1">
            <a:off x="7571520" y="3841920"/>
            <a:ext cx="0" cy="158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7561080" y="384192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7561080" y="385776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7624080" y="4031280"/>
            <a:ext cx="84600" cy="347400"/>
          </a:xfrm>
          <a:custGeom>
            <a:avLst/>
            <a:gdLst/>
            <a:ahLst/>
            <a:rect l="0" t="0" r="r" b="b"/>
            <a:pathLst>
              <a:path w="235" h="965">
                <a:moveTo>
                  <a:pt x="0" y="0"/>
                </a:moveTo>
                <a:lnTo>
                  <a:pt x="235" y="0"/>
                </a:lnTo>
                <a:lnTo>
                  <a:pt x="235" y="965"/>
                </a:lnTo>
                <a:lnTo>
                  <a:pt x="0" y="965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 flipV="1">
            <a:off x="7671600" y="4020840"/>
            <a:ext cx="0" cy="158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7661160" y="402084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7661160" y="403668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6855840" y="4409640"/>
            <a:ext cx="33192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DeepSeek(k8)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7824240" y="3158280"/>
            <a:ext cx="84960" cy="1220400"/>
          </a:xfrm>
          <a:custGeom>
            <a:avLst/>
            <a:gdLst/>
            <a:ahLst/>
            <a:rect l="0" t="0" r="r" b="b"/>
            <a:pathLst>
              <a:path w="236" h="3390">
                <a:moveTo>
                  <a:pt x="0" y="0"/>
                </a:moveTo>
                <a:lnTo>
                  <a:pt x="236" y="0"/>
                </a:lnTo>
                <a:lnTo>
                  <a:pt x="236" y="3390"/>
                </a:lnTo>
                <a:lnTo>
                  <a:pt x="0" y="3390"/>
                </a:lnTo>
                <a:lnTo>
                  <a:pt x="0" y="0"/>
                </a:lnTo>
                <a:close/>
              </a:path>
            </a:pathLst>
          </a:custGeom>
          <a:solidFill>
            <a:srgbClr val="8c56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 flipV="1">
            <a:off x="7871760" y="3152880"/>
            <a:ext cx="0" cy="104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7861320" y="315288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7861320" y="316332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7929720" y="3515760"/>
            <a:ext cx="84600" cy="862920"/>
          </a:xfrm>
          <a:custGeom>
            <a:avLst/>
            <a:gdLst/>
            <a:ahLst/>
            <a:rect l="0" t="0" r="r" b="b"/>
            <a:pathLst>
              <a:path w="235" h="2397">
                <a:moveTo>
                  <a:pt x="0" y="0"/>
                </a:moveTo>
                <a:lnTo>
                  <a:pt x="235" y="0"/>
                </a:lnTo>
                <a:lnTo>
                  <a:pt x="235" y="2397"/>
                </a:lnTo>
                <a:lnTo>
                  <a:pt x="0" y="2397"/>
                </a:lnTo>
                <a:lnTo>
                  <a:pt x="0" y="0"/>
                </a:lnTo>
                <a:close/>
              </a:path>
            </a:pathLst>
          </a:custGeom>
          <a:solidFill>
            <a:srgbClr val="ff7f0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 flipV="1">
            <a:off x="7971840" y="3505320"/>
            <a:ext cx="0" cy="212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7961400" y="350532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7961400" y="352656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8024400" y="3626280"/>
            <a:ext cx="84960" cy="752400"/>
          </a:xfrm>
          <a:custGeom>
            <a:avLst/>
            <a:gdLst/>
            <a:ahLst/>
            <a:rect l="0" t="0" r="r" b="b"/>
            <a:pathLst>
              <a:path w="236" h="2090">
                <a:moveTo>
                  <a:pt x="0" y="0"/>
                </a:moveTo>
                <a:lnTo>
                  <a:pt x="236" y="0"/>
                </a:lnTo>
                <a:lnTo>
                  <a:pt x="236" y="2090"/>
                </a:lnTo>
                <a:lnTo>
                  <a:pt x="0" y="2090"/>
                </a:lnTo>
                <a:lnTo>
                  <a:pt x="0" y="0"/>
                </a:ln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 flipV="1">
            <a:off x="8071920" y="3615840"/>
            <a:ext cx="0" cy="2088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8061480" y="361584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8061480" y="363672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8129880" y="3868200"/>
            <a:ext cx="84600" cy="510480"/>
          </a:xfrm>
          <a:custGeom>
            <a:avLst/>
            <a:gdLst/>
            <a:ahLst/>
            <a:rect l="0" t="0" r="r" b="b"/>
            <a:pathLst>
              <a:path w="235" h="1418">
                <a:moveTo>
                  <a:pt x="0" y="0"/>
                </a:moveTo>
                <a:lnTo>
                  <a:pt x="235" y="0"/>
                </a:lnTo>
                <a:lnTo>
                  <a:pt x="235" y="1418"/>
                </a:lnTo>
                <a:lnTo>
                  <a:pt x="0" y="1418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 flipV="1">
            <a:off x="8172000" y="3863160"/>
            <a:ext cx="0" cy="1548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8161560" y="386316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8161560" y="3878640"/>
            <a:ext cx="2088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7398000" y="4409640"/>
            <a:ext cx="25992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Llama4(k1)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8330040" y="3121560"/>
            <a:ext cx="84600" cy="1257120"/>
          </a:xfrm>
          <a:custGeom>
            <a:avLst/>
            <a:gdLst/>
            <a:ahLst/>
            <a:rect l="0" t="0" r="r" b="b"/>
            <a:pathLst>
              <a:path w="235" h="3492">
                <a:moveTo>
                  <a:pt x="0" y="0"/>
                </a:moveTo>
                <a:lnTo>
                  <a:pt x="235" y="0"/>
                </a:lnTo>
                <a:lnTo>
                  <a:pt x="235" y="3492"/>
                </a:lnTo>
                <a:lnTo>
                  <a:pt x="0" y="3492"/>
                </a:lnTo>
                <a:lnTo>
                  <a:pt x="0" y="0"/>
                </a:lnTo>
                <a:close/>
              </a:path>
            </a:pathLst>
          </a:custGeom>
          <a:solidFill>
            <a:srgbClr val="8c56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 flipV="1">
            <a:off x="8372160" y="3121560"/>
            <a:ext cx="0" cy="50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8361720" y="3121560"/>
            <a:ext cx="2124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8361720" y="3126600"/>
            <a:ext cx="2124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8425080" y="3515760"/>
            <a:ext cx="84600" cy="862920"/>
          </a:xfrm>
          <a:custGeom>
            <a:avLst/>
            <a:gdLst/>
            <a:ahLst/>
            <a:rect l="0" t="0" r="r" b="b"/>
            <a:pathLst>
              <a:path w="235" h="2397">
                <a:moveTo>
                  <a:pt x="0" y="0"/>
                </a:moveTo>
                <a:lnTo>
                  <a:pt x="235" y="0"/>
                </a:lnTo>
                <a:lnTo>
                  <a:pt x="235" y="2397"/>
                </a:lnTo>
                <a:lnTo>
                  <a:pt x="0" y="2397"/>
                </a:lnTo>
                <a:lnTo>
                  <a:pt x="0" y="0"/>
                </a:lnTo>
                <a:close/>
              </a:path>
            </a:pathLst>
          </a:custGeom>
          <a:solidFill>
            <a:srgbClr val="ff7f0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 flipV="1">
            <a:off x="8472240" y="3510720"/>
            <a:ext cx="0" cy="104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8461800" y="3510720"/>
            <a:ext cx="2124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8461800" y="3521160"/>
            <a:ext cx="2124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8530200" y="3494880"/>
            <a:ext cx="84600" cy="883800"/>
          </a:xfrm>
          <a:custGeom>
            <a:avLst/>
            <a:gdLst/>
            <a:ahLst/>
            <a:rect l="0" t="0" r="r" b="b"/>
            <a:pathLst>
              <a:path w="235" h="2455">
                <a:moveTo>
                  <a:pt x="0" y="0"/>
                </a:moveTo>
                <a:lnTo>
                  <a:pt x="235" y="0"/>
                </a:lnTo>
                <a:lnTo>
                  <a:pt x="235" y="2455"/>
                </a:lnTo>
                <a:lnTo>
                  <a:pt x="0" y="2455"/>
                </a:lnTo>
                <a:lnTo>
                  <a:pt x="0" y="0"/>
                </a:ln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 flipV="1">
            <a:off x="8572320" y="3489480"/>
            <a:ext cx="0" cy="104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8561880" y="3489480"/>
            <a:ext cx="2124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8561880" y="3499920"/>
            <a:ext cx="2124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8625240" y="3757680"/>
            <a:ext cx="84600" cy="621000"/>
          </a:xfrm>
          <a:custGeom>
            <a:avLst/>
            <a:gdLst/>
            <a:ahLst/>
            <a:rect l="0" t="0" r="r" b="b"/>
            <a:pathLst>
              <a:path w="235" h="1725">
                <a:moveTo>
                  <a:pt x="0" y="0"/>
                </a:moveTo>
                <a:lnTo>
                  <a:pt x="235" y="0"/>
                </a:lnTo>
                <a:lnTo>
                  <a:pt x="235" y="1725"/>
                </a:lnTo>
                <a:lnTo>
                  <a:pt x="0" y="1725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 flipV="1">
            <a:off x="8672400" y="3752640"/>
            <a:ext cx="0" cy="1044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8661960" y="3752640"/>
            <a:ext cx="2124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8661960" y="3763080"/>
            <a:ext cx="21240" cy="0"/>
          </a:xfrm>
          <a:prstGeom prst="line">
            <a:avLst/>
          </a:prstGeom>
          <a:ln w="4680">
            <a:solidFill>
              <a:srgbClr val="22222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160" rIns="2160" tIns="-2160" bIns="-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7928280" y="4409640"/>
            <a:ext cx="19080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Kimi(k8)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6775920" y="4525560"/>
            <a:ext cx="58320" cy="58320"/>
          </a:xfrm>
          <a:custGeom>
            <a:avLst/>
            <a:gdLst/>
            <a:ahLst/>
            <a:rect l="0" t="0" r="r" b="b"/>
            <a:pathLst>
              <a:path w="162" h="162">
                <a:moveTo>
                  <a:pt x="0" y="0"/>
                </a:moveTo>
                <a:lnTo>
                  <a:pt x="162" y="0"/>
                </a:lnTo>
                <a:lnTo>
                  <a:pt x="162" y="162"/>
                </a:lnTo>
                <a:lnTo>
                  <a:pt x="0" y="162"/>
                </a:lnTo>
                <a:lnTo>
                  <a:pt x="0" y="0"/>
                </a:lnTo>
                <a:close/>
              </a:path>
            </a:pathLst>
          </a:custGeom>
          <a:solidFill>
            <a:srgbClr val="8c56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8391600" y="4409640"/>
            <a:ext cx="27432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Qwen3(k8*)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6855120" y="4529520"/>
            <a:ext cx="63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410" strike="noStrike" u="none">
                <a:solidFill>
                  <a:srgbClr val="000000"/>
                </a:solidFill>
                <a:effectLst/>
                <a:uFillTx/>
                <a:latin typeface="WenQuanYiMicroHei"/>
                <a:ea typeface="WenQuanYiMicroHei"/>
              </a:rPr>
              <a:t>身份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6960240" y="4529520"/>
            <a:ext cx="806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-冻结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7276680" y="4525560"/>
            <a:ext cx="58320" cy="58320"/>
          </a:xfrm>
          <a:custGeom>
            <a:avLst/>
            <a:gdLst/>
            <a:ahLst/>
            <a:rect l="0" t="0" r="r" b="b"/>
            <a:pathLst>
              <a:path w="162" h="162">
                <a:moveTo>
                  <a:pt x="0" y="0"/>
                </a:moveTo>
                <a:lnTo>
                  <a:pt x="162" y="0"/>
                </a:lnTo>
                <a:lnTo>
                  <a:pt x="162" y="162"/>
                </a:lnTo>
                <a:lnTo>
                  <a:pt x="0" y="162"/>
                </a:lnTo>
                <a:lnTo>
                  <a:pt x="0" y="0"/>
                </a:lnTo>
                <a:close/>
              </a:path>
            </a:pathLst>
          </a:custGeom>
          <a:solidFill>
            <a:srgbClr val="ff7f0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7355520" y="4529520"/>
            <a:ext cx="63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410" strike="noStrike" u="none">
                <a:solidFill>
                  <a:srgbClr val="000000"/>
                </a:solidFill>
                <a:effectLst/>
                <a:uFillTx/>
                <a:latin typeface="WenQuanYiMicroHei"/>
                <a:ea typeface="WenQuanYiMicroHei"/>
              </a:rPr>
              <a:t>身份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7777080" y="4525560"/>
            <a:ext cx="58320" cy="58320"/>
          </a:xfrm>
          <a:custGeom>
            <a:avLst/>
            <a:gdLst/>
            <a:ahLst/>
            <a:rect l="0" t="0" r="r" b="b"/>
            <a:pathLst>
              <a:path w="162" h="162">
                <a:moveTo>
                  <a:pt x="0" y="0"/>
                </a:moveTo>
                <a:lnTo>
                  <a:pt x="162" y="0"/>
                </a:lnTo>
                <a:lnTo>
                  <a:pt x="162" y="162"/>
                </a:lnTo>
                <a:lnTo>
                  <a:pt x="0" y="162"/>
                </a:lnTo>
                <a:lnTo>
                  <a:pt x="0" y="0"/>
                </a:ln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7460640" y="4530600"/>
            <a:ext cx="11592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-LFU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7855920" y="4529520"/>
            <a:ext cx="63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410" strike="noStrike" u="none">
                <a:solidFill>
                  <a:srgbClr val="000000"/>
                </a:solidFill>
                <a:effectLst/>
                <a:uFillTx/>
                <a:latin typeface="WenQuanYiMicroHei"/>
                <a:ea typeface="WenQuanYiMicroHei"/>
              </a:rPr>
              <a:t>机制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8277480" y="4525560"/>
            <a:ext cx="58320" cy="58320"/>
          </a:xfrm>
          <a:custGeom>
            <a:avLst/>
            <a:gdLst/>
            <a:ahLst/>
            <a:rect l="0" t="0" r="r" b="b"/>
            <a:pathLst>
              <a:path w="162" h="162">
                <a:moveTo>
                  <a:pt x="0" y="0"/>
                </a:moveTo>
                <a:lnTo>
                  <a:pt x="162" y="0"/>
                </a:lnTo>
                <a:lnTo>
                  <a:pt x="162" y="162"/>
                </a:lnTo>
                <a:lnTo>
                  <a:pt x="0" y="162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7961040" y="4530600"/>
            <a:ext cx="12168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-LRU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8356680" y="4530600"/>
            <a:ext cx="15912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Belady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9670320" y="2781720"/>
            <a:ext cx="1238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2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(b) 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9793080" y="2779920"/>
            <a:ext cx="957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620" strike="noStrike" u="none">
                <a:solidFill>
                  <a:srgbClr val="000000"/>
                </a:solidFill>
                <a:effectLst/>
                <a:uFillTx/>
                <a:latin typeface="WenQuanYiMicroHei"/>
                <a:ea typeface="WenQuanYiMicroHei"/>
              </a:rPr>
              <a:t>身份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9950760" y="2779920"/>
            <a:ext cx="1220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2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-冻结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10134720" y="2781720"/>
            <a:ext cx="78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2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10156680" y="2779920"/>
            <a:ext cx="190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620" strike="noStrike" u="none">
                <a:solidFill>
                  <a:srgbClr val="000000"/>
                </a:solidFill>
                <a:effectLst/>
                <a:uFillTx/>
                <a:latin typeface="WenQuanYiMicroHei"/>
                <a:ea typeface="WenQuanYiMicroHei"/>
              </a:rPr>
              <a:t>选错代价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10472040" y="2781720"/>
            <a:ext cx="78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2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(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10520280" y="2779920"/>
            <a:ext cx="3697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62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延迟/LRU)</a:t>
            </a:r>
            <a:endParaRPr b="0" lang="en-US" sz="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9278280" y="3063600"/>
            <a:ext cx="253440" cy="1315080"/>
          </a:xfrm>
          <a:custGeom>
            <a:avLst/>
            <a:gdLst/>
            <a:ahLst/>
            <a:rect l="0" t="0" r="r" b="b"/>
            <a:pathLst>
              <a:path w="704" h="3653">
                <a:moveTo>
                  <a:pt x="0" y="0"/>
                </a:moveTo>
                <a:lnTo>
                  <a:pt x="704" y="0"/>
                </a:lnTo>
                <a:lnTo>
                  <a:pt x="704" y="3653"/>
                </a:lnTo>
                <a:lnTo>
                  <a:pt x="0" y="3653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9531360" y="3063600"/>
            <a:ext cx="1749240" cy="1315080"/>
          </a:xfrm>
          <a:custGeom>
            <a:avLst/>
            <a:gdLst/>
            <a:ahLst/>
            <a:rect l="0" t="0" r="r" b="b"/>
            <a:pathLst>
              <a:path w="4859" h="3653">
                <a:moveTo>
                  <a:pt x="0" y="0"/>
                </a:moveTo>
                <a:lnTo>
                  <a:pt x="4859" y="0"/>
                </a:lnTo>
                <a:lnTo>
                  <a:pt x="4859" y="3653"/>
                </a:lnTo>
                <a:lnTo>
                  <a:pt x="0" y="3653"/>
                </a:lnTo>
                <a:lnTo>
                  <a:pt x="0" y="0"/>
                </a:lnTo>
                <a:close/>
              </a:path>
            </a:pathLst>
          </a:custGeom>
          <a:solidFill>
            <a:srgbClr val="eaf3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9282600" y="3088080"/>
            <a:ext cx="20736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GH200相⼲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9311400" y="3146040"/>
            <a:ext cx="14976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ρ≈1 端点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9294120" y="3209760"/>
            <a:ext cx="218160" cy="4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30" strike="noStrike" u="none">
                <a:solidFill>
                  <a:srgbClr val="aaaaaa"/>
                </a:solidFill>
                <a:effectLst/>
                <a:uFillTx/>
                <a:latin typeface="Arial"/>
                <a:ea typeface="Arial"/>
              </a:rPr>
              <a:t>2608.12103</a:t>
            </a:r>
            <a:endParaRPr b="0" lang="en-US" sz="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10095120" y="3088080"/>
            <a:ext cx="5760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370" strike="noStrike" u="none">
                <a:solidFill>
                  <a:srgbClr val="3a7bbf"/>
                </a:solidFill>
                <a:effectLst/>
                <a:uFillTx/>
                <a:latin typeface="WenQuanYiMicroHei"/>
                <a:ea typeface="WenQuanYiMicroHei"/>
              </a:rPr>
              <a:t>离散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10189800" y="3089160"/>
            <a:ext cx="527040" cy="54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3a7bbf"/>
                </a:solidFill>
                <a:effectLst/>
                <a:uFillTx/>
                <a:latin typeface="Arial"/>
                <a:ea typeface="Arial"/>
              </a:rPr>
              <a:t>GPU + PCIe/SSD offload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10137600" y="3146040"/>
            <a:ext cx="5760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370" strike="noStrike" u="none">
                <a:solidFill>
                  <a:srgbClr val="3a7bbf"/>
                </a:solidFill>
                <a:effectLst/>
                <a:uFillTx/>
                <a:latin typeface="WenQuanYiMicroHei"/>
                <a:ea typeface="WenQuanYiMicroHei"/>
              </a:rPr>
              <a:t>本文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10231920" y="3147120"/>
            <a:ext cx="331560" cy="54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70" strike="noStrike" u="none">
                <a:solidFill>
                  <a:srgbClr val="3a7bbf"/>
                </a:solidFill>
                <a:effectLst/>
                <a:uFillTx/>
                <a:latin typeface="Arial"/>
                <a:ea typeface="Arial"/>
              </a:rPr>
              <a:t> regime (ρ≥10, 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10563480" y="3146040"/>
            <a:ext cx="5760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370" strike="noStrike" u="none" i="0">
                <a:solidFill>
                  <a:srgbClr val="3a7bbf"/>
                </a:solidFill>
                <a:effectLst/>
                <a:uFillTx/>
                <a:latin typeface="Noto Sans SC"/>
                <a:ea typeface="Noto Sans SC"/>
              </a:rPr>
              <a:t>饱和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10658160" y="3147120"/>
            <a:ext cx="46800" cy="54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 i="0">
                <a:solidFill>
                  <a:srgbClr val="3a7bbf"/>
                </a:solidFill>
                <a:effectLst/>
                <a:uFillTx/>
                <a:latin typeface="Noto Sans SC"/>
                <a:ea typeface="Noto Sans SC"/>
              </a:rPr>
              <a:t>)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9331200" y="4294800"/>
            <a:ext cx="228600" cy="5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50" strike="noStrike" u="none">
                <a:solidFill>
                  <a:srgbClr val="333333"/>
                </a:solidFill>
                <a:effectLst/>
                <a:uFillTx/>
                <a:latin typeface="NotoSansCJKsc"/>
                <a:ea typeface="NotoSansCJKsc"/>
              </a:rPr>
              <a:t>◆=各模型实测</a:t>
            </a:r>
            <a:endParaRPr b="0" lang="en-US" sz="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9649800" y="4294800"/>
            <a:ext cx="130680" cy="5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ρ操作点</a:t>
            </a:r>
            <a:endParaRPr b="0" lang="en-US" sz="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9834120" y="4294800"/>
            <a:ext cx="80640" cy="5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(真机</a:t>
            </a:r>
            <a:endParaRPr b="0" lang="en-US" sz="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9950760" y="4295880"/>
            <a:ext cx="371520" cy="4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 A100-80GB-PCIe)</a:t>
            </a:r>
            <a:endParaRPr b="0" lang="en-US" sz="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9701280" y="4223880"/>
            <a:ext cx="329040" cy="4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330" strike="noStrike" u="none" i="0">
                <a:solidFill>
                  <a:srgbClr val="8c564b"/>
                </a:solidFill>
                <a:effectLst/>
                <a:uFillTx/>
                <a:latin typeface="Noto Sans SC"/>
                <a:ea typeface="Noto Sans SC"/>
              </a:rPr>
              <a:t>＋SSD offload(实测</a:t>
            </a:r>
            <a:endParaRPr b="0" lang="en-US" sz="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10064160" y="4223880"/>
            <a:ext cx="166680" cy="4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30" strike="noStrike" u="none">
                <a:solidFill>
                  <a:srgbClr val="8c564b"/>
                </a:solidFill>
                <a:effectLst/>
                <a:uFillTx/>
                <a:latin typeface="Arial"/>
                <a:ea typeface="Arial"/>
              </a:rPr>
              <a:t>NVMe冷读</a:t>
            </a:r>
            <a:endParaRPr b="0" lang="en-US" sz="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10265040" y="4223880"/>
            <a:ext cx="936000" cy="4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30" strike="noStrike" u="none">
                <a:solidFill>
                  <a:srgbClr val="8c564b"/>
                </a:solidFill>
                <a:effectLst/>
                <a:uFillTx/>
                <a:latin typeface="Arial"/>
                <a:ea typeface="Arial"/>
              </a:rPr>
              <a:t>5.6GB/s): Llama4 ρ≈208–312 → off-scale右,同天花板</a:t>
            </a:r>
            <a:endParaRPr b="0" lang="en-US" sz="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9278280" y="4105080"/>
            <a:ext cx="2001960" cy="0"/>
          </a:xfrm>
          <a:prstGeom prst="line">
            <a:avLst/>
          </a:prstGeom>
          <a:ln w="5040">
            <a:solidFill>
              <a:srgbClr val="ddddd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9278280" y="3831480"/>
            <a:ext cx="2001960" cy="0"/>
          </a:xfrm>
          <a:prstGeom prst="line">
            <a:avLst/>
          </a:prstGeom>
          <a:ln w="5040">
            <a:solidFill>
              <a:srgbClr val="ddddd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9147600" y="4078440"/>
            <a:ext cx="9864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0.5x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9278280" y="3557880"/>
            <a:ext cx="2001960" cy="0"/>
          </a:xfrm>
          <a:prstGeom prst="line">
            <a:avLst/>
          </a:prstGeom>
          <a:ln w="5040">
            <a:solidFill>
              <a:srgbClr val="ddddd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9147600" y="3805200"/>
            <a:ext cx="9864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1.0x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9278280" y="3284280"/>
            <a:ext cx="2001960" cy="0"/>
          </a:xfrm>
          <a:prstGeom prst="line">
            <a:avLst/>
          </a:prstGeom>
          <a:ln w="5040">
            <a:solidFill>
              <a:srgbClr val="ddddd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9147600" y="3531600"/>
            <a:ext cx="9864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1.5x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9278280" y="3828960"/>
            <a:ext cx="2002320" cy="5400"/>
          </a:xfrm>
          <a:custGeom>
            <a:avLst/>
            <a:gdLst/>
            <a:ahLst/>
            <a:rect l="0" t="0" r="r" b="b"/>
            <a:pathLst>
              <a:path w="5562" h="15">
                <a:moveTo>
                  <a:pt x="0" y="0"/>
                </a:moveTo>
                <a:lnTo>
                  <a:pt x="59" y="0"/>
                </a:lnTo>
                <a:lnTo>
                  <a:pt x="59" y="15"/>
                </a:lnTo>
                <a:lnTo>
                  <a:pt x="0" y="15"/>
                </a:lnTo>
                <a:lnTo>
                  <a:pt x="0" y="0"/>
                </a:lnTo>
                <a:moveTo>
                  <a:pt x="103" y="0"/>
                </a:moveTo>
                <a:lnTo>
                  <a:pt x="161" y="0"/>
                </a:lnTo>
                <a:lnTo>
                  <a:pt x="161" y="15"/>
                </a:lnTo>
                <a:lnTo>
                  <a:pt x="103" y="15"/>
                </a:lnTo>
                <a:lnTo>
                  <a:pt x="103" y="0"/>
                </a:lnTo>
                <a:moveTo>
                  <a:pt x="205" y="0"/>
                </a:moveTo>
                <a:lnTo>
                  <a:pt x="264" y="0"/>
                </a:lnTo>
                <a:lnTo>
                  <a:pt x="264" y="15"/>
                </a:lnTo>
                <a:lnTo>
                  <a:pt x="205" y="15"/>
                </a:lnTo>
                <a:lnTo>
                  <a:pt x="205" y="0"/>
                </a:lnTo>
                <a:moveTo>
                  <a:pt x="307" y="0"/>
                </a:moveTo>
                <a:lnTo>
                  <a:pt x="366" y="0"/>
                </a:lnTo>
                <a:lnTo>
                  <a:pt x="366" y="15"/>
                </a:lnTo>
                <a:lnTo>
                  <a:pt x="307" y="15"/>
                </a:lnTo>
                <a:lnTo>
                  <a:pt x="307" y="0"/>
                </a:lnTo>
                <a:moveTo>
                  <a:pt x="410" y="0"/>
                </a:moveTo>
                <a:lnTo>
                  <a:pt x="468" y="0"/>
                </a:lnTo>
                <a:lnTo>
                  <a:pt x="468" y="15"/>
                </a:lnTo>
                <a:lnTo>
                  <a:pt x="410" y="15"/>
                </a:lnTo>
                <a:lnTo>
                  <a:pt x="410" y="0"/>
                </a:lnTo>
                <a:moveTo>
                  <a:pt x="512" y="0"/>
                </a:moveTo>
                <a:lnTo>
                  <a:pt x="571" y="0"/>
                </a:lnTo>
                <a:lnTo>
                  <a:pt x="571" y="15"/>
                </a:lnTo>
                <a:lnTo>
                  <a:pt x="512" y="15"/>
                </a:lnTo>
                <a:lnTo>
                  <a:pt x="512" y="0"/>
                </a:lnTo>
                <a:moveTo>
                  <a:pt x="615" y="0"/>
                </a:moveTo>
                <a:lnTo>
                  <a:pt x="673" y="0"/>
                </a:lnTo>
                <a:lnTo>
                  <a:pt x="673" y="15"/>
                </a:lnTo>
                <a:lnTo>
                  <a:pt x="615" y="15"/>
                </a:lnTo>
                <a:lnTo>
                  <a:pt x="615" y="0"/>
                </a:lnTo>
                <a:moveTo>
                  <a:pt x="717" y="0"/>
                </a:moveTo>
                <a:lnTo>
                  <a:pt x="776" y="0"/>
                </a:lnTo>
                <a:lnTo>
                  <a:pt x="776" y="15"/>
                </a:lnTo>
                <a:lnTo>
                  <a:pt x="717" y="15"/>
                </a:lnTo>
                <a:lnTo>
                  <a:pt x="717" y="0"/>
                </a:lnTo>
                <a:moveTo>
                  <a:pt x="820" y="0"/>
                </a:moveTo>
                <a:lnTo>
                  <a:pt x="878" y="0"/>
                </a:lnTo>
                <a:lnTo>
                  <a:pt x="878" y="15"/>
                </a:lnTo>
                <a:lnTo>
                  <a:pt x="820" y="15"/>
                </a:lnTo>
                <a:lnTo>
                  <a:pt x="820" y="0"/>
                </a:lnTo>
                <a:moveTo>
                  <a:pt x="922" y="0"/>
                </a:moveTo>
                <a:lnTo>
                  <a:pt x="981" y="0"/>
                </a:lnTo>
                <a:lnTo>
                  <a:pt x="981" y="15"/>
                </a:lnTo>
                <a:lnTo>
                  <a:pt x="922" y="15"/>
                </a:lnTo>
                <a:lnTo>
                  <a:pt x="922" y="0"/>
                </a:lnTo>
                <a:moveTo>
                  <a:pt x="1024" y="0"/>
                </a:moveTo>
                <a:lnTo>
                  <a:pt x="1083" y="0"/>
                </a:lnTo>
                <a:lnTo>
                  <a:pt x="1083" y="15"/>
                </a:lnTo>
                <a:lnTo>
                  <a:pt x="1024" y="15"/>
                </a:lnTo>
                <a:lnTo>
                  <a:pt x="1024" y="0"/>
                </a:lnTo>
                <a:moveTo>
                  <a:pt x="1127" y="0"/>
                </a:moveTo>
                <a:lnTo>
                  <a:pt x="1185" y="0"/>
                </a:lnTo>
                <a:lnTo>
                  <a:pt x="1185" y="15"/>
                </a:lnTo>
                <a:lnTo>
                  <a:pt x="1127" y="15"/>
                </a:lnTo>
                <a:lnTo>
                  <a:pt x="1127" y="0"/>
                </a:lnTo>
                <a:moveTo>
                  <a:pt x="1229" y="0"/>
                </a:moveTo>
                <a:lnTo>
                  <a:pt x="1288" y="0"/>
                </a:lnTo>
                <a:lnTo>
                  <a:pt x="1288" y="15"/>
                </a:lnTo>
                <a:lnTo>
                  <a:pt x="1229" y="15"/>
                </a:lnTo>
                <a:lnTo>
                  <a:pt x="1229" y="0"/>
                </a:lnTo>
                <a:moveTo>
                  <a:pt x="1332" y="0"/>
                </a:moveTo>
                <a:lnTo>
                  <a:pt x="1390" y="0"/>
                </a:lnTo>
                <a:lnTo>
                  <a:pt x="1390" y="15"/>
                </a:lnTo>
                <a:lnTo>
                  <a:pt x="1332" y="15"/>
                </a:lnTo>
                <a:lnTo>
                  <a:pt x="1332" y="0"/>
                </a:lnTo>
                <a:moveTo>
                  <a:pt x="1434" y="0"/>
                </a:moveTo>
                <a:lnTo>
                  <a:pt x="1493" y="0"/>
                </a:lnTo>
                <a:lnTo>
                  <a:pt x="1493" y="15"/>
                </a:lnTo>
                <a:lnTo>
                  <a:pt x="1434" y="15"/>
                </a:lnTo>
                <a:lnTo>
                  <a:pt x="1434" y="0"/>
                </a:lnTo>
                <a:moveTo>
                  <a:pt x="1537" y="0"/>
                </a:moveTo>
                <a:lnTo>
                  <a:pt x="1595" y="0"/>
                </a:lnTo>
                <a:lnTo>
                  <a:pt x="1595" y="15"/>
                </a:lnTo>
                <a:lnTo>
                  <a:pt x="1537" y="15"/>
                </a:lnTo>
                <a:lnTo>
                  <a:pt x="1537" y="0"/>
                </a:lnTo>
                <a:moveTo>
                  <a:pt x="1639" y="0"/>
                </a:moveTo>
                <a:lnTo>
                  <a:pt x="1698" y="0"/>
                </a:lnTo>
                <a:lnTo>
                  <a:pt x="1698" y="15"/>
                </a:lnTo>
                <a:lnTo>
                  <a:pt x="1639" y="15"/>
                </a:lnTo>
                <a:lnTo>
                  <a:pt x="1639" y="0"/>
                </a:lnTo>
                <a:moveTo>
                  <a:pt x="1741" y="0"/>
                </a:moveTo>
                <a:lnTo>
                  <a:pt x="1800" y="0"/>
                </a:lnTo>
                <a:lnTo>
                  <a:pt x="1800" y="15"/>
                </a:lnTo>
                <a:lnTo>
                  <a:pt x="1741" y="15"/>
                </a:lnTo>
                <a:lnTo>
                  <a:pt x="1741" y="0"/>
                </a:lnTo>
                <a:moveTo>
                  <a:pt x="1844" y="0"/>
                </a:moveTo>
                <a:lnTo>
                  <a:pt x="1902" y="0"/>
                </a:lnTo>
                <a:lnTo>
                  <a:pt x="1902" y="15"/>
                </a:lnTo>
                <a:lnTo>
                  <a:pt x="1844" y="15"/>
                </a:lnTo>
                <a:lnTo>
                  <a:pt x="1844" y="0"/>
                </a:lnTo>
                <a:moveTo>
                  <a:pt x="1946" y="0"/>
                </a:moveTo>
                <a:lnTo>
                  <a:pt x="2005" y="0"/>
                </a:lnTo>
                <a:lnTo>
                  <a:pt x="2005" y="15"/>
                </a:lnTo>
                <a:lnTo>
                  <a:pt x="1946" y="15"/>
                </a:lnTo>
                <a:lnTo>
                  <a:pt x="1946" y="0"/>
                </a:lnTo>
                <a:moveTo>
                  <a:pt x="2049" y="0"/>
                </a:moveTo>
                <a:lnTo>
                  <a:pt x="2107" y="0"/>
                </a:lnTo>
                <a:lnTo>
                  <a:pt x="2107" y="15"/>
                </a:lnTo>
                <a:lnTo>
                  <a:pt x="2049" y="15"/>
                </a:lnTo>
                <a:lnTo>
                  <a:pt x="2049" y="0"/>
                </a:lnTo>
                <a:moveTo>
                  <a:pt x="2151" y="0"/>
                </a:moveTo>
                <a:lnTo>
                  <a:pt x="2210" y="0"/>
                </a:lnTo>
                <a:lnTo>
                  <a:pt x="2210" y="15"/>
                </a:lnTo>
                <a:lnTo>
                  <a:pt x="2151" y="15"/>
                </a:lnTo>
                <a:lnTo>
                  <a:pt x="2151" y="0"/>
                </a:lnTo>
                <a:moveTo>
                  <a:pt x="2254" y="0"/>
                </a:moveTo>
                <a:lnTo>
                  <a:pt x="2312" y="0"/>
                </a:lnTo>
                <a:lnTo>
                  <a:pt x="2312" y="15"/>
                </a:lnTo>
                <a:lnTo>
                  <a:pt x="2254" y="15"/>
                </a:lnTo>
                <a:lnTo>
                  <a:pt x="2254" y="0"/>
                </a:lnTo>
                <a:moveTo>
                  <a:pt x="2356" y="0"/>
                </a:moveTo>
                <a:lnTo>
                  <a:pt x="2415" y="0"/>
                </a:lnTo>
                <a:lnTo>
                  <a:pt x="2415" y="15"/>
                </a:lnTo>
                <a:lnTo>
                  <a:pt x="2356" y="15"/>
                </a:lnTo>
                <a:lnTo>
                  <a:pt x="2356" y="0"/>
                </a:lnTo>
                <a:moveTo>
                  <a:pt x="2459" y="0"/>
                </a:moveTo>
                <a:lnTo>
                  <a:pt x="2517" y="0"/>
                </a:lnTo>
                <a:lnTo>
                  <a:pt x="2517" y="15"/>
                </a:lnTo>
                <a:lnTo>
                  <a:pt x="2459" y="15"/>
                </a:lnTo>
                <a:lnTo>
                  <a:pt x="2459" y="0"/>
                </a:lnTo>
                <a:moveTo>
                  <a:pt x="2561" y="0"/>
                </a:moveTo>
                <a:lnTo>
                  <a:pt x="2619" y="0"/>
                </a:lnTo>
                <a:lnTo>
                  <a:pt x="2619" y="15"/>
                </a:lnTo>
                <a:lnTo>
                  <a:pt x="2561" y="15"/>
                </a:lnTo>
                <a:lnTo>
                  <a:pt x="2561" y="0"/>
                </a:lnTo>
                <a:moveTo>
                  <a:pt x="2663" y="0"/>
                </a:moveTo>
                <a:lnTo>
                  <a:pt x="2722" y="0"/>
                </a:lnTo>
                <a:lnTo>
                  <a:pt x="2722" y="15"/>
                </a:lnTo>
                <a:lnTo>
                  <a:pt x="2663" y="15"/>
                </a:lnTo>
                <a:lnTo>
                  <a:pt x="2663" y="0"/>
                </a:lnTo>
                <a:moveTo>
                  <a:pt x="2766" y="0"/>
                </a:moveTo>
                <a:lnTo>
                  <a:pt x="2824" y="0"/>
                </a:lnTo>
                <a:lnTo>
                  <a:pt x="2824" y="15"/>
                </a:lnTo>
                <a:lnTo>
                  <a:pt x="2766" y="15"/>
                </a:lnTo>
                <a:lnTo>
                  <a:pt x="2766" y="0"/>
                </a:lnTo>
                <a:moveTo>
                  <a:pt x="2868" y="0"/>
                </a:moveTo>
                <a:lnTo>
                  <a:pt x="2927" y="0"/>
                </a:lnTo>
                <a:lnTo>
                  <a:pt x="2927" y="15"/>
                </a:lnTo>
                <a:lnTo>
                  <a:pt x="2868" y="15"/>
                </a:lnTo>
                <a:lnTo>
                  <a:pt x="2868" y="0"/>
                </a:lnTo>
                <a:moveTo>
                  <a:pt x="2971" y="0"/>
                </a:moveTo>
                <a:lnTo>
                  <a:pt x="3029" y="0"/>
                </a:lnTo>
                <a:lnTo>
                  <a:pt x="3029" y="15"/>
                </a:lnTo>
                <a:lnTo>
                  <a:pt x="2971" y="15"/>
                </a:lnTo>
                <a:lnTo>
                  <a:pt x="2971" y="0"/>
                </a:lnTo>
                <a:moveTo>
                  <a:pt x="3073" y="0"/>
                </a:moveTo>
                <a:lnTo>
                  <a:pt x="3132" y="0"/>
                </a:lnTo>
                <a:lnTo>
                  <a:pt x="3132" y="15"/>
                </a:lnTo>
                <a:lnTo>
                  <a:pt x="3073" y="15"/>
                </a:lnTo>
                <a:lnTo>
                  <a:pt x="3073" y="0"/>
                </a:lnTo>
                <a:moveTo>
                  <a:pt x="3176" y="0"/>
                </a:moveTo>
                <a:lnTo>
                  <a:pt x="3234" y="0"/>
                </a:lnTo>
                <a:lnTo>
                  <a:pt x="3234" y="15"/>
                </a:lnTo>
                <a:lnTo>
                  <a:pt x="3176" y="15"/>
                </a:lnTo>
                <a:lnTo>
                  <a:pt x="3176" y="0"/>
                </a:lnTo>
                <a:moveTo>
                  <a:pt x="3278" y="0"/>
                </a:moveTo>
                <a:lnTo>
                  <a:pt x="3336" y="0"/>
                </a:lnTo>
                <a:lnTo>
                  <a:pt x="3336" y="15"/>
                </a:lnTo>
                <a:lnTo>
                  <a:pt x="3278" y="15"/>
                </a:lnTo>
                <a:lnTo>
                  <a:pt x="3278" y="0"/>
                </a:lnTo>
                <a:moveTo>
                  <a:pt x="3380" y="0"/>
                </a:moveTo>
                <a:lnTo>
                  <a:pt x="3439" y="0"/>
                </a:lnTo>
                <a:lnTo>
                  <a:pt x="3439" y="15"/>
                </a:lnTo>
                <a:lnTo>
                  <a:pt x="3380" y="15"/>
                </a:lnTo>
                <a:lnTo>
                  <a:pt x="3380" y="0"/>
                </a:lnTo>
                <a:moveTo>
                  <a:pt x="3483" y="0"/>
                </a:moveTo>
                <a:lnTo>
                  <a:pt x="3541" y="0"/>
                </a:lnTo>
                <a:lnTo>
                  <a:pt x="3541" y="15"/>
                </a:lnTo>
                <a:lnTo>
                  <a:pt x="3483" y="15"/>
                </a:lnTo>
                <a:lnTo>
                  <a:pt x="3483" y="0"/>
                </a:lnTo>
                <a:moveTo>
                  <a:pt x="3585" y="0"/>
                </a:moveTo>
                <a:lnTo>
                  <a:pt x="3644" y="0"/>
                </a:lnTo>
                <a:lnTo>
                  <a:pt x="3644" y="15"/>
                </a:lnTo>
                <a:lnTo>
                  <a:pt x="3585" y="15"/>
                </a:lnTo>
                <a:lnTo>
                  <a:pt x="3585" y="0"/>
                </a:lnTo>
                <a:moveTo>
                  <a:pt x="3688" y="0"/>
                </a:moveTo>
                <a:lnTo>
                  <a:pt x="3746" y="0"/>
                </a:lnTo>
                <a:lnTo>
                  <a:pt x="3746" y="15"/>
                </a:lnTo>
                <a:lnTo>
                  <a:pt x="3688" y="15"/>
                </a:lnTo>
                <a:lnTo>
                  <a:pt x="3688" y="0"/>
                </a:lnTo>
                <a:moveTo>
                  <a:pt x="3790" y="0"/>
                </a:moveTo>
                <a:lnTo>
                  <a:pt x="3849" y="0"/>
                </a:lnTo>
                <a:lnTo>
                  <a:pt x="3849" y="15"/>
                </a:lnTo>
                <a:lnTo>
                  <a:pt x="3790" y="15"/>
                </a:lnTo>
                <a:lnTo>
                  <a:pt x="3790" y="0"/>
                </a:lnTo>
                <a:moveTo>
                  <a:pt x="3893" y="0"/>
                </a:moveTo>
                <a:lnTo>
                  <a:pt x="3951" y="0"/>
                </a:lnTo>
                <a:lnTo>
                  <a:pt x="3951" y="15"/>
                </a:lnTo>
                <a:lnTo>
                  <a:pt x="3893" y="15"/>
                </a:lnTo>
                <a:lnTo>
                  <a:pt x="3893" y="0"/>
                </a:lnTo>
                <a:moveTo>
                  <a:pt x="3995" y="0"/>
                </a:moveTo>
                <a:lnTo>
                  <a:pt x="4054" y="0"/>
                </a:lnTo>
                <a:lnTo>
                  <a:pt x="4054" y="15"/>
                </a:lnTo>
                <a:lnTo>
                  <a:pt x="3995" y="15"/>
                </a:lnTo>
                <a:lnTo>
                  <a:pt x="3995" y="0"/>
                </a:lnTo>
                <a:moveTo>
                  <a:pt x="4097" y="0"/>
                </a:moveTo>
                <a:lnTo>
                  <a:pt x="4156" y="0"/>
                </a:lnTo>
                <a:lnTo>
                  <a:pt x="4156" y="15"/>
                </a:lnTo>
                <a:lnTo>
                  <a:pt x="4097" y="15"/>
                </a:lnTo>
                <a:lnTo>
                  <a:pt x="4097" y="0"/>
                </a:lnTo>
                <a:moveTo>
                  <a:pt x="4200" y="0"/>
                </a:moveTo>
                <a:lnTo>
                  <a:pt x="4258" y="0"/>
                </a:lnTo>
                <a:lnTo>
                  <a:pt x="4258" y="15"/>
                </a:lnTo>
                <a:lnTo>
                  <a:pt x="4200" y="15"/>
                </a:lnTo>
                <a:lnTo>
                  <a:pt x="4200" y="0"/>
                </a:lnTo>
                <a:moveTo>
                  <a:pt x="4302" y="0"/>
                </a:moveTo>
                <a:lnTo>
                  <a:pt x="4361" y="0"/>
                </a:lnTo>
                <a:lnTo>
                  <a:pt x="4361" y="15"/>
                </a:lnTo>
                <a:lnTo>
                  <a:pt x="4302" y="15"/>
                </a:lnTo>
                <a:lnTo>
                  <a:pt x="4302" y="0"/>
                </a:lnTo>
                <a:moveTo>
                  <a:pt x="4405" y="0"/>
                </a:moveTo>
                <a:lnTo>
                  <a:pt x="4463" y="0"/>
                </a:lnTo>
                <a:lnTo>
                  <a:pt x="4463" y="15"/>
                </a:lnTo>
                <a:lnTo>
                  <a:pt x="4405" y="15"/>
                </a:lnTo>
                <a:lnTo>
                  <a:pt x="4405" y="0"/>
                </a:lnTo>
                <a:moveTo>
                  <a:pt x="4507" y="0"/>
                </a:moveTo>
                <a:lnTo>
                  <a:pt x="4566" y="0"/>
                </a:lnTo>
                <a:lnTo>
                  <a:pt x="4566" y="15"/>
                </a:lnTo>
                <a:lnTo>
                  <a:pt x="4507" y="15"/>
                </a:lnTo>
                <a:lnTo>
                  <a:pt x="4507" y="0"/>
                </a:lnTo>
                <a:moveTo>
                  <a:pt x="4610" y="0"/>
                </a:moveTo>
                <a:lnTo>
                  <a:pt x="4668" y="0"/>
                </a:lnTo>
                <a:lnTo>
                  <a:pt x="4668" y="15"/>
                </a:lnTo>
                <a:lnTo>
                  <a:pt x="4610" y="15"/>
                </a:lnTo>
                <a:lnTo>
                  <a:pt x="4610" y="0"/>
                </a:lnTo>
                <a:moveTo>
                  <a:pt x="4712" y="0"/>
                </a:moveTo>
                <a:lnTo>
                  <a:pt x="4771" y="0"/>
                </a:lnTo>
                <a:lnTo>
                  <a:pt x="4771" y="15"/>
                </a:lnTo>
                <a:lnTo>
                  <a:pt x="4712" y="15"/>
                </a:lnTo>
                <a:lnTo>
                  <a:pt x="4712" y="0"/>
                </a:lnTo>
                <a:moveTo>
                  <a:pt x="4815" y="0"/>
                </a:moveTo>
                <a:lnTo>
                  <a:pt x="4874" y="0"/>
                </a:lnTo>
                <a:lnTo>
                  <a:pt x="4874" y="15"/>
                </a:lnTo>
                <a:lnTo>
                  <a:pt x="4815" y="15"/>
                </a:lnTo>
                <a:lnTo>
                  <a:pt x="4815" y="0"/>
                </a:lnTo>
                <a:moveTo>
                  <a:pt x="4918" y="0"/>
                </a:moveTo>
                <a:lnTo>
                  <a:pt x="4976" y="0"/>
                </a:lnTo>
                <a:lnTo>
                  <a:pt x="4976" y="15"/>
                </a:lnTo>
                <a:lnTo>
                  <a:pt x="4918" y="15"/>
                </a:lnTo>
                <a:lnTo>
                  <a:pt x="4918" y="0"/>
                </a:lnTo>
                <a:moveTo>
                  <a:pt x="5020" y="0"/>
                </a:moveTo>
                <a:lnTo>
                  <a:pt x="5079" y="0"/>
                </a:lnTo>
                <a:lnTo>
                  <a:pt x="5079" y="15"/>
                </a:lnTo>
                <a:lnTo>
                  <a:pt x="5020" y="15"/>
                </a:lnTo>
                <a:lnTo>
                  <a:pt x="5020" y="0"/>
                </a:lnTo>
                <a:moveTo>
                  <a:pt x="5123" y="0"/>
                </a:moveTo>
                <a:lnTo>
                  <a:pt x="5181" y="0"/>
                </a:lnTo>
                <a:lnTo>
                  <a:pt x="5181" y="15"/>
                </a:lnTo>
                <a:lnTo>
                  <a:pt x="5123" y="15"/>
                </a:lnTo>
                <a:lnTo>
                  <a:pt x="5123" y="0"/>
                </a:lnTo>
                <a:moveTo>
                  <a:pt x="5225" y="0"/>
                </a:moveTo>
                <a:lnTo>
                  <a:pt x="5284" y="0"/>
                </a:lnTo>
                <a:lnTo>
                  <a:pt x="5284" y="15"/>
                </a:lnTo>
                <a:lnTo>
                  <a:pt x="5225" y="15"/>
                </a:lnTo>
                <a:lnTo>
                  <a:pt x="5225" y="0"/>
                </a:lnTo>
                <a:moveTo>
                  <a:pt x="5328" y="0"/>
                </a:moveTo>
                <a:lnTo>
                  <a:pt x="5386" y="0"/>
                </a:lnTo>
                <a:lnTo>
                  <a:pt x="5386" y="15"/>
                </a:lnTo>
                <a:lnTo>
                  <a:pt x="5328" y="15"/>
                </a:lnTo>
                <a:lnTo>
                  <a:pt x="5328" y="0"/>
                </a:lnTo>
                <a:moveTo>
                  <a:pt x="5430" y="0"/>
                </a:moveTo>
                <a:lnTo>
                  <a:pt x="5489" y="0"/>
                </a:lnTo>
                <a:lnTo>
                  <a:pt x="5489" y="15"/>
                </a:lnTo>
                <a:lnTo>
                  <a:pt x="5430" y="15"/>
                </a:lnTo>
                <a:lnTo>
                  <a:pt x="5430" y="0"/>
                </a:lnTo>
                <a:moveTo>
                  <a:pt x="5532" y="0"/>
                </a:moveTo>
                <a:lnTo>
                  <a:pt x="5562" y="0"/>
                </a:lnTo>
                <a:lnTo>
                  <a:pt x="5562" y="15"/>
                </a:lnTo>
                <a:lnTo>
                  <a:pt x="5532" y="15"/>
                </a:lnTo>
                <a:lnTo>
                  <a:pt x="5532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9147600" y="3258000"/>
            <a:ext cx="9864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2.0x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10930680" y="3761640"/>
            <a:ext cx="1825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LRU基线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11155320" y="3762720"/>
            <a:ext cx="10296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=1.0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9233280" y="4409640"/>
            <a:ext cx="8928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ρ=1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9719280" y="4409640"/>
            <a:ext cx="11808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ρ=10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10219680" y="4409640"/>
            <a:ext cx="11808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ρ=25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10720080" y="4409640"/>
            <a:ext cx="11808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ρ=50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11206080" y="4409640"/>
            <a:ext cx="14688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ρ=100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10690560" y="4492440"/>
            <a:ext cx="5760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370" strike="noStrike" u="none">
                <a:solidFill>
                  <a:srgbClr val="3a7bbf"/>
                </a:solidFill>
                <a:effectLst/>
                <a:uFillTx/>
                <a:latin typeface="WenQuanYiMicroHei"/>
                <a:ea typeface="WenQuanYiMicroHei"/>
              </a:rPr>
              <a:t>边缘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10785240" y="4492440"/>
            <a:ext cx="9900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 i="0">
                <a:solidFill>
                  <a:srgbClr val="3a7bbf"/>
                </a:solidFill>
                <a:effectLst/>
                <a:uFillTx/>
                <a:latin typeface="Noto Sans SC"/>
                <a:ea typeface="Noto Sans SC"/>
              </a:rPr>
              <a:t>/消费级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10940400" y="4492440"/>
            <a:ext cx="17136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3a7bbf"/>
                </a:solidFill>
                <a:effectLst/>
                <a:uFillTx/>
                <a:latin typeface="Arial"/>
                <a:ea typeface="Arial"/>
              </a:rPr>
              <a:t> → ρ 更大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 txBox="1"/>
          <p:nvPr/>
        </p:nvSpPr>
        <p:spPr>
          <a:xfrm>
            <a:off x="11148840" y="4492440"/>
            <a:ext cx="8388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 i="0">
                <a:solidFill>
                  <a:srgbClr val="3a7bbf"/>
                </a:solidFill>
                <a:effectLst/>
                <a:uFillTx/>
                <a:latin typeface="Noto Sans SC"/>
                <a:ea typeface="Noto Sans SC"/>
              </a:rPr>
              <a:t>,更右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9767520" y="4566240"/>
            <a:ext cx="63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410" strike="noStrike" u="non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单次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9872640" y="4567680"/>
            <a:ext cx="13608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miss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10009800" y="4566240"/>
            <a:ext cx="63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41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代价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10114920" y="4567680"/>
            <a:ext cx="21024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ρ = miss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 txBox="1"/>
          <p:nvPr/>
        </p:nvSpPr>
        <p:spPr>
          <a:xfrm>
            <a:off x="10326960" y="4566240"/>
            <a:ext cx="63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41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延迟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 txBox="1"/>
          <p:nvPr/>
        </p:nvSpPr>
        <p:spPr>
          <a:xfrm>
            <a:off x="10432080" y="4566240"/>
            <a:ext cx="2311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 i="0">
                <a:solidFill>
                  <a:srgbClr val="000000"/>
                </a:solidFill>
                <a:effectLst/>
                <a:uFillTx/>
                <a:latin typeface="Noto Sans SC"/>
                <a:ea typeface="Noto Sans SC"/>
              </a:rPr>
              <a:t>/单次专家计算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9278280" y="3642120"/>
            <a:ext cx="2002320" cy="110880"/>
          </a:xfrm>
          <a:custGeom>
            <a:avLst/>
            <a:gdLst/>
            <a:ahLst/>
            <a:rect l="0" t="0" r="r" b="b"/>
            <a:pathLst>
              <a:path fill="none" w="5562" h="308">
                <a:moveTo>
                  <a:pt x="0" y="308"/>
                </a:moveTo>
                <a:lnTo>
                  <a:pt x="1390" y="58"/>
                </a:lnTo>
                <a:lnTo>
                  <a:pt x="2780" y="15"/>
                </a:lnTo>
                <a:lnTo>
                  <a:pt x="4171" y="0"/>
                </a:lnTo>
                <a:lnTo>
                  <a:pt x="5562" y="0"/>
                </a:lnTo>
              </a:path>
            </a:pathLst>
          </a:custGeom>
          <a:ln w="11520">
            <a:solidFill>
              <a:srgbClr val="d62728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 flipV="1">
            <a:off x="9278280" y="3747240"/>
            <a:ext cx="0" cy="5400"/>
          </a:xfrm>
          <a:prstGeom prst="line">
            <a:avLst/>
          </a:prstGeom>
          <a:ln w="5040">
            <a:solidFill>
              <a:srgbClr val="d627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9262440" y="373680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5"/>
                </a:moveTo>
                <a:cubicBezTo>
                  <a:pt x="89" y="51"/>
                  <a:pt x="88" y="56"/>
                  <a:pt x="86" y="62"/>
                </a:cubicBezTo>
                <a:cubicBezTo>
                  <a:pt x="83" y="67"/>
                  <a:pt x="80" y="72"/>
                  <a:pt x="76" y="76"/>
                </a:cubicBezTo>
                <a:cubicBezTo>
                  <a:pt x="72" y="80"/>
                  <a:pt x="66" y="83"/>
                  <a:pt x="61" y="85"/>
                </a:cubicBezTo>
                <a:cubicBezTo>
                  <a:pt x="56" y="87"/>
                  <a:pt x="50" y="89"/>
                  <a:pt x="44" y="89"/>
                </a:cubicBezTo>
                <a:cubicBezTo>
                  <a:pt x="38" y="89"/>
                  <a:pt x="33" y="87"/>
                  <a:pt x="27" y="85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2"/>
                  <a:pt x="6" y="67"/>
                  <a:pt x="4" y="62"/>
                </a:cubicBezTo>
                <a:cubicBezTo>
                  <a:pt x="1" y="56"/>
                  <a:pt x="0" y="51"/>
                  <a:pt x="0" y="45"/>
                </a:cubicBezTo>
                <a:cubicBezTo>
                  <a:pt x="0" y="39"/>
                  <a:pt x="1" y="33"/>
                  <a:pt x="4" y="28"/>
                </a:cubicBezTo>
                <a:cubicBezTo>
                  <a:pt x="6" y="23"/>
                  <a:pt x="9" y="18"/>
                  <a:pt x="13" y="13"/>
                </a:cubicBezTo>
                <a:cubicBezTo>
                  <a:pt x="17" y="9"/>
                  <a:pt x="22" y="5"/>
                  <a:pt x="27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5"/>
                  <a:pt x="72" y="9"/>
                  <a:pt x="76" y="13"/>
                </a:cubicBezTo>
                <a:cubicBezTo>
                  <a:pt x="80" y="18"/>
                  <a:pt x="83" y="23"/>
                  <a:pt x="86" y="28"/>
                </a:cubicBezTo>
                <a:cubicBezTo>
                  <a:pt x="88" y="33"/>
                  <a:pt x="89" y="39"/>
                  <a:pt x="89" y="45"/>
                </a:cubicBezTo>
                <a:close/>
              </a:path>
            </a:pathLst>
          </a:custGeom>
          <a:solidFill>
            <a:srgbClr val="d627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 flipV="1">
            <a:off x="9778680" y="3657960"/>
            <a:ext cx="0" cy="10440"/>
          </a:xfrm>
          <a:prstGeom prst="line">
            <a:avLst/>
          </a:prstGeom>
          <a:ln w="5040">
            <a:solidFill>
              <a:srgbClr val="d627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9762840" y="3647520"/>
            <a:ext cx="32040" cy="31680"/>
          </a:xfrm>
          <a:custGeom>
            <a:avLst/>
            <a:gdLst/>
            <a:ahLst/>
            <a:rect l="0" t="0" r="r" b="b"/>
            <a:pathLst>
              <a:path w="89" h="88">
                <a:moveTo>
                  <a:pt x="89" y="44"/>
                </a:moveTo>
                <a:cubicBezTo>
                  <a:pt x="89" y="50"/>
                  <a:pt x="88" y="56"/>
                  <a:pt x="86" y="61"/>
                </a:cubicBezTo>
                <a:cubicBezTo>
                  <a:pt x="84" y="67"/>
                  <a:pt x="80" y="71"/>
                  <a:pt x="76" y="75"/>
                </a:cubicBezTo>
                <a:cubicBezTo>
                  <a:pt x="72" y="79"/>
                  <a:pt x="66" y="83"/>
                  <a:pt x="61" y="85"/>
                </a:cubicBezTo>
                <a:cubicBezTo>
                  <a:pt x="56" y="87"/>
                  <a:pt x="50" y="88"/>
                  <a:pt x="44" y="88"/>
                </a:cubicBezTo>
                <a:cubicBezTo>
                  <a:pt x="38" y="88"/>
                  <a:pt x="33" y="87"/>
                  <a:pt x="27" y="85"/>
                </a:cubicBezTo>
                <a:cubicBezTo>
                  <a:pt x="22" y="83"/>
                  <a:pt x="17" y="79"/>
                  <a:pt x="13" y="75"/>
                </a:cubicBezTo>
                <a:cubicBezTo>
                  <a:pt x="9" y="71"/>
                  <a:pt x="6" y="67"/>
                  <a:pt x="4" y="61"/>
                </a:cubicBezTo>
                <a:cubicBezTo>
                  <a:pt x="2" y="56"/>
                  <a:pt x="0" y="50"/>
                  <a:pt x="0" y="44"/>
                </a:cubicBezTo>
                <a:cubicBezTo>
                  <a:pt x="0" y="39"/>
                  <a:pt x="2" y="33"/>
                  <a:pt x="4" y="28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6"/>
                  <a:pt x="27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6"/>
                  <a:pt x="72" y="9"/>
                  <a:pt x="76" y="13"/>
                </a:cubicBezTo>
                <a:cubicBezTo>
                  <a:pt x="80" y="17"/>
                  <a:pt x="84" y="22"/>
                  <a:pt x="86" y="28"/>
                </a:cubicBezTo>
                <a:cubicBezTo>
                  <a:pt x="88" y="33"/>
                  <a:pt x="89" y="39"/>
                  <a:pt x="89" y="44"/>
                </a:cubicBezTo>
                <a:close/>
              </a:path>
            </a:pathLst>
          </a:custGeom>
          <a:solidFill>
            <a:srgbClr val="d627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 flipV="1">
            <a:off x="10279080" y="3642120"/>
            <a:ext cx="0" cy="10440"/>
          </a:xfrm>
          <a:prstGeom prst="line">
            <a:avLst/>
          </a:prstGeom>
          <a:ln w="5040">
            <a:solidFill>
              <a:srgbClr val="d627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10263600" y="363168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4"/>
                </a:moveTo>
                <a:cubicBezTo>
                  <a:pt x="88" y="50"/>
                  <a:pt x="87" y="56"/>
                  <a:pt x="85" y="61"/>
                </a:cubicBezTo>
                <a:cubicBezTo>
                  <a:pt x="83" y="67"/>
                  <a:pt x="80" y="71"/>
                  <a:pt x="75" y="76"/>
                </a:cubicBezTo>
                <a:cubicBezTo>
                  <a:pt x="71" y="80"/>
                  <a:pt x="66" y="83"/>
                  <a:pt x="60" y="85"/>
                </a:cubicBezTo>
                <a:cubicBezTo>
                  <a:pt x="55" y="87"/>
                  <a:pt x="49" y="88"/>
                  <a:pt x="43" y="88"/>
                </a:cubicBezTo>
                <a:cubicBezTo>
                  <a:pt x="38" y="88"/>
                  <a:pt x="32" y="87"/>
                  <a:pt x="27" y="85"/>
                </a:cubicBezTo>
                <a:cubicBezTo>
                  <a:pt x="21" y="83"/>
                  <a:pt x="17" y="80"/>
                  <a:pt x="12" y="76"/>
                </a:cubicBezTo>
                <a:cubicBezTo>
                  <a:pt x="8" y="71"/>
                  <a:pt x="5" y="67"/>
                  <a:pt x="3" y="61"/>
                </a:cubicBezTo>
                <a:cubicBezTo>
                  <a:pt x="1" y="56"/>
                  <a:pt x="0" y="50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1"/>
                  <a:pt x="8" y="17"/>
                  <a:pt x="12" y="13"/>
                </a:cubicBezTo>
                <a:cubicBezTo>
                  <a:pt x="17" y="8"/>
                  <a:pt x="21" y="5"/>
                  <a:pt x="27" y="3"/>
                </a:cubicBezTo>
                <a:cubicBezTo>
                  <a:pt x="32" y="1"/>
                  <a:pt x="38" y="0"/>
                  <a:pt x="43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5"/>
                  <a:pt x="71" y="8"/>
                  <a:pt x="75" y="13"/>
                </a:cubicBezTo>
                <a:cubicBezTo>
                  <a:pt x="80" y="17"/>
                  <a:pt x="83" y="21"/>
                  <a:pt x="85" y="27"/>
                </a:cubicBezTo>
                <a:cubicBezTo>
                  <a:pt x="87" y="32"/>
                  <a:pt x="88" y="38"/>
                  <a:pt x="88" y="44"/>
                </a:cubicBezTo>
                <a:close/>
              </a:path>
            </a:pathLst>
          </a:custGeom>
          <a:solidFill>
            <a:srgbClr val="d627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 flipV="1">
            <a:off x="10779840" y="3636720"/>
            <a:ext cx="0" cy="10800"/>
          </a:xfrm>
          <a:prstGeom prst="line">
            <a:avLst/>
          </a:prstGeom>
          <a:ln w="5040">
            <a:solidFill>
              <a:srgbClr val="d627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10764000" y="3626280"/>
            <a:ext cx="31680" cy="32040"/>
          </a:xfrm>
          <a:custGeom>
            <a:avLst/>
            <a:gdLst/>
            <a:ahLst/>
            <a:rect l="0" t="0" r="r" b="b"/>
            <a:pathLst>
              <a:path w="88" h="89">
                <a:moveTo>
                  <a:pt x="88" y="44"/>
                </a:moveTo>
                <a:cubicBezTo>
                  <a:pt x="88" y="50"/>
                  <a:pt x="87" y="55"/>
                  <a:pt x="85" y="61"/>
                </a:cubicBezTo>
                <a:cubicBezTo>
                  <a:pt x="83" y="67"/>
                  <a:pt x="80" y="72"/>
                  <a:pt x="76" y="76"/>
                </a:cubicBezTo>
                <a:cubicBezTo>
                  <a:pt x="71" y="80"/>
                  <a:pt x="66" y="83"/>
                  <a:pt x="60" y="85"/>
                </a:cubicBezTo>
                <a:cubicBezTo>
                  <a:pt x="55" y="88"/>
                  <a:pt x="49" y="89"/>
                  <a:pt x="44" y="89"/>
                </a:cubicBezTo>
                <a:cubicBezTo>
                  <a:pt x="38" y="89"/>
                  <a:pt x="32" y="88"/>
                  <a:pt x="27" y="85"/>
                </a:cubicBezTo>
                <a:cubicBezTo>
                  <a:pt x="21" y="83"/>
                  <a:pt x="17" y="80"/>
                  <a:pt x="13" y="76"/>
                </a:cubicBezTo>
                <a:cubicBezTo>
                  <a:pt x="8" y="72"/>
                  <a:pt x="5" y="67"/>
                  <a:pt x="3" y="61"/>
                </a:cubicBezTo>
                <a:cubicBezTo>
                  <a:pt x="1" y="55"/>
                  <a:pt x="0" y="50"/>
                  <a:pt x="0" y="44"/>
                </a:cubicBezTo>
                <a:cubicBezTo>
                  <a:pt x="0" y="38"/>
                  <a:pt x="1" y="33"/>
                  <a:pt x="3" y="27"/>
                </a:cubicBezTo>
                <a:cubicBezTo>
                  <a:pt x="5" y="22"/>
                  <a:pt x="8" y="17"/>
                  <a:pt x="13" y="13"/>
                </a:cubicBezTo>
                <a:cubicBezTo>
                  <a:pt x="17" y="9"/>
                  <a:pt x="21" y="6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6"/>
                  <a:pt x="71" y="9"/>
                  <a:pt x="76" y="13"/>
                </a:cubicBezTo>
                <a:cubicBezTo>
                  <a:pt x="80" y="17"/>
                  <a:pt x="83" y="22"/>
                  <a:pt x="85" y="27"/>
                </a:cubicBezTo>
                <a:cubicBezTo>
                  <a:pt x="87" y="33"/>
                  <a:pt x="88" y="38"/>
                  <a:pt x="88" y="44"/>
                </a:cubicBezTo>
                <a:close/>
              </a:path>
            </a:pathLst>
          </a:custGeom>
          <a:solidFill>
            <a:srgbClr val="d627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 flipV="1">
            <a:off x="11280240" y="3631680"/>
            <a:ext cx="0" cy="15840"/>
          </a:xfrm>
          <a:prstGeom prst="line">
            <a:avLst/>
          </a:prstGeom>
          <a:ln w="5040">
            <a:solidFill>
              <a:srgbClr val="d627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11264400" y="362628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4"/>
                </a:moveTo>
                <a:cubicBezTo>
                  <a:pt x="89" y="50"/>
                  <a:pt x="88" y="55"/>
                  <a:pt x="85" y="61"/>
                </a:cubicBezTo>
                <a:cubicBezTo>
                  <a:pt x="83" y="67"/>
                  <a:pt x="80" y="72"/>
                  <a:pt x="76" y="76"/>
                </a:cubicBezTo>
                <a:cubicBezTo>
                  <a:pt x="71" y="80"/>
                  <a:pt x="66" y="83"/>
                  <a:pt x="61" y="85"/>
                </a:cubicBezTo>
                <a:cubicBezTo>
                  <a:pt x="55" y="88"/>
                  <a:pt x="50" y="89"/>
                  <a:pt x="44" y="89"/>
                </a:cubicBezTo>
                <a:cubicBezTo>
                  <a:pt x="38" y="89"/>
                  <a:pt x="32" y="88"/>
                  <a:pt x="27" y="85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2"/>
                  <a:pt x="5" y="67"/>
                  <a:pt x="3" y="61"/>
                </a:cubicBezTo>
                <a:cubicBezTo>
                  <a:pt x="1" y="55"/>
                  <a:pt x="0" y="50"/>
                  <a:pt x="0" y="44"/>
                </a:cubicBezTo>
                <a:cubicBezTo>
                  <a:pt x="0" y="38"/>
                  <a:pt x="1" y="33"/>
                  <a:pt x="3" y="27"/>
                </a:cubicBezTo>
                <a:cubicBezTo>
                  <a:pt x="5" y="22"/>
                  <a:pt x="9" y="17"/>
                  <a:pt x="13" y="13"/>
                </a:cubicBezTo>
                <a:cubicBezTo>
                  <a:pt x="17" y="9"/>
                  <a:pt x="22" y="6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50" y="0"/>
                  <a:pt x="55" y="1"/>
                  <a:pt x="61" y="3"/>
                </a:cubicBezTo>
                <a:cubicBezTo>
                  <a:pt x="66" y="6"/>
                  <a:pt x="71" y="9"/>
                  <a:pt x="76" y="13"/>
                </a:cubicBezTo>
                <a:cubicBezTo>
                  <a:pt x="80" y="17"/>
                  <a:pt x="83" y="22"/>
                  <a:pt x="85" y="27"/>
                </a:cubicBezTo>
                <a:cubicBezTo>
                  <a:pt x="88" y="33"/>
                  <a:pt x="89" y="38"/>
                  <a:pt x="89" y="44"/>
                </a:cubicBezTo>
                <a:close/>
              </a:path>
            </a:pathLst>
          </a:custGeom>
          <a:solidFill>
            <a:srgbClr val="d627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9278280" y="3216240"/>
            <a:ext cx="2002320" cy="431640"/>
          </a:xfrm>
          <a:custGeom>
            <a:avLst/>
            <a:gdLst/>
            <a:ahLst/>
            <a:rect l="0" t="0" r="r" b="b"/>
            <a:pathLst>
              <a:path fill="none" w="5562" h="1199">
                <a:moveTo>
                  <a:pt x="0" y="1199"/>
                </a:moveTo>
                <a:lnTo>
                  <a:pt x="1390" y="307"/>
                </a:lnTo>
                <a:lnTo>
                  <a:pt x="2780" y="117"/>
                </a:lnTo>
                <a:lnTo>
                  <a:pt x="4171" y="29"/>
                </a:lnTo>
                <a:lnTo>
                  <a:pt x="5562" y="0"/>
                </a:lnTo>
              </a:path>
            </a:pathLst>
          </a:custGeom>
          <a:ln w="11520">
            <a:solidFill>
              <a:srgbClr val="1f77b4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 flipV="1">
            <a:off x="9278280" y="3647520"/>
            <a:ext cx="0" cy="5040"/>
          </a:xfrm>
          <a:prstGeom prst="line">
            <a:avLst/>
          </a:prstGeom>
          <a:ln w="5040">
            <a:solidFill>
              <a:srgbClr val="1f77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9262440" y="3631680"/>
            <a:ext cx="32040" cy="31680"/>
          </a:xfrm>
          <a:custGeom>
            <a:avLst/>
            <a:gdLst/>
            <a:ahLst/>
            <a:rect l="0" t="0" r="r" b="b"/>
            <a:pathLst>
              <a:path w="89" h="88">
                <a:moveTo>
                  <a:pt x="89" y="44"/>
                </a:moveTo>
                <a:cubicBezTo>
                  <a:pt x="89" y="50"/>
                  <a:pt x="88" y="56"/>
                  <a:pt x="86" y="61"/>
                </a:cubicBezTo>
                <a:cubicBezTo>
                  <a:pt x="83" y="67"/>
                  <a:pt x="80" y="71"/>
                  <a:pt x="76" y="76"/>
                </a:cubicBezTo>
                <a:cubicBezTo>
                  <a:pt x="72" y="80"/>
                  <a:pt x="66" y="83"/>
                  <a:pt x="61" y="85"/>
                </a:cubicBezTo>
                <a:cubicBezTo>
                  <a:pt x="56" y="87"/>
                  <a:pt x="50" y="88"/>
                  <a:pt x="44" y="88"/>
                </a:cubicBezTo>
                <a:cubicBezTo>
                  <a:pt x="38" y="88"/>
                  <a:pt x="33" y="87"/>
                  <a:pt x="27" y="85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1"/>
                  <a:pt x="6" y="67"/>
                  <a:pt x="4" y="61"/>
                </a:cubicBezTo>
                <a:cubicBezTo>
                  <a:pt x="1" y="56"/>
                  <a:pt x="0" y="50"/>
                  <a:pt x="0" y="44"/>
                </a:cubicBezTo>
                <a:cubicBezTo>
                  <a:pt x="0" y="38"/>
                  <a:pt x="1" y="32"/>
                  <a:pt x="4" y="27"/>
                </a:cubicBezTo>
                <a:cubicBezTo>
                  <a:pt x="6" y="21"/>
                  <a:pt x="9" y="17"/>
                  <a:pt x="13" y="13"/>
                </a:cubicBezTo>
                <a:cubicBezTo>
                  <a:pt x="17" y="8"/>
                  <a:pt x="22" y="5"/>
                  <a:pt x="27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5"/>
                  <a:pt x="72" y="8"/>
                  <a:pt x="76" y="13"/>
                </a:cubicBezTo>
                <a:cubicBezTo>
                  <a:pt x="80" y="17"/>
                  <a:pt x="83" y="21"/>
                  <a:pt x="86" y="27"/>
                </a:cubicBezTo>
                <a:cubicBezTo>
                  <a:pt x="88" y="32"/>
                  <a:pt x="89" y="38"/>
                  <a:pt x="89" y="44"/>
                </a:cubicBez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 flipV="1">
            <a:off x="9778680" y="3310920"/>
            <a:ext cx="0" cy="26280"/>
          </a:xfrm>
          <a:prstGeom prst="line">
            <a:avLst/>
          </a:prstGeom>
          <a:ln w="5040">
            <a:solidFill>
              <a:srgbClr val="1f77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9762840" y="3310920"/>
            <a:ext cx="32040" cy="31680"/>
          </a:xfrm>
          <a:custGeom>
            <a:avLst/>
            <a:gdLst/>
            <a:ahLst/>
            <a:rect l="0" t="0" r="r" b="b"/>
            <a:pathLst>
              <a:path w="89" h="88">
                <a:moveTo>
                  <a:pt x="89" y="43"/>
                </a:moveTo>
                <a:cubicBezTo>
                  <a:pt x="89" y="49"/>
                  <a:pt x="88" y="55"/>
                  <a:pt x="86" y="60"/>
                </a:cubicBezTo>
                <a:cubicBezTo>
                  <a:pt x="84" y="66"/>
                  <a:pt x="80" y="71"/>
                  <a:pt x="76" y="75"/>
                </a:cubicBezTo>
                <a:cubicBezTo>
                  <a:pt x="72" y="79"/>
                  <a:pt x="66" y="83"/>
                  <a:pt x="61" y="85"/>
                </a:cubicBezTo>
                <a:cubicBezTo>
                  <a:pt x="56" y="87"/>
                  <a:pt x="50" y="88"/>
                  <a:pt x="44" y="88"/>
                </a:cubicBezTo>
                <a:cubicBezTo>
                  <a:pt x="38" y="88"/>
                  <a:pt x="33" y="87"/>
                  <a:pt x="27" y="85"/>
                </a:cubicBezTo>
                <a:cubicBezTo>
                  <a:pt x="22" y="83"/>
                  <a:pt x="17" y="79"/>
                  <a:pt x="13" y="75"/>
                </a:cubicBezTo>
                <a:cubicBezTo>
                  <a:pt x="9" y="71"/>
                  <a:pt x="6" y="66"/>
                  <a:pt x="4" y="60"/>
                </a:cubicBezTo>
                <a:cubicBezTo>
                  <a:pt x="2" y="55"/>
                  <a:pt x="0" y="49"/>
                  <a:pt x="0" y="43"/>
                </a:cubicBezTo>
                <a:cubicBezTo>
                  <a:pt x="0" y="38"/>
                  <a:pt x="2" y="32"/>
                  <a:pt x="4" y="27"/>
                </a:cubicBezTo>
                <a:cubicBezTo>
                  <a:pt x="6" y="21"/>
                  <a:pt x="9" y="16"/>
                  <a:pt x="13" y="12"/>
                </a:cubicBezTo>
                <a:cubicBezTo>
                  <a:pt x="17" y="8"/>
                  <a:pt x="22" y="5"/>
                  <a:pt x="27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5"/>
                  <a:pt x="72" y="8"/>
                  <a:pt x="76" y="12"/>
                </a:cubicBezTo>
                <a:cubicBezTo>
                  <a:pt x="80" y="16"/>
                  <a:pt x="84" y="21"/>
                  <a:pt x="86" y="27"/>
                </a:cubicBezTo>
                <a:cubicBezTo>
                  <a:pt x="88" y="32"/>
                  <a:pt x="89" y="38"/>
                  <a:pt x="89" y="43"/>
                </a:cubicBez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 flipV="1">
            <a:off x="10279080" y="3242520"/>
            <a:ext cx="0" cy="31320"/>
          </a:xfrm>
          <a:prstGeom prst="line">
            <a:avLst/>
          </a:prstGeom>
          <a:ln w="5040">
            <a:solidFill>
              <a:srgbClr val="1f77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10263600" y="324252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3"/>
                </a:moveTo>
                <a:cubicBezTo>
                  <a:pt x="88" y="49"/>
                  <a:pt x="87" y="55"/>
                  <a:pt x="85" y="60"/>
                </a:cubicBezTo>
                <a:cubicBezTo>
                  <a:pt x="83" y="66"/>
                  <a:pt x="80" y="70"/>
                  <a:pt x="75" y="74"/>
                </a:cubicBezTo>
                <a:cubicBezTo>
                  <a:pt x="71" y="79"/>
                  <a:pt x="66" y="82"/>
                  <a:pt x="60" y="84"/>
                </a:cubicBezTo>
                <a:cubicBezTo>
                  <a:pt x="55" y="87"/>
                  <a:pt x="49" y="88"/>
                  <a:pt x="43" y="88"/>
                </a:cubicBezTo>
                <a:cubicBezTo>
                  <a:pt x="38" y="88"/>
                  <a:pt x="32" y="87"/>
                  <a:pt x="27" y="84"/>
                </a:cubicBezTo>
                <a:cubicBezTo>
                  <a:pt x="21" y="82"/>
                  <a:pt x="17" y="79"/>
                  <a:pt x="12" y="74"/>
                </a:cubicBezTo>
                <a:cubicBezTo>
                  <a:pt x="8" y="70"/>
                  <a:pt x="5" y="66"/>
                  <a:pt x="3" y="60"/>
                </a:cubicBezTo>
                <a:cubicBezTo>
                  <a:pt x="1" y="55"/>
                  <a:pt x="0" y="49"/>
                  <a:pt x="0" y="43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1"/>
                  <a:pt x="8" y="17"/>
                  <a:pt x="12" y="12"/>
                </a:cubicBezTo>
                <a:cubicBezTo>
                  <a:pt x="17" y="8"/>
                  <a:pt x="21" y="5"/>
                  <a:pt x="27" y="3"/>
                </a:cubicBezTo>
                <a:cubicBezTo>
                  <a:pt x="32" y="1"/>
                  <a:pt x="38" y="0"/>
                  <a:pt x="43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5"/>
                  <a:pt x="71" y="8"/>
                  <a:pt x="75" y="12"/>
                </a:cubicBezTo>
                <a:cubicBezTo>
                  <a:pt x="80" y="17"/>
                  <a:pt x="83" y="21"/>
                  <a:pt x="85" y="27"/>
                </a:cubicBezTo>
                <a:cubicBezTo>
                  <a:pt x="87" y="32"/>
                  <a:pt x="88" y="38"/>
                  <a:pt x="88" y="43"/>
                </a:cubicBez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 flipV="1">
            <a:off x="10779840" y="3210840"/>
            <a:ext cx="0" cy="36720"/>
          </a:xfrm>
          <a:prstGeom prst="line">
            <a:avLst/>
          </a:prstGeom>
          <a:ln w="5040">
            <a:solidFill>
              <a:srgbClr val="1f77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10764000" y="3210840"/>
            <a:ext cx="31680" cy="32040"/>
          </a:xfrm>
          <a:custGeom>
            <a:avLst/>
            <a:gdLst/>
            <a:ahLst/>
            <a:rect l="0" t="0" r="r" b="b"/>
            <a:pathLst>
              <a:path w="88" h="89">
                <a:moveTo>
                  <a:pt x="88" y="44"/>
                </a:moveTo>
                <a:cubicBezTo>
                  <a:pt x="88" y="50"/>
                  <a:pt x="87" y="55"/>
                  <a:pt x="85" y="61"/>
                </a:cubicBezTo>
                <a:cubicBezTo>
                  <a:pt x="83" y="66"/>
                  <a:pt x="80" y="71"/>
                  <a:pt x="76" y="75"/>
                </a:cubicBezTo>
                <a:cubicBezTo>
                  <a:pt x="71" y="79"/>
                  <a:pt x="66" y="82"/>
                  <a:pt x="60" y="84"/>
                </a:cubicBezTo>
                <a:cubicBezTo>
                  <a:pt x="55" y="87"/>
                  <a:pt x="49" y="89"/>
                  <a:pt x="44" y="89"/>
                </a:cubicBezTo>
                <a:cubicBezTo>
                  <a:pt x="38" y="89"/>
                  <a:pt x="32" y="87"/>
                  <a:pt x="27" y="84"/>
                </a:cubicBezTo>
                <a:cubicBezTo>
                  <a:pt x="21" y="82"/>
                  <a:pt x="17" y="79"/>
                  <a:pt x="13" y="75"/>
                </a:cubicBezTo>
                <a:cubicBezTo>
                  <a:pt x="8" y="71"/>
                  <a:pt x="5" y="66"/>
                  <a:pt x="3" y="61"/>
                </a:cubicBezTo>
                <a:cubicBezTo>
                  <a:pt x="1" y="55"/>
                  <a:pt x="0" y="50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2"/>
                  <a:pt x="8" y="17"/>
                  <a:pt x="13" y="13"/>
                </a:cubicBezTo>
                <a:cubicBezTo>
                  <a:pt x="17" y="9"/>
                  <a:pt x="21" y="6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6"/>
                  <a:pt x="71" y="9"/>
                  <a:pt x="76" y="13"/>
                </a:cubicBezTo>
                <a:cubicBezTo>
                  <a:pt x="80" y="17"/>
                  <a:pt x="83" y="22"/>
                  <a:pt x="85" y="27"/>
                </a:cubicBezTo>
                <a:cubicBezTo>
                  <a:pt x="87" y="32"/>
                  <a:pt x="88" y="38"/>
                  <a:pt x="88" y="44"/>
                </a:cubicBez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 flipV="1">
            <a:off x="11280240" y="3195000"/>
            <a:ext cx="0" cy="36720"/>
          </a:xfrm>
          <a:prstGeom prst="line">
            <a:avLst/>
          </a:prstGeom>
          <a:ln w="5040">
            <a:solidFill>
              <a:srgbClr val="1f77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11264400" y="3200400"/>
            <a:ext cx="32040" cy="31680"/>
          </a:xfrm>
          <a:custGeom>
            <a:avLst/>
            <a:gdLst/>
            <a:ahLst/>
            <a:rect l="0" t="0" r="r" b="b"/>
            <a:pathLst>
              <a:path w="89" h="88">
                <a:moveTo>
                  <a:pt x="89" y="45"/>
                </a:moveTo>
                <a:cubicBezTo>
                  <a:pt x="89" y="50"/>
                  <a:pt x="88" y="56"/>
                  <a:pt x="85" y="61"/>
                </a:cubicBezTo>
                <a:cubicBezTo>
                  <a:pt x="83" y="67"/>
                  <a:pt x="80" y="71"/>
                  <a:pt x="76" y="76"/>
                </a:cubicBezTo>
                <a:cubicBezTo>
                  <a:pt x="71" y="80"/>
                  <a:pt x="66" y="83"/>
                  <a:pt x="61" y="85"/>
                </a:cubicBezTo>
                <a:cubicBezTo>
                  <a:pt x="55" y="87"/>
                  <a:pt x="50" y="88"/>
                  <a:pt x="44" y="88"/>
                </a:cubicBezTo>
                <a:cubicBezTo>
                  <a:pt x="38" y="88"/>
                  <a:pt x="32" y="87"/>
                  <a:pt x="27" y="85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1"/>
                  <a:pt x="5" y="67"/>
                  <a:pt x="3" y="61"/>
                </a:cubicBezTo>
                <a:cubicBezTo>
                  <a:pt x="1" y="56"/>
                  <a:pt x="0" y="50"/>
                  <a:pt x="0" y="45"/>
                </a:cubicBezTo>
                <a:cubicBezTo>
                  <a:pt x="0" y="39"/>
                  <a:pt x="1" y="33"/>
                  <a:pt x="3" y="27"/>
                </a:cubicBezTo>
                <a:cubicBezTo>
                  <a:pt x="5" y="21"/>
                  <a:pt x="9" y="17"/>
                  <a:pt x="13" y="13"/>
                </a:cubicBezTo>
                <a:cubicBezTo>
                  <a:pt x="17" y="8"/>
                  <a:pt x="22" y="5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50" y="0"/>
                  <a:pt x="55" y="1"/>
                  <a:pt x="61" y="3"/>
                </a:cubicBezTo>
                <a:cubicBezTo>
                  <a:pt x="66" y="5"/>
                  <a:pt x="71" y="8"/>
                  <a:pt x="76" y="13"/>
                </a:cubicBezTo>
                <a:cubicBezTo>
                  <a:pt x="80" y="17"/>
                  <a:pt x="83" y="21"/>
                  <a:pt x="85" y="27"/>
                </a:cubicBezTo>
                <a:cubicBezTo>
                  <a:pt x="88" y="33"/>
                  <a:pt x="89" y="39"/>
                  <a:pt x="89" y="45"/>
                </a:cubicBez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9278280" y="3494880"/>
            <a:ext cx="2002320" cy="210600"/>
          </a:xfrm>
          <a:custGeom>
            <a:avLst/>
            <a:gdLst/>
            <a:ahLst/>
            <a:rect l="0" t="0" r="r" b="b"/>
            <a:pathLst>
              <a:path fill="none" w="5562" h="585">
                <a:moveTo>
                  <a:pt x="0" y="585"/>
                </a:moveTo>
                <a:lnTo>
                  <a:pt x="1390" y="117"/>
                </a:lnTo>
                <a:lnTo>
                  <a:pt x="2780" y="44"/>
                </a:lnTo>
                <a:lnTo>
                  <a:pt x="4171" y="14"/>
                </a:lnTo>
                <a:lnTo>
                  <a:pt x="5562" y="0"/>
                </a:lnTo>
              </a:path>
            </a:pathLst>
          </a:custGeom>
          <a:ln w="11520">
            <a:solidFill>
              <a:srgbClr val="2ca02c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 flipV="1">
            <a:off x="9278280" y="3700080"/>
            <a:ext cx="0" cy="10440"/>
          </a:xfrm>
          <a:prstGeom prst="line">
            <a:avLst/>
          </a:prstGeom>
          <a:ln w="5040">
            <a:solidFill>
              <a:srgbClr val="2ca02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9262440" y="368928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4"/>
                </a:moveTo>
                <a:cubicBezTo>
                  <a:pt x="89" y="50"/>
                  <a:pt x="88" y="56"/>
                  <a:pt x="86" y="61"/>
                </a:cubicBezTo>
                <a:cubicBezTo>
                  <a:pt x="83" y="67"/>
                  <a:pt x="80" y="72"/>
                  <a:pt x="76" y="76"/>
                </a:cubicBezTo>
                <a:cubicBezTo>
                  <a:pt x="72" y="80"/>
                  <a:pt x="66" y="84"/>
                  <a:pt x="61" y="86"/>
                </a:cubicBezTo>
                <a:cubicBezTo>
                  <a:pt x="56" y="88"/>
                  <a:pt x="50" y="89"/>
                  <a:pt x="44" y="89"/>
                </a:cubicBezTo>
                <a:cubicBezTo>
                  <a:pt x="38" y="89"/>
                  <a:pt x="33" y="88"/>
                  <a:pt x="27" y="86"/>
                </a:cubicBezTo>
                <a:cubicBezTo>
                  <a:pt x="22" y="84"/>
                  <a:pt x="17" y="80"/>
                  <a:pt x="13" y="76"/>
                </a:cubicBezTo>
                <a:cubicBezTo>
                  <a:pt x="9" y="72"/>
                  <a:pt x="6" y="67"/>
                  <a:pt x="4" y="61"/>
                </a:cubicBezTo>
                <a:cubicBezTo>
                  <a:pt x="1" y="56"/>
                  <a:pt x="0" y="50"/>
                  <a:pt x="0" y="44"/>
                </a:cubicBezTo>
                <a:cubicBezTo>
                  <a:pt x="0" y="38"/>
                  <a:pt x="1" y="33"/>
                  <a:pt x="4" y="27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6"/>
                  <a:pt x="27" y="4"/>
                </a:cubicBezTo>
                <a:cubicBezTo>
                  <a:pt x="33" y="2"/>
                  <a:pt x="38" y="0"/>
                  <a:pt x="44" y="0"/>
                </a:cubicBezTo>
                <a:cubicBezTo>
                  <a:pt x="50" y="0"/>
                  <a:pt x="56" y="2"/>
                  <a:pt x="61" y="4"/>
                </a:cubicBezTo>
                <a:cubicBezTo>
                  <a:pt x="66" y="6"/>
                  <a:pt x="72" y="9"/>
                  <a:pt x="76" y="13"/>
                </a:cubicBezTo>
                <a:cubicBezTo>
                  <a:pt x="80" y="17"/>
                  <a:pt x="83" y="22"/>
                  <a:pt x="86" y="27"/>
                </a:cubicBezTo>
                <a:cubicBezTo>
                  <a:pt x="88" y="33"/>
                  <a:pt x="89" y="38"/>
                  <a:pt x="89" y="44"/>
                </a:cubicBezTo>
                <a:close/>
              </a:path>
            </a:pathLst>
          </a:custGeom>
          <a:solidFill>
            <a:srgbClr val="2ca0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 flipV="1">
            <a:off x="9778680" y="3526560"/>
            <a:ext cx="0" cy="26280"/>
          </a:xfrm>
          <a:prstGeom prst="line">
            <a:avLst/>
          </a:prstGeom>
          <a:ln w="5040">
            <a:solidFill>
              <a:srgbClr val="2ca02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9762840" y="352116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5"/>
                </a:moveTo>
                <a:cubicBezTo>
                  <a:pt x="89" y="51"/>
                  <a:pt x="88" y="56"/>
                  <a:pt x="86" y="62"/>
                </a:cubicBezTo>
                <a:cubicBezTo>
                  <a:pt x="84" y="67"/>
                  <a:pt x="80" y="72"/>
                  <a:pt x="76" y="76"/>
                </a:cubicBezTo>
                <a:cubicBezTo>
                  <a:pt x="72" y="80"/>
                  <a:pt x="66" y="83"/>
                  <a:pt x="61" y="85"/>
                </a:cubicBezTo>
                <a:cubicBezTo>
                  <a:pt x="56" y="87"/>
                  <a:pt x="50" y="89"/>
                  <a:pt x="44" y="89"/>
                </a:cubicBezTo>
                <a:cubicBezTo>
                  <a:pt x="38" y="89"/>
                  <a:pt x="33" y="87"/>
                  <a:pt x="27" y="85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2"/>
                  <a:pt x="6" y="67"/>
                  <a:pt x="4" y="62"/>
                </a:cubicBezTo>
                <a:cubicBezTo>
                  <a:pt x="2" y="56"/>
                  <a:pt x="0" y="51"/>
                  <a:pt x="0" y="45"/>
                </a:cubicBezTo>
                <a:cubicBezTo>
                  <a:pt x="0" y="39"/>
                  <a:pt x="2" y="33"/>
                  <a:pt x="4" y="28"/>
                </a:cubicBezTo>
                <a:cubicBezTo>
                  <a:pt x="6" y="23"/>
                  <a:pt x="9" y="18"/>
                  <a:pt x="13" y="14"/>
                </a:cubicBezTo>
                <a:cubicBezTo>
                  <a:pt x="17" y="10"/>
                  <a:pt x="22" y="5"/>
                  <a:pt x="27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5"/>
                  <a:pt x="72" y="10"/>
                  <a:pt x="76" y="14"/>
                </a:cubicBezTo>
                <a:cubicBezTo>
                  <a:pt x="80" y="18"/>
                  <a:pt x="84" y="23"/>
                  <a:pt x="86" y="28"/>
                </a:cubicBezTo>
                <a:cubicBezTo>
                  <a:pt x="88" y="33"/>
                  <a:pt x="89" y="39"/>
                  <a:pt x="89" y="45"/>
                </a:cubicBezTo>
                <a:close/>
              </a:path>
            </a:pathLst>
          </a:custGeom>
          <a:solidFill>
            <a:srgbClr val="2ca0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 flipV="1">
            <a:off x="10279080" y="3494880"/>
            <a:ext cx="0" cy="31680"/>
          </a:xfrm>
          <a:prstGeom prst="line">
            <a:avLst/>
          </a:prstGeom>
          <a:ln w="5040">
            <a:solidFill>
              <a:srgbClr val="2ca02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10263600" y="3494880"/>
            <a:ext cx="31680" cy="32040"/>
          </a:xfrm>
          <a:custGeom>
            <a:avLst/>
            <a:gdLst/>
            <a:ahLst/>
            <a:rect l="0" t="0" r="r" b="b"/>
            <a:pathLst>
              <a:path w="88" h="89">
                <a:moveTo>
                  <a:pt x="88" y="44"/>
                </a:moveTo>
                <a:cubicBezTo>
                  <a:pt x="88" y="50"/>
                  <a:pt x="87" y="55"/>
                  <a:pt x="85" y="60"/>
                </a:cubicBezTo>
                <a:cubicBezTo>
                  <a:pt x="83" y="66"/>
                  <a:pt x="80" y="71"/>
                  <a:pt x="75" y="75"/>
                </a:cubicBezTo>
                <a:cubicBezTo>
                  <a:pt x="71" y="79"/>
                  <a:pt x="66" y="83"/>
                  <a:pt x="60" y="85"/>
                </a:cubicBezTo>
                <a:cubicBezTo>
                  <a:pt x="55" y="87"/>
                  <a:pt x="49" y="89"/>
                  <a:pt x="43" y="89"/>
                </a:cubicBezTo>
                <a:cubicBezTo>
                  <a:pt x="38" y="89"/>
                  <a:pt x="32" y="87"/>
                  <a:pt x="27" y="85"/>
                </a:cubicBezTo>
                <a:cubicBezTo>
                  <a:pt x="21" y="83"/>
                  <a:pt x="17" y="79"/>
                  <a:pt x="12" y="75"/>
                </a:cubicBezTo>
                <a:cubicBezTo>
                  <a:pt x="8" y="71"/>
                  <a:pt x="5" y="66"/>
                  <a:pt x="3" y="60"/>
                </a:cubicBezTo>
                <a:cubicBezTo>
                  <a:pt x="1" y="55"/>
                  <a:pt x="0" y="50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2"/>
                  <a:pt x="8" y="17"/>
                  <a:pt x="12" y="13"/>
                </a:cubicBezTo>
                <a:cubicBezTo>
                  <a:pt x="17" y="9"/>
                  <a:pt x="21" y="5"/>
                  <a:pt x="27" y="3"/>
                </a:cubicBezTo>
                <a:cubicBezTo>
                  <a:pt x="32" y="1"/>
                  <a:pt x="38" y="0"/>
                  <a:pt x="43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5"/>
                  <a:pt x="71" y="9"/>
                  <a:pt x="75" y="13"/>
                </a:cubicBezTo>
                <a:cubicBezTo>
                  <a:pt x="80" y="17"/>
                  <a:pt x="83" y="22"/>
                  <a:pt x="85" y="27"/>
                </a:cubicBezTo>
                <a:cubicBezTo>
                  <a:pt x="87" y="32"/>
                  <a:pt x="88" y="38"/>
                  <a:pt x="88" y="44"/>
                </a:cubicBezTo>
                <a:close/>
              </a:path>
            </a:pathLst>
          </a:custGeom>
          <a:solidFill>
            <a:srgbClr val="2ca0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 flipV="1">
            <a:off x="10779840" y="3484440"/>
            <a:ext cx="0" cy="31320"/>
          </a:xfrm>
          <a:prstGeom prst="line">
            <a:avLst/>
          </a:prstGeom>
          <a:ln w="5040">
            <a:solidFill>
              <a:srgbClr val="2ca02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10764000" y="348444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4"/>
                </a:moveTo>
                <a:cubicBezTo>
                  <a:pt x="88" y="50"/>
                  <a:pt x="87" y="56"/>
                  <a:pt x="85" y="61"/>
                </a:cubicBezTo>
                <a:cubicBezTo>
                  <a:pt x="83" y="67"/>
                  <a:pt x="80" y="71"/>
                  <a:pt x="76" y="75"/>
                </a:cubicBezTo>
                <a:cubicBezTo>
                  <a:pt x="71" y="80"/>
                  <a:pt x="66" y="83"/>
                  <a:pt x="60" y="85"/>
                </a:cubicBezTo>
                <a:cubicBezTo>
                  <a:pt x="55" y="87"/>
                  <a:pt x="49" y="88"/>
                  <a:pt x="44" y="88"/>
                </a:cubicBezTo>
                <a:cubicBezTo>
                  <a:pt x="38" y="88"/>
                  <a:pt x="32" y="87"/>
                  <a:pt x="27" y="85"/>
                </a:cubicBezTo>
                <a:cubicBezTo>
                  <a:pt x="21" y="83"/>
                  <a:pt x="17" y="80"/>
                  <a:pt x="13" y="75"/>
                </a:cubicBezTo>
                <a:cubicBezTo>
                  <a:pt x="8" y="71"/>
                  <a:pt x="5" y="67"/>
                  <a:pt x="3" y="61"/>
                </a:cubicBezTo>
                <a:cubicBezTo>
                  <a:pt x="1" y="56"/>
                  <a:pt x="0" y="50"/>
                  <a:pt x="0" y="44"/>
                </a:cubicBezTo>
                <a:cubicBezTo>
                  <a:pt x="0" y="39"/>
                  <a:pt x="1" y="33"/>
                  <a:pt x="3" y="28"/>
                </a:cubicBezTo>
                <a:cubicBezTo>
                  <a:pt x="5" y="21"/>
                  <a:pt x="8" y="17"/>
                  <a:pt x="13" y="12"/>
                </a:cubicBezTo>
                <a:cubicBezTo>
                  <a:pt x="17" y="8"/>
                  <a:pt x="21" y="5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5"/>
                  <a:pt x="71" y="8"/>
                  <a:pt x="76" y="12"/>
                </a:cubicBezTo>
                <a:cubicBezTo>
                  <a:pt x="80" y="17"/>
                  <a:pt x="83" y="21"/>
                  <a:pt x="85" y="28"/>
                </a:cubicBezTo>
                <a:cubicBezTo>
                  <a:pt x="87" y="33"/>
                  <a:pt x="88" y="39"/>
                  <a:pt x="88" y="44"/>
                </a:cubicBezTo>
                <a:close/>
              </a:path>
            </a:pathLst>
          </a:custGeom>
          <a:solidFill>
            <a:srgbClr val="2ca0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 flipV="1">
            <a:off x="11280240" y="3479040"/>
            <a:ext cx="0" cy="31680"/>
          </a:xfrm>
          <a:prstGeom prst="line">
            <a:avLst/>
          </a:prstGeom>
          <a:ln w="5040">
            <a:solidFill>
              <a:srgbClr val="2ca02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11264400" y="347904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5"/>
                </a:moveTo>
                <a:cubicBezTo>
                  <a:pt x="89" y="51"/>
                  <a:pt x="88" y="56"/>
                  <a:pt x="85" y="62"/>
                </a:cubicBezTo>
                <a:cubicBezTo>
                  <a:pt x="83" y="67"/>
                  <a:pt x="80" y="72"/>
                  <a:pt x="76" y="76"/>
                </a:cubicBezTo>
                <a:cubicBezTo>
                  <a:pt x="71" y="80"/>
                  <a:pt x="66" y="83"/>
                  <a:pt x="61" y="85"/>
                </a:cubicBezTo>
                <a:cubicBezTo>
                  <a:pt x="55" y="88"/>
                  <a:pt x="50" y="89"/>
                  <a:pt x="44" y="89"/>
                </a:cubicBezTo>
                <a:cubicBezTo>
                  <a:pt x="38" y="89"/>
                  <a:pt x="32" y="88"/>
                  <a:pt x="27" y="85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2"/>
                  <a:pt x="5" y="67"/>
                  <a:pt x="3" y="62"/>
                </a:cubicBezTo>
                <a:cubicBezTo>
                  <a:pt x="1" y="56"/>
                  <a:pt x="0" y="51"/>
                  <a:pt x="0" y="45"/>
                </a:cubicBezTo>
                <a:cubicBezTo>
                  <a:pt x="0" y="39"/>
                  <a:pt x="1" y="32"/>
                  <a:pt x="3" y="27"/>
                </a:cubicBezTo>
                <a:cubicBezTo>
                  <a:pt x="5" y="22"/>
                  <a:pt x="9" y="17"/>
                  <a:pt x="13" y="13"/>
                </a:cubicBezTo>
                <a:cubicBezTo>
                  <a:pt x="17" y="9"/>
                  <a:pt x="22" y="6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50" y="0"/>
                  <a:pt x="55" y="1"/>
                  <a:pt x="61" y="3"/>
                </a:cubicBezTo>
                <a:cubicBezTo>
                  <a:pt x="66" y="6"/>
                  <a:pt x="71" y="9"/>
                  <a:pt x="76" y="13"/>
                </a:cubicBezTo>
                <a:cubicBezTo>
                  <a:pt x="80" y="17"/>
                  <a:pt x="83" y="22"/>
                  <a:pt x="85" y="27"/>
                </a:cubicBezTo>
                <a:cubicBezTo>
                  <a:pt x="88" y="32"/>
                  <a:pt x="89" y="39"/>
                  <a:pt x="89" y="45"/>
                </a:cubicBezTo>
                <a:close/>
              </a:path>
            </a:pathLst>
          </a:custGeom>
          <a:solidFill>
            <a:srgbClr val="2ca0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11296080" y="3194280"/>
            <a:ext cx="365760" cy="54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1f77b4"/>
                </a:solidFill>
                <a:effectLst/>
                <a:uFillTx/>
                <a:latin typeface="Arial"/>
                <a:ea typeface="Arial"/>
              </a:rPr>
              <a:t>Llama4(k1) 2.12x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9278280" y="3600000"/>
            <a:ext cx="2002320" cy="137160"/>
          </a:xfrm>
          <a:custGeom>
            <a:avLst/>
            <a:gdLst/>
            <a:ahLst/>
            <a:rect l="0" t="0" r="r" b="b"/>
            <a:pathLst>
              <a:path fill="none" w="5562" h="381">
                <a:moveTo>
                  <a:pt x="0" y="381"/>
                </a:moveTo>
                <a:lnTo>
                  <a:pt x="1390" y="89"/>
                </a:lnTo>
                <a:lnTo>
                  <a:pt x="2780" y="29"/>
                </a:lnTo>
                <a:lnTo>
                  <a:pt x="4171" y="15"/>
                </a:lnTo>
                <a:lnTo>
                  <a:pt x="5562" y="0"/>
                </a:lnTo>
              </a:path>
            </a:pathLst>
          </a:custGeom>
          <a:ln w="11520">
            <a:solidFill>
              <a:srgbClr val="9467bd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 flipV="1">
            <a:off x="9278280" y="3736800"/>
            <a:ext cx="0" cy="5400"/>
          </a:xfrm>
          <a:prstGeom prst="line">
            <a:avLst/>
          </a:prstGeom>
          <a:ln w="5040">
            <a:solidFill>
              <a:srgbClr val="9467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9262440" y="372096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4"/>
                </a:moveTo>
                <a:cubicBezTo>
                  <a:pt x="89" y="50"/>
                  <a:pt x="88" y="55"/>
                  <a:pt x="86" y="62"/>
                </a:cubicBezTo>
                <a:cubicBezTo>
                  <a:pt x="83" y="67"/>
                  <a:pt x="80" y="72"/>
                  <a:pt x="76" y="76"/>
                </a:cubicBezTo>
                <a:cubicBezTo>
                  <a:pt x="72" y="80"/>
                  <a:pt x="66" y="83"/>
                  <a:pt x="61" y="85"/>
                </a:cubicBezTo>
                <a:cubicBezTo>
                  <a:pt x="56" y="88"/>
                  <a:pt x="50" y="89"/>
                  <a:pt x="44" y="89"/>
                </a:cubicBezTo>
                <a:cubicBezTo>
                  <a:pt x="38" y="89"/>
                  <a:pt x="33" y="88"/>
                  <a:pt x="27" y="85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2"/>
                  <a:pt x="6" y="67"/>
                  <a:pt x="4" y="62"/>
                </a:cubicBezTo>
                <a:cubicBezTo>
                  <a:pt x="1" y="55"/>
                  <a:pt x="0" y="50"/>
                  <a:pt x="0" y="44"/>
                </a:cubicBezTo>
                <a:cubicBezTo>
                  <a:pt x="0" y="38"/>
                  <a:pt x="1" y="33"/>
                  <a:pt x="4" y="27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6"/>
                  <a:pt x="27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6"/>
                  <a:pt x="72" y="9"/>
                  <a:pt x="76" y="13"/>
                </a:cubicBezTo>
                <a:cubicBezTo>
                  <a:pt x="80" y="17"/>
                  <a:pt x="83" y="22"/>
                  <a:pt x="86" y="27"/>
                </a:cubicBezTo>
                <a:cubicBezTo>
                  <a:pt x="88" y="33"/>
                  <a:pt x="89" y="38"/>
                  <a:pt x="89" y="44"/>
                </a:cubicBezTo>
                <a:close/>
              </a:path>
            </a:pathLst>
          </a:custGeom>
          <a:solidFill>
            <a:srgbClr val="9467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 flipV="1">
            <a:off x="9778680" y="3626280"/>
            <a:ext cx="0" cy="5400"/>
          </a:xfrm>
          <a:prstGeom prst="line">
            <a:avLst/>
          </a:prstGeom>
          <a:ln w="5040">
            <a:solidFill>
              <a:srgbClr val="9467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9762840" y="361584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5"/>
                </a:moveTo>
                <a:cubicBezTo>
                  <a:pt x="89" y="51"/>
                  <a:pt x="88" y="56"/>
                  <a:pt x="86" y="61"/>
                </a:cubicBezTo>
                <a:cubicBezTo>
                  <a:pt x="84" y="67"/>
                  <a:pt x="80" y="72"/>
                  <a:pt x="76" y="76"/>
                </a:cubicBezTo>
                <a:cubicBezTo>
                  <a:pt x="72" y="80"/>
                  <a:pt x="66" y="83"/>
                  <a:pt x="61" y="85"/>
                </a:cubicBezTo>
                <a:cubicBezTo>
                  <a:pt x="56" y="87"/>
                  <a:pt x="50" y="89"/>
                  <a:pt x="44" y="89"/>
                </a:cubicBezTo>
                <a:cubicBezTo>
                  <a:pt x="38" y="89"/>
                  <a:pt x="33" y="87"/>
                  <a:pt x="27" y="85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2"/>
                  <a:pt x="6" y="67"/>
                  <a:pt x="4" y="61"/>
                </a:cubicBezTo>
                <a:cubicBezTo>
                  <a:pt x="2" y="56"/>
                  <a:pt x="0" y="51"/>
                  <a:pt x="0" y="45"/>
                </a:cubicBezTo>
                <a:cubicBezTo>
                  <a:pt x="0" y="39"/>
                  <a:pt x="2" y="33"/>
                  <a:pt x="4" y="28"/>
                </a:cubicBezTo>
                <a:cubicBezTo>
                  <a:pt x="6" y="23"/>
                  <a:pt x="9" y="18"/>
                  <a:pt x="13" y="14"/>
                </a:cubicBezTo>
                <a:cubicBezTo>
                  <a:pt x="17" y="10"/>
                  <a:pt x="22" y="6"/>
                  <a:pt x="27" y="3"/>
                </a:cubicBezTo>
                <a:cubicBezTo>
                  <a:pt x="33" y="1"/>
                  <a:pt x="38" y="0"/>
                  <a:pt x="44" y="0"/>
                </a:cubicBezTo>
                <a:cubicBezTo>
                  <a:pt x="50" y="0"/>
                  <a:pt x="56" y="1"/>
                  <a:pt x="61" y="3"/>
                </a:cubicBezTo>
                <a:cubicBezTo>
                  <a:pt x="66" y="6"/>
                  <a:pt x="72" y="10"/>
                  <a:pt x="76" y="14"/>
                </a:cubicBezTo>
                <a:cubicBezTo>
                  <a:pt x="80" y="18"/>
                  <a:pt x="84" y="23"/>
                  <a:pt x="86" y="28"/>
                </a:cubicBezTo>
                <a:cubicBezTo>
                  <a:pt x="88" y="33"/>
                  <a:pt x="89" y="39"/>
                  <a:pt x="89" y="45"/>
                </a:cubicBezTo>
                <a:close/>
              </a:path>
            </a:pathLst>
          </a:custGeom>
          <a:solidFill>
            <a:srgbClr val="9467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 flipV="1">
            <a:off x="10279080" y="3605400"/>
            <a:ext cx="0" cy="10440"/>
          </a:xfrm>
          <a:prstGeom prst="line">
            <a:avLst/>
          </a:prstGeom>
          <a:ln w="5040">
            <a:solidFill>
              <a:srgbClr val="9467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10263600" y="3594600"/>
            <a:ext cx="31680" cy="32040"/>
          </a:xfrm>
          <a:custGeom>
            <a:avLst/>
            <a:gdLst/>
            <a:ahLst/>
            <a:rect l="0" t="0" r="r" b="b"/>
            <a:pathLst>
              <a:path w="88" h="89">
                <a:moveTo>
                  <a:pt x="88" y="44"/>
                </a:moveTo>
                <a:cubicBezTo>
                  <a:pt x="88" y="50"/>
                  <a:pt x="87" y="56"/>
                  <a:pt x="85" y="61"/>
                </a:cubicBezTo>
                <a:cubicBezTo>
                  <a:pt x="83" y="67"/>
                  <a:pt x="80" y="72"/>
                  <a:pt x="75" y="76"/>
                </a:cubicBezTo>
                <a:cubicBezTo>
                  <a:pt x="71" y="80"/>
                  <a:pt x="66" y="84"/>
                  <a:pt x="60" y="86"/>
                </a:cubicBezTo>
                <a:cubicBezTo>
                  <a:pt x="55" y="88"/>
                  <a:pt x="49" y="89"/>
                  <a:pt x="43" y="89"/>
                </a:cubicBezTo>
                <a:cubicBezTo>
                  <a:pt x="38" y="89"/>
                  <a:pt x="32" y="88"/>
                  <a:pt x="27" y="86"/>
                </a:cubicBezTo>
                <a:cubicBezTo>
                  <a:pt x="21" y="84"/>
                  <a:pt x="17" y="80"/>
                  <a:pt x="12" y="76"/>
                </a:cubicBezTo>
                <a:cubicBezTo>
                  <a:pt x="8" y="72"/>
                  <a:pt x="5" y="67"/>
                  <a:pt x="3" y="61"/>
                </a:cubicBezTo>
                <a:cubicBezTo>
                  <a:pt x="1" y="56"/>
                  <a:pt x="0" y="50"/>
                  <a:pt x="0" y="44"/>
                </a:cubicBezTo>
                <a:cubicBezTo>
                  <a:pt x="0" y="38"/>
                  <a:pt x="1" y="33"/>
                  <a:pt x="3" y="28"/>
                </a:cubicBezTo>
                <a:cubicBezTo>
                  <a:pt x="5" y="22"/>
                  <a:pt x="8" y="17"/>
                  <a:pt x="12" y="13"/>
                </a:cubicBezTo>
                <a:cubicBezTo>
                  <a:pt x="17" y="9"/>
                  <a:pt x="21" y="6"/>
                  <a:pt x="27" y="4"/>
                </a:cubicBezTo>
                <a:cubicBezTo>
                  <a:pt x="32" y="2"/>
                  <a:pt x="38" y="0"/>
                  <a:pt x="43" y="0"/>
                </a:cubicBezTo>
                <a:cubicBezTo>
                  <a:pt x="49" y="0"/>
                  <a:pt x="55" y="2"/>
                  <a:pt x="60" y="4"/>
                </a:cubicBezTo>
                <a:cubicBezTo>
                  <a:pt x="66" y="6"/>
                  <a:pt x="71" y="9"/>
                  <a:pt x="75" y="13"/>
                </a:cubicBezTo>
                <a:cubicBezTo>
                  <a:pt x="80" y="17"/>
                  <a:pt x="83" y="22"/>
                  <a:pt x="85" y="28"/>
                </a:cubicBezTo>
                <a:cubicBezTo>
                  <a:pt x="87" y="33"/>
                  <a:pt x="88" y="38"/>
                  <a:pt x="88" y="44"/>
                </a:cubicBezTo>
                <a:close/>
              </a:path>
            </a:pathLst>
          </a:custGeom>
          <a:solidFill>
            <a:srgbClr val="9467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 flipV="1">
            <a:off x="10779840" y="3600000"/>
            <a:ext cx="0" cy="10440"/>
          </a:xfrm>
          <a:prstGeom prst="line">
            <a:avLst/>
          </a:prstGeom>
          <a:ln w="5040">
            <a:solidFill>
              <a:srgbClr val="9467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10764000" y="358956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4"/>
                </a:moveTo>
                <a:cubicBezTo>
                  <a:pt x="88" y="49"/>
                  <a:pt x="87" y="55"/>
                  <a:pt x="85" y="60"/>
                </a:cubicBezTo>
                <a:cubicBezTo>
                  <a:pt x="83" y="66"/>
                  <a:pt x="80" y="71"/>
                  <a:pt x="76" y="75"/>
                </a:cubicBezTo>
                <a:cubicBezTo>
                  <a:pt x="71" y="80"/>
                  <a:pt x="66" y="83"/>
                  <a:pt x="60" y="85"/>
                </a:cubicBezTo>
                <a:cubicBezTo>
                  <a:pt x="55" y="87"/>
                  <a:pt x="49" y="88"/>
                  <a:pt x="44" y="88"/>
                </a:cubicBezTo>
                <a:cubicBezTo>
                  <a:pt x="38" y="88"/>
                  <a:pt x="32" y="87"/>
                  <a:pt x="27" y="85"/>
                </a:cubicBezTo>
                <a:cubicBezTo>
                  <a:pt x="21" y="83"/>
                  <a:pt x="17" y="80"/>
                  <a:pt x="13" y="75"/>
                </a:cubicBezTo>
                <a:cubicBezTo>
                  <a:pt x="8" y="71"/>
                  <a:pt x="5" y="66"/>
                  <a:pt x="3" y="60"/>
                </a:cubicBezTo>
                <a:cubicBezTo>
                  <a:pt x="1" y="55"/>
                  <a:pt x="0" y="49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2"/>
                  <a:pt x="8" y="17"/>
                  <a:pt x="13" y="13"/>
                </a:cubicBezTo>
                <a:cubicBezTo>
                  <a:pt x="17" y="9"/>
                  <a:pt x="21" y="5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5"/>
                  <a:pt x="71" y="9"/>
                  <a:pt x="76" y="13"/>
                </a:cubicBezTo>
                <a:cubicBezTo>
                  <a:pt x="80" y="17"/>
                  <a:pt x="83" y="22"/>
                  <a:pt x="85" y="27"/>
                </a:cubicBezTo>
                <a:cubicBezTo>
                  <a:pt x="87" y="32"/>
                  <a:pt x="88" y="38"/>
                  <a:pt x="88" y="44"/>
                </a:cubicBezTo>
                <a:close/>
              </a:path>
            </a:pathLst>
          </a:custGeom>
          <a:solidFill>
            <a:srgbClr val="9467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 flipV="1">
            <a:off x="11280240" y="3594600"/>
            <a:ext cx="0" cy="15840"/>
          </a:xfrm>
          <a:prstGeom prst="line">
            <a:avLst/>
          </a:prstGeom>
          <a:ln w="5040">
            <a:solidFill>
              <a:srgbClr val="9467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11264400" y="358416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5"/>
                </a:moveTo>
                <a:cubicBezTo>
                  <a:pt x="89" y="51"/>
                  <a:pt x="88" y="56"/>
                  <a:pt x="85" y="62"/>
                </a:cubicBezTo>
                <a:cubicBezTo>
                  <a:pt x="83" y="67"/>
                  <a:pt x="80" y="72"/>
                  <a:pt x="76" y="76"/>
                </a:cubicBezTo>
                <a:cubicBezTo>
                  <a:pt x="71" y="80"/>
                  <a:pt x="66" y="83"/>
                  <a:pt x="61" y="86"/>
                </a:cubicBezTo>
                <a:cubicBezTo>
                  <a:pt x="55" y="88"/>
                  <a:pt x="50" y="89"/>
                  <a:pt x="44" y="89"/>
                </a:cubicBezTo>
                <a:cubicBezTo>
                  <a:pt x="38" y="89"/>
                  <a:pt x="32" y="88"/>
                  <a:pt x="27" y="86"/>
                </a:cubicBezTo>
                <a:cubicBezTo>
                  <a:pt x="22" y="83"/>
                  <a:pt x="17" y="80"/>
                  <a:pt x="13" y="76"/>
                </a:cubicBezTo>
                <a:cubicBezTo>
                  <a:pt x="9" y="72"/>
                  <a:pt x="5" y="67"/>
                  <a:pt x="3" y="62"/>
                </a:cubicBezTo>
                <a:cubicBezTo>
                  <a:pt x="1" y="56"/>
                  <a:pt x="0" y="51"/>
                  <a:pt x="0" y="45"/>
                </a:cubicBezTo>
                <a:cubicBezTo>
                  <a:pt x="0" y="39"/>
                  <a:pt x="1" y="34"/>
                  <a:pt x="3" y="28"/>
                </a:cubicBezTo>
                <a:cubicBezTo>
                  <a:pt x="5" y="23"/>
                  <a:pt x="9" y="18"/>
                  <a:pt x="13" y="14"/>
                </a:cubicBezTo>
                <a:cubicBezTo>
                  <a:pt x="17" y="10"/>
                  <a:pt x="22" y="7"/>
                  <a:pt x="27" y="4"/>
                </a:cubicBezTo>
                <a:cubicBezTo>
                  <a:pt x="32" y="1"/>
                  <a:pt x="38" y="0"/>
                  <a:pt x="44" y="0"/>
                </a:cubicBezTo>
                <a:cubicBezTo>
                  <a:pt x="50" y="0"/>
                  <a:pt x="55" y="1"/>
                  <a:pt x="61" y="4"/>
                </a:cubicBezTo>
                <a:cubicBezTo>
                  <a:pt x="66" y="7"/>
                  <a:pt x="71" y="10"/>
                  <a:pt x="76" y="14"/>
                </a:cubicBezTo>
                <a:cubicBezTo>
                  <a:pt x="80" y="18"/>
                  <a:pt x="83" y="23"/>
                  <a:pt x="85" y="28"/>
                </a:cubicBezTo>
                <a:cubicBezTo>
                  <a:pt x="88" y="34"/>
                  <a:pt x="89" y="39"/>
                  <a:pt x="89" y="45"/>
                </a:cubicBezTo>
                <a:close/>
              </a:path>
            </a:pathLst>
          </a:custGeom>
          <a:solidFill>
            <a:srgbClr val="9467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11296080" y="3473280"/>
            <a:ext cx="302760" cy="54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2ca02c"/>
                </a:solidFill>
                <a:effectLst/>
                <a:uFillTx/>
                <a:latin typeface="Arial"/>
                <a:ea typeface="Arial"/>
              </a:rPr>
              <a:t>Kimi(k8) 1.61x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10184400" y="3610440"/>
            <a:ext cx="590040" cy="0"/>
          </a:xfrm>
          <a:prstGeom prst="line">
            <a:avLst/>
          </a:prstGeom>
          <a:ln w="6120">
            <a:solidFill>
              <a:srgbClr val="9467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880" rIns="2880" tIns="-2880" bIns="-28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10474200" y="358416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74" y="0"/>
                </a:moveTo>
                <a:lnTo>
                  <a:pt x="147" y="74"/>
                </a:lnTo>
                <a:lnTo>
                  <a:pt x="74" y="147"/>
                </a:lnTo>
                <a:lnTo>
                  <a:pt x="0" y="74"/>
                </a:lnTo>
                <a:lnTo>
                  <a:pt x="74" y="0"/>
                </a:lnTo>
                <a:close/>
              </a:path>
            </a:pathLst>
          </a:custGeom>
          <a:solidFill>
            <a:srgbClr val="9467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10474200" y="3584160"/>
            <a:ext cx="52920" cy="52920"/>
          </a:xfrm>
          <a:custGeom>
            <a:avLst/>
            <a:gdLst/>
            <a:ahLst/>
            <a:rect l="0" t="0" r="r" b="b"/>
            <a:pathLst>
              <a:path fill="none" w="147" h="147">
                <a:moveTo>
                  <a:pt x="74" y="0"/>
                </a:moveTo>
                <a:lnTo>
                  <a:pt x="147" y="74"/>
                </a:lnTo>
                <a:lnTo>
                  <a:pt x="74" y="147"/>
                </a:lnTo>
                <a:lnTo>
                  <a:pt x="0" y="74"/>
                </a:lnTo>
                <a:lnTo>
                  <a:pt x="74" y="0"/>
                </a:lnTo>
              </a:path>
            </a:pathLst>
          </a:custGeom>
          <a:ln w="4680">
            <a:solidFill>
              <a:srgbClr val="ffffff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10795320" y="3642120"/>
            <a:ext cx="63360" cy="0"/>
          </a:xfrm>
          <a:prstGeom prst="line">
            <a:avLst/>
          </a:prstGeom>
          <a:ln w="6120">
            <a:solidFill>
              <a:srgbClr val="d627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880" rIns="2880" tIns="-2880" bIns="-28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10800720" y="361584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74" y="0"/>
                </a:moveTo>
                <a:lnTo>
                  <a:pt x="147" y="73"/>
                </a:lnTo>
                <a:lnTo>
                  <a:pt x="74" y="147"/>
                </a:lnTo>
                <a:lnTo>
                  <a:pt x="0" y="73"/>
                </a:lnTo>
                <a:lnTo>
                  <a:pt x="74" y="0"/>
                </a:lnTo>
                <a:close/>
              </a:path>
            </a:pathLst>
          </a:custGeom>
          <a:solidFill>
            <a:srgbClr val="d627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10800720" y="3615840"/>
            <a:ext cx="52920" cy="52920"/>
          </a:xfrm>
          <a:custGeom>
            <a:avLst/>
            <a:gdLst/>
            <a:ahLst/>
            <a:rect l="0" t="0" r="r" b="b"/>
            <a:pathLst>
              <a:path fill="none" w="147" h="147">
                <a:moveTo>
                  <a:pt x="74" y="0"/>
                </a:moveTo>
                <a:lnTo>
                  <a:pt x="147" y="73"/>
                </a:lnTo>
                <a:lnTo>
                  <a:pt x="74" y="147"/>
                </a:lnTo>
                <a:lnTo>
                  <a:pt x="0" y="73"/>
                </a:lnTo>
                <a:lnTo>
                  <a:pt x="74" y="0"/>
                </a:lnTo>
              </a:path>
            </a:pathLst>
          </a:custGeom>
          <a:ln w="4680">
            <a:solidFill>
              <a:srgbClr val="ffffff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10927080" y="3221280"/>
            <a:ext cx="331920" cy="0"/>
          </a:xfrm>
          <a:prstGeom prst="line">
            <a:avLst/>
          </a:prstGeom>
          <a:ln w="6120">
            <a:solidFill>
              <a:srgbClr val="1f77b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880" rIns="2880" tIns="-2880" bIns="-28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11064240" y="319500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73" y="0"/>
                </a:moveTo>
                <a:lnTo>
                  <a:pt x="147" y="73"/>
                </a:lnTo>
                <a:lnTo>
                  <a:pt x="73" y="147"/>
                </a:lnTo>
                <a:lnTo>
                  <a:pt x="0" y="73"/>
                </a:lnTo>
                <a:lnTo>
                  <a:pt x="73" y="0"/>
                </a:lnTo>
                <a:close/>
              </a:path>
            </a:pathLst>
          </a:custGeom>
          <a:solidFill>
            <a:srgbClr val="1f77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11064240" y="3195000"/>
            <a:ext cx="52920" cy="52920"/>
          </a:xfrm>
          <a:custGeom>
            <a:avLst/>
            <a:gdLst/>
            <a:ahLst/>
            <a:rect l="0" t="0" r="r" b="b"/>
            <a:pathLst>
              <a:path fill="none" w="147" h="147">
                <a:moveTo>
                  <a:pt x="73" y="0"/>
                </a:moveTo>
                <a:lnTo>
                  <a:pt x="147" y="73"/>
                </a:lnTo>
                <a:lnTo>
                  <a:pt x="73" y="147"/>
                </a:lnTo>
                <a:lnTo>
                  <a:pt x="0" y="73"/>
                </a:lnTo>
                <a:lnTo>
                  <a:pt x="73" y="0"/>
                </a:lnTo>
              </a:path>
            </a:pathLst>
          </a:custGeom>
          <a:ln w="4680">
            <a:solidFill>
              <a:srgbClr val="ffffff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11296080" y="3578400"/>
            <a:ext cx="355320" cy="9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9467bd"/>
                </a:solidFill>
                <a:effectLst/>
                <a:uFillTx/>
                <a:latin typeface="Arial"/>
                <a:ea typeface="Arial"/>
              </a:rPr>
              <a:t>Qwen3(k8*) 1.42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r>
              <a:rPr b="0" lang="en-US" sz="370" strike="noStrike" u="none">
                <a:solidFill>
                  <a:srgbClr val="9467bd"/>
                </a:solidFill>
                <a:effectLst/>
                <a:uFillTx/>
                <a:latin typeface="Arial"/>
                <a:ea typeface="Arial"/>
              </a:rPr>
              <a:t>DeepSeek(k8) 1.</a:t>
            </a:r>
          </a:p>
        </p:txBody>
      </p:sp>
      <p:sp>
        <p:nvSpPr>
          <p:cNvPr id="982" name=""/>
          <p:cNvSpPr txBox="1"/>
          <p:nvPr/>
        </p:nvSpPr>
        <p:spPr>
          <a:xfrm>
            <a:off x="7853040" y="4960800"/>
            <a:ext cx="819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A=livecodebench→B=mmlu 硬拼接漂移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8778600" y="4960800"/>
            <a:ext cx="1540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 i="0">
                <a:solidFill>
                  <a:srgbClr val="666666"/>
                </a:solidFill>
                <a:effectLst/>
                <a:uFillTx/>
                <a:latin typeface="Noto Sans SC"/>
                <a:ea typeface="Noto Sans SC"/>
              </a:rPr>
              <a:t>;事件原子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9018000" y="4960800"/>
            <a:ext cx="12517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410" strike="noStrike" u="non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; Qwen3* 为 forced(C&lt;k); CI=per-query bootstrap 95%</a:t>
            </a:r>
            <a:endParaRPr b="0" lang="en-US" sz="4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7193880" y="5039280"/>
            <a:ext cx="5760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370" strike="noStrike" u="none">
                <a:solidFill>
                  <a:srgbClr val="999999"/>
                </a:solidFill>
                <a:effectLst/>
                <a:uFillTx/>
                <a:latin typeface="WenQuanYiMicroHei"/>
                <a:ea typeface="WenQuanYiMicroHei"/>
              </a:rPr>
              <a:t>实测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7288560" y="5039280"/>
            <a:ext cx="263952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@A100-80GB-PCIe: Qwen3(36MB)ρ≈22–50 · DeepSeek(84MB)52–58 · Llama4(240MB)65–98(PCIe)/208–312(NVMe-SSD冷读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9965160" y="5039280"/>
            <a:ext cx="38376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5.6GB/s); 边缘存储更慢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10461960" y="5039280"/>
            <a:ext cx="13212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→ρ更大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10630800" y="5039280"/>
            <a:ext cx="19764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70" strike="noStrike" u="none" i="0">
                <a:solidFill>
                  <a:srgbClr val="999999"/>
                </a:solidFill>
                <a:effectLst/>
                <a:uFillTx/>
                <a:latin typeface="Noto Sans SC"/>
                <a:ea typeface="Noto Sans SC"/>
              </a:rPr>
              <a:t>,全落饱和平台</a:t>
            </a:r>
            <a:endParaRPr b="0" lang="en-US" sz="3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2400120" y="3819240"/>
            <a:ext cx="1152720" cy="209880"/>
          </a:xfrm>
          <a:custGeom>
            <a:avLst/>
            <a:gdLst/>
            <a:ahLst/>
            <a:rect l="0" t="0" r="r" b="b"/>
            <a:pathLst>
              <a:path w="3202" h="583">
                <a:moveTo>
                  <a:pt x="0" y="47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097" y="0"/>
                </a:lnTo>
                <a:cubicBezTo>
                  <a:pt x="3111" y="0"/>
                  <a:pt x="3124" y="3"/>
                  <a:pt x="3137" y="8"/>
                </a:cubicBezTo>
                <a:cubicBezTo>
                  <a:pt x="3150" y="14"/>
                  <a:pt x="3162" y="21"/>
                  <a:pt x="3171" y="31"/>
                </a:cubicBezTo>
                <a:cubicBezTo>
                  <a:pt x="3181" y="41"/>
                  <a:pt x="3189" y="53"/>
                  <a:pt x="3194" y="66"/>
                </a:cubicBezTo>
                <a:cubicBezTo>
                  <a:pt x="3200" y="79"/>
                  <a:pt x="3202" y="92"/>
                  <a:pt x="3202" y="106"/>
                </a:cubicBezTo>
                <a:lnTo>
                  <a:pt x="3202" y="478"/>
                </a:lnTo>
                <a:cubicBezTo>
                  <a:pt x="3202" y="492"/>
                  <a:pt x="3200" y="505"/>
                  <a:pt x="3194" y="518"/>
                </a:cubicBezTo>
                <a:cubicBezTo>
                  <a:pt x="3189" y="531"/>
                  <a:pt x="3181" y="542"/>
                  <a:pt x="3171" y="552"/>
                </a:cubicBezTo>
                <a:cubicBezTo>
                  <a:pt x="3162" y="562"/>
                  <a:pt x="3150" y="570"/>
                  <a:pt x="3137" y="575"/>
                </a:cubicBezTo>
                <a:cubicBezTo>
                  <a:pt x="3124" y="581"/>
                  <a:pt x="3111" y="583"/>
                  <a:pt x="3097" y="583"/>
                </a:cubicBezTo>
                <a:lnTo>
                  <a:pt x="106" y="583"/>
                </a:lnTo>
                <a:cubicBezTo>
                  <a:pt x="92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3" y="505"/>
                  <a:pt x="0" y="492"/>
                  <a:pt x="0" y="478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2362320" y="385308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2442960" y="3818520"/>
            <a:ext cx="138303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1.33×–2.05×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3551040" y="3849480"/>
            <a:ext cx="16297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 ，Llama4 top-1最严重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609480" y="3813840"/>
            <a:ext cx="1159200" cy="214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6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■冻结热表（悲观代理）：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1066680" y="4201920"/>
            <a:ext cx="1013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937"/>
                </a:solidFill>
                <a:effectLst/>
                <a:uFillTx/>
                <a:latin typeface="Arial"/>
                <a:ea typeface="Arial"/>
              </a:rPr>
              <a:t> LFU 毒化（实测）：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2476440" y="4171680"/>
            <a:ext cx="1143360" cy="209880"/>
          </a:xfrm>
          <a:custGeom>
            <a:avLst/>
            <a:gdLst/>
            <a:ahLst/>
            <a:rect l="0" t="0" r="r" b="b"/>
            <a:pathLst>
              <a:path w="3176" h="583">
                <a:moveTo>
                  <a:pt x="0" y="477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070" y="0"/>
                </a:lnTo>
                <a:cubicBezTo>
                  <a:pt x="3084" y="0"/>
                  <a:pt x="3097" y="3"/>
                  <a:pt x="3110" y="8"/>
                </a:cubicBezTo>
                <a:cubicBezTo>
                  <a:pt x="3123" y="14"/>
                  <a:pt x="3135" y="21"/>
                  <a:pt x="3145" y="31"/>
                </a:cubicBezTo>
                <a:cubicBezTo>
                  <a:pt x="3155" y="41"/>
                  <a:pt x="3162" y="53"/>
                  <a:pt x="3168" y="66"/>
                </a:cubicBezTo>
                <a:cubicBezTo>
                  <a:pt x="3173" y="79"/>
                  <a:pt x="3176" y="92"/>
                  <a:pt x="3176" y="106"/>
                </a:cubicBezTo>
                <a:lnTo>
                  <a:pt x="3176" y="477"/>
                </a:lnTo>
                <a:cubicBezTo>
                  <a:pt x="3176" y="492"/>
                  <a:pt x="3173" y="505"/>
                  <a:pt x="3168" y="518"/>
                </a:cubicBezTo>
                <a:cubicBezTo>
                  <a:pt x="3162" y="531"/>
                  <a:pt x="3155" y="542"/>
                  <a:pt x="3145" y="552"/>
                </a:cubicBezTo>
                <a:cubicBezTo>
                  <a:pt x="3135" y="562"/>
                  <a:pt x="3123" y="570"/>
                  <a:pt x="3110" y="575"/>
                </a:cubicBezTo>
                <a:cubicBezTo>
                  <a:pt x="3097" y="581"/>
                  <a:pt x="3084" y="583"/>
                  <a:pt x="3070" y="583"/>
                </a:cubicBezTo>
                <a:lnTo>
                  <a:pt x="105" y="583"/>
                </a:lnTo>
                <a:cubicBezTo>
                  <a:pt x="91" y="583"/>
                  <a:pt x="78" y="581"/>
                  <a:pt x="65" y="575"/>
                </a:cubicBezTo>
                <a:cubicBezTo>
                  <a:pt x="52" y="570"/>
                  <a:pt x="41" y="562"/>
                  <a:pt x="31" y="552"/>
                </a:cubicBezTo>
                <a:cubicBezTo>
                  <a:pt x="21" y="542"/>
                  <a:pt x="13" y="531"/>
                  <a:pt x="8" y="518"/>
                </a:cubicBezTo>
                <a:cubicBezTo>
                  <a:pt x="2" y="505"/>
                  <a:pt x="0" y="492"/>
                  <a:pt x="0" y="477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2430000" y="420552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2510640" y="4170960"/>
            <a:ext cx="138303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0.98×–1.49×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3618720" y="4201920"/>
            <a:ext cx="78409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 ，方向一致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609480" y="4166280"/>
            <a:ext cx="332841" cy="214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6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■在线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ns0:sld xmlns:ns0="http://schemas.openxmlformats.org/presentationml/2006/main" xmlns:ns1="http://schemas.openxmlformats.org/drawingml/2006/main" xmlns:ns2="http://schemas.openxmlformats.org/markup-compatibility/2006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16" name=""/>
          <ns0:cNvSpPr/>
          <ns0:nvPr/>
        </ns0:nvSpPr>
        <ns0:spPr>
          <ns1:xfrm>
            <ns1:off x="0" y="0"/>
            <ns1:ext cx="12192120" cy="6858000"/>
          </ns1:xfrm>
          <ns1:custGeom>
            <ns1:avLst/>
            <ns1:gdLst/>
            <ns1:ahLst/>
            <ns1:rect l="0" t="0" r="r" b="b"/>
            <ns1:pathLst>
              <ns1:path w="33867" h="19050">
                <ns1:moveTo>
                  <ns1:pt x="0" y="0"/>
                </ns1:moveTo>
                <ns1:lnTo>
                  <ns1:pt x="33867" y="0"/>
                </ns1:lnTo>
                <ns1:lnTo>
                  <ns1:pt x="33867" y="19050"/>
                </ns1:lnTo>
                <ns1:lnTo>
                  <ns1:pt x="0" y="1905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8f9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17" name=""/>
          <ns0:cNvSpPr/>
          <ns0:nvPr/>
        </ns0:nvSpPr>
        <ns0:spPr>
          <ns1:xfrm>
            <ns1:off x="4680" y="4680"/>
            <ns1:ext cx="12182760" cy="6848640"/>
          </ns1:xfrm>
          <ns1:custGeom>
            <ns1:avLst/>
            <ns1:gdLst/>
            <ns1:ahLst/>
            <ns1:rect l="0" t="0" r="r" b="b"/>
            <ns1:pathLst>
              <ns1:path fill="none" w="33841" h="19024">
                <ns1:moveTo>
                  <ns1:pt x="0" y="0"/>
                </ns1:moveTo>
                <ns1:lnTo>
                  <ns1:pt x="33841" y="0"/>
                </ns1:lnTo>
                <ns1:lnTo>
                  <ns1:pt x="33841" y="19024"/>
                </ns1:lnTo>
                <ns1:lnTo>
                  <ns1:pt x="0" y="19024"/>
                </ns1:lnTo>
                <ns1:lnTo>
                  <ns1:pt x="0" y="0"/>
                </ns1:lnTo>
              </ns1:path>
            </ns1:pathLst>
          </ns1:custGeom>
          <ns1:ln w="9360">
            <ns1:solidFill>
              <ns1:srgbClr val="c0c0c0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18" name=""/>
          <ns0:cNvSpPr/>
          <ns0:nvPr/>
        </ns0:nvSpPr>
        <ns0:spPr>
          <ns1:xfrm>
            <ns1:off x="0" y="0"/>
            <ns1:ext cx="914400" cy="914400"/>
          </ns1:xfrm>
          <ns1:custGeom>
            <ns1:avLst/>
            <ns1:gdLst/>
            <ns1:ahLst/>
            <ns1:rect l="0" t="0" r="r" b="b"/>
            <ns1:pathLst>
              <ns1:path w="2540" h="2540">
                <ns1:moveTo>
                  <ns1:pt x="0" y="2540"/>
                </ns1:moveTo>
                <ns1:lnTo>
                  <ns1:pt x="0" y="0"/>
                </ns1:lnTo>
                <ns1:lnTo>
                  <ns1:pt x="2540" y="0"/>
                </ns1:lnTo>
                <ns1:cubicBezTo>
                  <ns1:pt x="2540" y="41"/>
                  <ns1:pt x="2539" y="83"/>
                  <ns1:pt x="2537" y="124"/>
                </ns1:cubicBezTo>
                <ns1:cubicBezTo>
                  <ns1:pt x="2535" y="166"/>
                  <ns1:pt x="2532" y="207"/>
                  <ns1:pt x="2528" y="248"/>
                </ns1:cubicBezTo>
                <ns1:cubicBezTo>
                  <ns1:pt x="2524" y="290"/>
                  <ns1:pt x="2519" y="331"/>
                  <ns1:pt x="2513" y="372"/>
                </ns1:cubicBezTo>
                <ns1:cubicBezTo>
                  <ns1:pt x="2507" y="413"/>
                  <ns1:pt x="2500" y="454"/>
                  <ns1:pt x="2492" y="495"/>
                </ns1:cubicBezTo>
                <ns1:cubicBezTo>
                  <ns1:pt x="2484" y="536"/>
                  <ns1:pt x="2474" y="576"/>
                  <ns1:pt x="2464" y="617"/>
                </ns1:cubicBezTo>
                <ns1:cubicBezTo>
                  <ns1:pt x="2454" y="657"/>
                  <ns1:pt x="2443" y="697"/>
                  <ns1:pt x="2431" y="737"/>
                </ns1:cubicBezTo>
                <ns1:cubicBezTo>
                  <ns1:pt x="2419" y="777"/>
                  <ns1:pt x="2406" y="816"/>
                  <ns1:pt x="2392" y="855"/>
                </ns1:cubicBezTo>
                <ns1:cubicBezTo>
                  <ns1:pt x="2378" y="894"/>
                  <ns1:pt x="2363" y="933"/>
                  <ns1:pt x="2347" y="972"/>
                </ns1:cubicBezTo>
                <ns1:cubicBezTo>
                  <ns1:pt x="2331" y="1010"/>
                  <ns1:pt x="2314" y="1048"/>
                  <ns1:pt x="2297" y="1085"/>
                </ns1:cubicBezTo>
                <ns1:cubicBezTo>
                  <ns1:pt x="2279" y="1123"/>
                  <ns1:pt x="2260" y="1160"/>
                  <ns1:pt x="2241" y="1197"/>
                </ns1:cubicBezTo>
                <ns1:cubicBezTo>
                  <ns1:pt x="2221" y="1234"/>
                  <ns1:pt x="2201" y="1271"/>
                  <ns1:pt x="2179" y="1306"/>
                </ns1:cubicBezTo>
                <ns1:cubicBezTo>
                  <ns1:pt x="2158" y="1342"/>
                  <ns1:pt x="2136" y="1377"/>
                  <ns1:pt x="2112" y="1412"/>
                </ns1:cubicBezTo>
                <ns1:cubicBezTo>
                  <ns1:pt x="2089" y="1446"/>
                  <ns1:pt x="2065" y="1480"/>
                  <ns1:pt x="2041" y="1514"/>
                </ns1:cubicBezTo>
                <ns1:cubicBezTo>
                  <ns1:pt x="2016" y="1547"/>
                  <ns1:pt x="1990" y="1580"/>
                  <ns1:pt x="1964" y="1612"/>
                </ns1:cubicBezTo>
                <ns1:cubicBezTo>
                  <ns1:pt x="1938" y="1644"/>
                  <ns1:pt x="1910" y="1675"/>
                  <ns1:pt x="1883" y="1706"/>
                </ns1:cubicBezTo>
                <ns1:cubicBezTo>
                  <ns1:pt x="1855" y="1737"/>
                  <ns1:pt x="1826" y="1767"/>
                  <ns1:pt x="1797" y="1797"/>
                </ns1:cubicBezTo>
                <ns1:cubicBezTo>
                  <ns1:pt x="1767" y="1826"/>
                  <ns1:pt x="1737" y="1855"/>
                  <ns1:pt x="1706" y="1883"/>
                </ns1:cubicBezTo>
                <ns1:cubicBezTo>
                  <ns1:pt x="1675" y="1910"/>
                  <ns1:pt x="1644" y="1938"/>
                  <ns1:pt x="1612" y="1964"/>
                </ns1:cubicBezTo>
                <ns1:cubicBezTo>
                  <ns1:pt x="1580" y="1990"/>
                  <ns1:pt x="1547" y="2016"/>
                  <ns1:pt x="1514" y="2041"/>
                </ns1:cubicBezTo>
                <ns1:cubicBezTo>
                  <ns1:pt x="1480" y="2065"/>
                  <ns1:pt x="1446" y="2089"/>
                  <ns1:pt x="1412" y="2112"/>
                </ns1:cubicBezTo>
                <ns1:cubicBezTo>
                  <ns1:pt x="1377" y="2136"/>
                  <ns1:pt x="1342" y="2158"/>
                  <ns1:pt x="1306" y="2179"/>
                </ns1:cubicBezTo>
                <ns1:cubicBezTo>
                  <ns1:pt x="1271" y="2201"/>
                  <ns1:pt x="1234" y="2221"/>
                  <ns1:pt x="1197" y="2241"/>
                </ns1:cubicBezTo>
                <ns1:cubicBezTo>
                  <ns1:pt x="1160" y="2260"/>
                  <ns1:pt x="1123" y="2279"/>
                  <ns1:pt x="1085" y="2297"/>
                </ns1:cubicBezTo>
                <ns1:cubicBezTo>
                  <ns1:pt x="1048" y="2314"/>
                  <ns1:pt x="1010" y="2331"/>
                  <ns1:pt x="972" y="2347"/>
                </ns1:cubicBezTo>
                <ns1:cubicBezTo>
                  <ns1:pt x="933" y="2363"/>
                  <ns1:pt x="894" y="2378"/>
                  <ns1:pt x="855" y="2392"/>
                </ns1:cubicBezTo>
                <ns1:cubicBezTo>
                  <ns1:pt x="816" y="2406"/>
                  <ns1:pt x="777" y="2419"/>
                  <ns1:pt x="737" y="2431"/>
                </ns1:cubicBezTo>
                <ns1:cubicBezTo>
                  <ns1:pt x="697" y="2443"/>
                  <ns1:pt x="657" y="2454"/>
                  <ns1:pt x="617" y="2464"/>
                </ns1:cubicBezTo>
                <ns1:cubicBezTo>
                  <ns1:pt x="576" y="2474"/>
                  <ns1:pt x="536" y="2484"/>
                  <ns1:pt x="495" y="2492"/>
                </ns1:cubicBezTo>
                <ns1:cubicBezTo>
                  <ns1:pt x="454" y="2500"/>
                  <ns1:pt x="413" y="2507"/>
                  <ns1:pt x="372" y="2513"/>
                </ns1:cubicBezTo>
                <ns1:cubicBezTo>
                  <ns1:pt x="331" y="2519"/>
                  <ns1:pt x="290" y="2524"/>
                  <ns1:pt x="248" y="2528"/>
                </ns1:cubicBezTo>
                <ns1:cubicBezTo>
                  <ns1:pt x="207" y="2532"/>
                  <ns1:pt x="166" y="2535"/>
                  <ns1:pt x="124" y="2537"/>
                </ns1:cubicBezTo>
                <ns1:cubicBezTo>
                  <ns1:pt x="83" y="2539"/>
                  <ns1:pt x="41" y="2540"/>
                  <ns1:pt x="0" y="2540"/>
                </ns1:cubicBezTo>
                <ns1:close/>
              </ns1:path>
            </ns1:pathLst>
          </ns1:custGeom>
          <ns1:solidFill>
            <ns1:srgbClr val="3b82f6">
              <ns1:alpha val="10000"/>
            </ns1:srgbClr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19" name=""/>
          <ns0:cNvSpPr/>
          <ns0:nvPr/>
        </ns0:nvSpPr>
        <ns0:spPr>
          <ns1:xfrm>
            <ns1:off x="11544840" y="5943240"/>
            <ns1:ext cx="647280" cy="322560"/>
          </ns1:xfrm>
          <ns1:custGeom>
            <ns1:avLst/>
            <ns1:gdLst/>
            <ns1:ahLst/>
            <ns1:rect l="0" t="0" r="r" b="b"/>
            <ns1:pathLst>
              <ns1:path w="1798" h="896">
                <ns1:moveTo>
                  <ns1:pt x="0" y="747"/>
                </ns1:moveTo>
                <ns1:cubicBezTo>
                  <ns1:pt x="0" y="746"/>
                  <ns1:pt x="1" y="746"/>
                  <ns1:pt x="1" y="745"/>
                </ns1:cubicBezTo>
                <ns1:cubicBezTo>
                  <ns1:pt x="60" y="687"/>
                  <ns1:pt x="122" y="631"/>
                  <ns1:pt x="186" y="578"/>
                </ns1:cubicBezTo>
                <ns1:cubicBezTo>
                  <ns1:pt x="250" y="525"/>
                  <ns1:pt x="317" y="476"/>
                  <ns1:pt x="386" y="430"/>
                </ns1:cubicBezTo>
                <ns1:cubicBezTo>
                  <ns1:pt x="455" y="383"/>
                  <ns1:pt x="526" y="341"/>
                  <ns1:pt x="600" y="301"/>
                </ns1:cubicBezTo>
                <ns1:cubicBezTo>
                  <ns1:pt x="673" y="262"/>
                  <ns1:pt x="748" y="227"/>
                  <ns1:pt x="825" y="195"/>
                </ns1:cubicBezTo>
                <ns1:cubicBezTo>
                  <ns1:pt x="902" y="163"/>
                  <ns1:pt x="980" y="135"/>
                  <ns1:pt x="1060" y="111"/>
                </ns1:cubicBezTo>
                <ns1:cubicBezTo>
                  <ns1:pt x="1139" y="87"/>
                  <ns1:pt x="1221" y="67"/>
                  <ns1:pt x="1303" y="50"/>
                </ns1:cubicBezTo>
                <ns1:cubicBezTo>
                  <ns1:pt x="1384" y="34"/>
                  <ns1:pt x="1466" y="21"/>
                  <ns1:pt x="1549" y="13"/>
                </ns1:cubicBezTo>
                <ns1:cubicBezTo>
                  <ns1:pt x="1632" y="5"/>
                  <ns1:pt x="1715" y="1"/>
                  <ns1:pt x="1798" y="0"/>
                </ns1:cubicBezTo>
                <ns1:lnTo>
                  <ns1:pt x="1798" y="213"/>
                </ns1:lnTo>
                <ns1:cubicBezTo>
                  <ns1:pt x="1722" y="213"/>
                  <ns1:pt x="1646" y="217"/>
                  <ns1:pt x="1570" y="224"/>
                </ns1:cubicBezTo>
                <ns1:cubicBezTo>
                  <ns1:pt x="1494" y="232"/>
                  <ns1:pt x="1419" y="243"/>
                  <ns1:pt x="1344" y="258"/>
                </ns1:cubicBezTo>
                <ns1:cubicBezTo>
                  <ns1:pt x="1269" y="273"/>
                  <ns1:pt x="1195" y="291"/>
                  <ns1:pt x="1121" y="313"/>
                </ns1:cubicBezTo>
                <ns1:cubicBezTo>
                  <ns1:pt x="1048" y="336"/>
                  <ns1:pt x="977" y="361"/>
                  <ns1:pt x="906" y="390"/>
                </ns1:cubicBezTo>
                <ns1:cubicBezTo>
                  <ns1:pt x="836" y="420"/>
                  <ns1:pt x="767" y="452"/>
                  <ns1:pt x="700" y="488"/>
                </ns1:cubicBezTo>
                <ns1:cubicBezTo>
                  <ns1:pt x="632" y="524"/>
                  <ns1:pt x="567" y="563"/>
                  <ns1:pt x="504" y="606"/>
                </ns1:cubicBezTo>
                <ns1:cubicBezTo>
                  <ns1:pt x="440" y="648"/>
                  <ns1:pt x="379" y="693"/>
                  <ns1:pt x="320" y="742"/>
                </ns1:cubicBezTo>
                <ns1:cubicBezTo>
                  <ns1:pt x="261" y="790"/>
                  <ns1:pt x="205" y="841"/>
                  <ns1:pt x="151" y="895"/>
                </ns1:cubicBezTo>
                <ns1:cubicBezTo>
                  <ns1:pt x="150" y="896"/>
                  <ns1:pt x="150" y="896"/>
                  <ns1:pt x="149" y="896"/>
                </ns1:cubicBezTo>
                <ns1:lnTo>
                  <ns1:pt x="0" y="747"/>
                </ns1:lnTo>
                <ns1:close/>
              </ns1:path>
            </ns1:pathLst>
          </ns1:custGeom>
          <ns1:solidFill>
            <ns1:srgbClr val="60a5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20" name=""/>
          <ns0:cNvSpPr/>
          <ns0:nvPr/>
        </ns0:nvSpPr>
        <ns0:spPr>
          <ns1:xfrm>
            <ns1:off x="11277360" y="6210720"/>
            <ns1:ext cx="322560" cy="647280"/>
          </ns1:xfrm>
          <ns1:custGeom>
            <ns1:avLst/>
            <ns1:gdLst/>
            <ns1:ahLst/>
            <ns1:rect l="0" t="0" r="r" b="b"/>
            <ns1:pathLst>
              <ns1:path w="896" h="1798">
                <ns1:moveTo>
                  <ns1:pt x="896" y="150"/>
                </ns1:moveTo>
                <ns1:lnTo>
                  <ns1:pt x="895" y="151"/>
                </ns1:lnTo>
                <ns1:cubicBezTo>
                  <ns1:pt x="841" y="205"/>
                  <ns1:pt x="790" y="261"/>
                  <ns1:pt x="741" y="320"/>
                </ns1:cubicBezTo>
                <ns1:cubicBezTo>
                  <ns1:pt x="693" y="379"/>
                  <ns1:pt x="648" y="441"/>
                  <ns1:pt x="605" y="504"/>
                </ns1:cubicBezTo>
                <ns1:cubicBezTo>
                  <ns1:pt x="563" y="567"/>
                  <ns1:pt x="524" y="633"/>
                  <ns1:pt x="488" y="700"/>
                </ns1:cubicBezTo>
                <ns1:cubicBezTo>
                  <ns1:pt x="452" y="767"/>
                  <ns1:pt x="419" y="836"/>
                  <ns1:pt x="389" y="906"/>
                </ns1:cubicBezTo>
                <ns1:cubicBezTo>
                  <ns1:pt x="360" y="977"/>
                  <ns1:pt x="334" y="1049"/>
                  <ns1:pt x="312" y="1122"/>
                </ns1:cubicBezTo>
                <ns1:cubicBezTo>
                  <ns1:pt x="290" y="1195"/>
                  <ns1:pt x="271" y="1268"/>
                  <ns1:pt x="257" y="1343"/>
                </ns1:cubicBezTo>
                <ns1:cubicBezTo>
                  <ns1:pt x="242" y="1418"/>
                  <ns1:pt x="231" y="1493"/>
                  <ns1:pt x="223" y="1569"/>
                </ns1:cubicBezTo>
                <ns1:cubicBezTo>
                  <ns1:pt x="216" y="1646"/>
                  <ns1:pt x="212" y="1722"/>
                  <ns1:pt x="212" y="1798"/>
                </ns1:cubicBezTo>
                <ns1:lnTo>
                  <ns1:pt x="0" y="1798"/>
                </ns1:lnTo>
                <ns1:cubicBezTo>
                  <ns1:pt x="0" y="1715"/>
                  <ns1:pt x="4" y="1632"/>
                  <ns1:pt x="12" y="1549"/>
                </ns1:cubicBezTo>
                <ns1:cubicBezTo>
                  <ns1:pt x="21" y="1466"/>
                  <ns1:pt x="33" y="1384"/>
                  <ns1:pt x="49" y="1302"/>
                </ns1:cubicBezTo>
                <ns1:cubicBezTo>
                  <ns1:pt x="65" y="1220"/>
                  <ns1:pt x="85" y="1140"/>
                  <ns1:pt x="110" y="1060"/>
                </ns1:cubicBezTo>
                <ns1:cubicBezTo>
                  <ns1:pt x="134" y="981"/>
                  <ns1:pt x="162" y="902"/>
                  <ns1:pt x="194" y="825"/>
                </ns1:cubicBezTo>
                <ns1:cubicBezTo>
                  <ns1:pt x="225" y="749"/>
                  <ns1:pt x="261" y="674"/>
                  <ns1:pt x="300" y="600"/>
                </ns1:cubicBezTo>
                <ns1:cubicBezTo>
                  <ns1:pt x="339" y="527"/>
                  <ns1:pt x="382" y="456"/>
                  <ns1:pt x="429" y="386"/>
                </ns1:cubicBezTo>
                <ns1:cubicBezTo>
                  <ns1:pt x="475" y="317"/>
                  <ns1:pt x="525" y="250"/>
                  <ns1:pt x="578" y="186"/>
                </ns1:cubicBezTo>
                <ns1:cubicBezTo>
                  <ns1:pt x="630" y="122"/>
                  <ns1:pt x="686" y="60"/>
                  <ns1:pt x="745" y="1"/>
                </ns1:cubicBezTo>
                <ns1:cubicBezTo>
                  <ns1:pt x="746" y="1"/>
                  <ns1:pt x="746" y="1"/>
                  <ns1:pt x="746" y="0"/>
                </ns1:cubicBezTo>
                <ns1:lnTo>
                  <ns1:pt x="896" y="150"/>
                </ns1:lnTo>
                <ns1:close/>
              </ns1:path>
            </ns1:pathLst>
          </ns1:custGeom>
          <ns1:solidFill>
            <ns1:srgbClr val="60a5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21" name=""/>
          <ns0:cNvSpPr/>
          <ns0:nvPr/>
        </ns0:nvSpPr>
        <ns0:spPr>
          <ns1:xfrm>
            <ns1:off x="456840" y="3352680"/>
            <ns1:ext cx="762480" cy="38520"/>
          </ns1:xfrm>
          <ns1:custGeom>
            <ns1:avLst/>
            <ns1:gdLst/>
            <ns1:ahLst/>
            <ns1:rect l="0" t="0" r="r" b="b"/>
            <ns1:pathLst>
              <ns1:path w="2118" h="107">
                <ns1:moveTo>
                  <ns1:pt x="0" y="53"/>
                </ns1:moveTo>
                <ns1:cubicBezTo>
                  <ns1:pt x="0" y="46"/>
                  <ns1:pt x="2" y="39"/>
                  <ns1:pt x="5" y="32"/>
                </ns1:cubicBezTo>
                <ns1:cubicBezTo>
                  <ns1:pt x="7" y="26"/>
                  <ns1:pt x="11" y="20"/>
                  <ns1:pt x="16" y="15"/>
                </ns1:cubicBezTo>
                <ns1:cubicBezTo>
                  <ns1:pt x="21" y="10"/>
                  <ns1:pt x="27" y="7"/>
                  <ns1:pt x="33" y="4"/>
                </ns1:cubicBezTo>
                <ns1:cubicBezTo>
                  <ns1:pt x="40" y="1"/>
                  <ns1:pt x="46" y="0"/>
                  <ns1:pt x="53" y="0"/>
                </ns1:cubicBezTo>
                <ns1:lnTo>
                  <ns1:pt x="2065" y="0"/>
                </ns1:lnTo>
                <ns1:cubicBezTo>
                  <ns1:pt x="2072" y="0"/>
                  <ns1:pt x="2079" y="1"/>
                  <ns1:pt x="2085" y="4"/>
                </ns1:cubicBezTo>
                <ns1:cubicBezTo>
                  <ns1:pt x="2092" y="7"/>
                  <ns1:pt x="2098" y="10"/>
                  <ns1:pt x="2103" y="15"/>
                </ns1:cubicBezTo>
                <ns1:cubicBezTo>
                  <ns1:pt x="2108" y="20"/>
                  <ns1:pt x="2111" y="26"/>
                  <ns1:pt x="2114" y="32"/>
                </ns1:cubicBezTo>
                <ns1:cubicBezTo>
                  <ns1:pt x="2117" y="39"/>
                  <ns1:pt x="2118" y="46"/>
                  <ns1:pt x="2118" y="53"/>
                </ns1:cubicBezTo>
                <ns1:cubicBezTo>
                  <ns1:pt x="2118" y="60"/>
                  <ns1:pt x="2117" y="67"/>
                  <ns1:pt x="2114" y="73"/>
                </ns1:cubicBezTo>
                <ns1:cubicBezTo>
                  <ns1:pt x="2111" y="79"/>
                  <ns1:pt x="2108" y="86"/>
                  <ns1:pt x="2103" y="91"/>
                </ns1:cubicBezTo>
                <ns1:cubicBezTo>
                  <ns1:pt x="2098" y="96"/>
                  <ns1:pt x="2092" y="100"/>
                  <ns1:pt x="2085" y="103"/>
                </ns1:cubicBezTo>
                <ns1:cubicBezTo>
                  <ns1:pt x="2079" y="105"/>
                  <ns1:pt x="2072" y="107"/>
                  <ns1:pt x="2065" y="107"/>
                </ns1:cubicBezTo>
                <ns1:lnTo>
                  <ns1:pt x="53" y="107"/>
                </ns1:lnTo>
                <ns1:cubicBezTo>
                  <ns1:pt x="46" y="107"/>
                  <ns1:pt x="40" y="105"/>
                  <ns1:pt x="33" y="103"/>
                </ns1:cubicBezTo>
                <ns1:cubicBezTo>
                  <ns1:pt x="27" y="100"/>
                  <ns1:pt x="21" y="96"/>
                  <ns1:pt x="16" y="91"/>
                </ns1:cubicBezTo>
                <ns1:cubicBezTo>
                  <ns1:pt x="11" y="86"/>
                  <ns1:pt x="7" y="79"/>
                  <ns1:pt x="5" y="73"/>
                </ns1:cubicBezTo>
                <ns1:cubicBezTo>
                  <ns1:pt x="2" y="67"/>
                  <ns1:pt x="0" y="60"/>
                  <ns1:pt x="0" y="53"/>
                </ns1:cubicBezTo>
                <ns1:close/>
              </ns1:path>
            </ns1:pathLst>
          </ns1:custGeom>
          <ns1:solidFill>
            <ns1:srgbClr val="3b82f6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22" name=""/>
          <ns0:cNvSpPr txBox="1"/>
          <ns0:nvPr/>
        </ns0:nvSpPr>
        <ns0:spPr>
          <ns1:xfrm>
            <ns1:off x="457200" y="2751480"/>
            <ns1:ext cx="5400675" cy="4438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3000" strike="noStrike" u="none" i="0">
                <ns1:solidFill>
                  <ns1:srgbClr val="1f2937"/>
                </ns1:solidFill>
                <ns1:effectLst/>
                <ns1:uFillTx/>
                <ns1:latin typeface="Inter, sans-serif"/>
                <ns1:ea typeface="Inter, sans-serif"/>
              </ns1:rPr>
              <ns1:t>证据二：LFU被毒化，LRU近免疫</ns1:t>
            </ns1:r>
            <ns1:endParaRPr b="0" lang="en-US" sz="30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27" name=""/>
          <ns0:cNvSpPr txBox="1"/>
          <ns0:nvPr/>
        </ns0:nvSpPr>
        <ns0:spPr>
          <ns1:xfrm>
            <ns1:off x="457200" y="3743640"/>
            <ns1:ext cx="1750218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LRU：自然淘汰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29" name=""/>
          <ns0:cNvSpPr txBox="1"/>
          <ns0:nvPr/>
        </ns0:nvSpPr>
        <ns0:spPr>
          <ns1:xfrm>
            <ns1:off x="457200" y="4306680"/>
            <ns1:ext cx="4912614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进入B后，A的专家因「最久没用」被冲掉→ warm ≈ cold（差&lt; 0.05 pp）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38" name=""/>
          <ns0:cNvSpPr txBox="1"/>
          <ns0:nvPr/>
        </ns0:nvSpPr>
        <ns0:spPr>
          <ns1:xfrm>
            <ns1:off x="457200" y="4714920"/>
            <ns1:ext cx="1290828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漂移分量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39" name=""/>
          <ns0:cNvSpPr txBox="1"/>
          <ns0:nvPr/>
        </ns0:nvSpPr>
        <ns0:spPr>
          <ns1:xfrm>
            <ns1:off x="1523880" y="4721040"/>
            <ns1:ext cx="267480" cy="2977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D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40" name=""/>
          <ns0:cNvSpPr txBox="1"/>
          <ns0:nvPr/>
        </ns0:nvSpPr>
        <ns0:spPr>
          <ns1:xfrm>
            <ns1:off x="457200" y="5278320"/>
            <ns1:ext cx="4696587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D = (LRU−LFU)_warm − (LRU−LFU)_coldD&gt;0 =漂移专惩罚频率缓存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41" name=""/>
          <ns0:cNvSpPr txBox="1"/>
          <ns0:nvPr/>
        </ns0:nvSpPr>
        <ns0:spPr>
          <ns1:xfrm>
            <ns1:off x="3302640" y="5278320"/>
            <ns1:ext cx="1519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，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44" name=""/>
          <ns0:cNvSpPr txBox="1"/>
          <ns0:nvPr/>
        </ns0:nvSpPr>
        <ns0:spPr>
          <ns1:xfrm>
            <ns1:off x="6248520" y="3743640"/>
            <ns1:ext cx="2310288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LFU：陈旧计数钉住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46" name=""/>
          <ns0:cNvSpPr txBox="1"/>
          <ns0:nvPr/>
        </ns0:nvSpPr>
        <ns0:spPr>
          <ns1:xfrm>
            <ns1:off x="6248520" y="4306680"/>
            <ns1:ext cx="5296662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A的陈旧高频计数把用不上的A专家「钉」在缓存里→ LFU_warm &lt; LFU_cold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51" name=""/>
          <ns0:cNvSpPr txBox="1"/>
          <ns0:nvPr/>
        </ns0:nvSpPr>
        <ns0:spPr>
          <ns1:xfrm>
            <ns1:off x="6248520" y="4714920"/>
            <ns1:ext cx="1290828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诚实标注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52" name=""/>
          <ns0:cNvSpPr txBox="1"/>
          <ns0:nvPr/>
        </ns0:nvSpPr>
        <ns0:spPr>
          <ns1:xfrm>
            <ns1:off x="6248520" y="5278320"/>
            <ns1:ext cx="5176647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D方向正、随容量单调（+0.96 → +2.39 pp）、机制自洽；但多样mmlu下未达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58" name=""/>
          <ns0:cNvSpPr txBox="1"/>
          <ns0:nvPr/>
        </ns0:nvSpPr>
        <ns0:spPr>
          <ns1:xfrm>
            <ns1:off x="6248520" y="5526000"/>
            <ns1:ext cx="1088136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per-C统计显著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59" name=""/>
          <ns0:cNvSpPr/>
          <ns0:nvPr/>
        </ns0:nvSpPr>
        <ns0:spPr>
          <ns1:xfrm>
            <ns1:off x="0" y="0"/>
            <ns1:ext cx="12192120" cy="2286000"/>
          </ns1:xfrm>
          <ns1:custGeom>
            <ns1:avLst/>
            <ns1:gdLst/>
            <ns1:ahLst/>
            <ns1:rect l="0" t="0" r="r" b="b"/>
            <ns1:pathLst>
              <ns1:path w="33867" h="6350">
                <ns1:moveTo>
                  <ns1:pt x="0" y="6139"/>
                </ns1:moveTo>
                <ns1:lnTo>
                  <ns1:pt x="0" y="211"/>
                </ns1:lnTo>
                <ns1:cubicBezTo>
                  <ns1:pt x="0" y="197"/>
                  <ns1:pt x="1" y="184"/>
                  <ns1:pt x="4" y="170"/>
                </ns1:cubicBezTo>
                <ns1:cubicBezTo>
                  <ns1:pt x="6" y="156"/>
                  <ns1:pt x="10" y="143"/>
                  <ns1:pt x="16" y="130"/>
                </ns1:cubicBezTo>
                <ns1:cubicBezTo>
                  <ns1:pt x="21" y="117"/>
                  <ns1:pt x="27" y="105"/>
                  <ns1:pt x="35" y="94"/>
                </ns1:cubicBezTo>
                <ns1:cubicBezTo>
                  <ns1:pt x="43" y="82"/>
                  <ns1:pt x="52" y="71"/>
                  <ns1:pt x="61" y="61"/>
                </ns1:cubicBezTo>
                <ns1:cubicBezTo>
                  <ns1:pt x="71" y="52"/>
                  <ns1:pt x="82" y="43"/>
                  <ns1:pt x="94" y="35"/>
                </ns1:cubicBezTo>
                <ns1:cubicBezTo>
                  <ns1:pt x="105" y="27"/>
                  <ns1:pt x="117" y="21"/>
                  <ns1:pt x="130" y="16"/>
                </ns1:cubicBezTo>
                <ns1:cubicBezTo>
                  <ns1:pt x="143" y="10"/>
                  <ns1:pt x="156" y="6"/>
                  <ns1:pt x="170" y="4"/>
                </ns1:cubicBezTo>
                <ns1:cubicBezTo>
                  <ns1:pt x="184" y="1"/>
                  <ns1:pt x="197" y="0"/>
                  <ns1:pt x="211" y="0"/>
                </ns1:cubicBezTo>
                <ns1:lnTo>
                  <ns1:pt x="33655" y="0"/>
                </ns1:lnTo>
                <ns1:cubicBezTo>
                  <ns1:pt x="33669" y="0"/>
                  <ns1:pt x="33683" y="1"/>
                  <ns1:pt x="33697" y="4"/>
                </ns1:cubicBezTo>
                <ns1:cubicBezTo>
                  <ns1:pt x="33710" y="6"/>
                  <ns1:pt x="33724" y="10"/>
                  <ns1:pt x="33736" y="16"/>
                </ns1:cubicBezTo>
                <ns1:cubicBezTo>
                  <ns1:pt x="33749" y="21"/>
                  <ns1:pt x="33762" y="27"/>
                  <ns1:pt x="33773" y="35"/>
                </ns1:cubicBezTo>
                <ns1:cubicBezTo>
                  <ns1:pt x="33785" y="43"/>
                  <ns1:pt x="33795" y="52"/>
                  <ns1:pt x="33805" y="61"/>
                </ns1:cubicBezTo>
                <ns1:cubicBezTo>
                  <ns1:pt x="33815" y="71"/>
                  <ns1:pt x="33824" y="82"/>
                  <ns1:pt x="33831" y="94"/>
                </ns1:cubicBezTo>
                <ns1:cubicBezTo>
                  <ns1:pt x="33839" y="105"/>
                  <ns1:pt x="33846" y="117"/>
                  <ns1:pt x="33851" y="130"/>
                </ns1:cubicBezTo>
                <ns1:cubicBezTo>
                  <ns1:pt x="33856" y="143"/>
                  <ns1:pt x="33860" y="156"/>
                  <ns1:pt x="33863" y="170"/>
                </ns1:cubicBezTo>
                <ns1:cubicBezTo>
                  <ns1:pt x="33866" y="183"/>
                  <ns1:pt x="33867" y="197"/>
                  <ns1:pt x="33867" y="211"/>
                </ns1:cubicBezTo>
                <ns1:lnTo>
                  <ns1:pt x="33867" y="6139"/>
                </ns1:lnTo>
                <ns1:cubicBezTo>
                  <ns1:pt x="33867" y="6153"/>
                  <ns1:pt x="33866" y="6167"/>
                  <ns1:pt x="33863" y="6180"/>
                </ns1:cubicBezTo>
                <ns1:cubicBezTo>
                  <ns1:pt x="33860" y="6194"/>
                  <ns1:pt x="33856" y="6207"/>
                  <ns1:pt x="33851" y="6220"/>
                </ns1:cubicBezTo>
                <ns1:cubicBezTo>
                  <ns1:pt x="33846" y="6233"/>
                  <ns1:pt x="33839" y="6245"/>
                  <ns1:pt x="33831" y="6256"/>
                </ns1:cubicBezTo>
                <ns1:cubicBezTo>
                  <ns1:pt x="33824" y="6268"/>
                  <ns1:pt x="33815" y="6279"/>
                  <ns1:pt x="33805" y="6289"/>
                </ns1:cubicBezTo>
                <ns1:cubicBezTo>
                  <ns1:pt x="33795" y="6298"/>
                  <ns1:pt x="33785" y="6307"/>
                  <ns1:pt x="33773" y="6315"/>
                </ns1:cubicBezTo>
                <ns1:cubicBezTo>
                  <ns1:pt x="33762" y="6323"/>
                  <ns1:pt x="33749" y="6329"/>
                  <ns1:pt x="33736" y="6334"/>
                </ns1:cubicBezTo>
                <ns1:cubicBezTo>
                  <ns1:pt x="33724" y="6340"/>
                  <ns1:pt x="33710" y="6344"/>
                  <ns1:pt x="33697" y="6346"/>
                </ns1:cubicBezTo>
                <ns1:cubicBezTo>
                  <ns1:pt x="33683" y="6349"/>
                  <ns1:pt x="33669" y="6350"/>
                  <ns1:pt x="33655" y="6350"/>
                </ns1:cubicBezTo>
                <ns1:lnTo>
                  <ns1:pt x="211" y="6350"/>
                </ns1:lnTo>
                <ns1:cubicBezTo>
                  <ns1:pt x="197" y="6350"/>
                  <ns1:pt x="184" y="6349"/>
                  <ns1:pt x="170" y="6346"/>
                </ns1:cubicBezTo>
                <ns1:cubicBezTo>
                  <ns1:pt x="156" y="6344"/>
                  <ns1:pt x="143" y="6340"/>
                  <ns1:pt x="130" y="6334"/>
                </ns1:cubicBezTo>
                <ns1:cubicBezTo>
                  <ns1:pt x="117" y="6329"/>
                  <ns1:pt x="105" y="6323"/>
                  <ns1:pt x="94" y="6315"/>
                </ns1:cubicBezTo>
                <ns1:cubicBezTo>
                  <ns1:pt x="82" y="6307"/>
                  <ns1:pt x="71" y="6298"/>
                  <ns1:pt x="61" y="6289"/>
                </ns1:cubicBezTo>
                <ns1:cubicBezTo>
                  <ns1:pt x="52" y="6279"/>
                  <ns1:pt x="43" y="6268"/>
                  <ns1:pt x="35" y="6256"/>
                </ns1:cubicBezTo>
                <ns1:cubicBezTo>
                  <ns1:pt x="27" y="6245"/>
                  <ns1:pt x="21" y="6233"/>
                  <ns1:pt x="16" y="6220"/>
                </ns1:cubicBezTo>
                <ns1:cubicBezTo>
                  <ns1:pt x="10" y="6207"/>
                  <ns1:pt x="6" y="6194"/>
                  <ns1:pt x="4" y="6180"/>
                </ns1:cubicBezTo>
                <ns1:cubicBezTo>
                  <ns1:pt x="1" y="6166"/>
                  <ns1:pt x="0" y="6153"/>
                  <ns1:pt x="0" y="6139"/>
                </ns1:cubicBezTo>
                <ns1:close/>
              </ns1:path>
            </ns1:pathLst>
          </ns1:custGeom>
          <ns1:solidFill>
            <ns1:srgbClr val="fffff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60" name=""/>
          <ns0:cNvSpPr/>
          <ns0:nvPr/>
        </ns0:nvSpPr>
        <ns0:spPr>
          <ns1:xfrm>
            <ns1:off x="75960" y="75960"/>
            <ns1:ext cx="12039840" cy="2134080"/>
          </ns1:xfrm>
          <ns1:custGeom>
            <ns1:avLst/>
            <ns1:gdLst/>
            <ns1:ahLst/>
            <ns1:rect l="0" t="0" r="r" b="b"/>
            <ns1:pathLst>
              <ns1:path w="33444" h="5928">
                <ns1:moveTo>
                  <ns1:pt x="0" y="0"/>
                </ns1:moveTo>
                <ns1:lnTo>
                  <ns1:pt x="33444" y="0"/>
                </ns1:lnTo>
                <ns1:lnTo>
                  <ns1:pt x="33444" y="5928"/>
                </ns1:lnTo>
                <ns1:lnTo>
                  <ns1:pt x="0" y="5928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61" name=""/>
          <ns0:cNvSpPr/>
          <ns0:nvPr/>
        </ns0:nvSpPr>
        <ns0:spPr>
          <ns1:xfrm>
            <ns1:off x="1204560" y="1518480"/>
            <ns1:ext cx="10534680" cy="0"/>
          </ns1:xfrm>
          <ns1:prstGeom prst="line">
            <ns1:avLst/>
          </ns1:prstGeom>
          <ns1:ln w="18720">
            <ns1:solidFill>
              <ns1:srgbClr val="e5e7eb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9360" rIns="9360" tIns="-9360" bIns="-93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63" name=""/>
          <ns0:cNvSpPr/>
          <ns0:nvPr/>
        </ns0:nvSpPr>
        <ns0:spPr>
          <ns1:xfrm>
            <ns1:off x="1204560" y="671400"/>
            <ns1:ext cx="10534680" cy="0"/>
          </ns1:xfrm>
          <ns1:prstGeom prst="line">
            <ns1:avLst/>
          </ns1:prstGeom>
          <ns1:ln w="18720">
            <ns1:solidFill>
              <ns1:srgbClr val="e5e7eb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9360" rIns="9360" tIns="-9360" bIns="-93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65" name=""/>
          <ns0:cNvSpPr/>
          <ns0:nvPr/>
        </ns0:nvSpPr>
        <ns0:spPr>
          <ns1:xfrm>
            <ns1:off x="1204560" y="75960"/>
            <ns1:ext cx="0" cy="2133720"/>
          </ns1:xfrm>
          <ns1:prstGeom prst="line">
            <ns1:avLst/>
          </ns1:prstGeom>
          <ns1:ln w="18720">
            <ns1:solidFill>
              <ns1:srgbClr val="333333"/>
            </ns1:solidFill>
            <ns1:miter/>
          </ns1:ln>
        </ns0:spPr>
        <ns0:style>
          <ns1:lnRef idx="0"/>
          <ns1:fillRef idx="0"/>
          <ns1:effectRef idx="0"/>
          <ns1:fontRef idx="minor"/>
        </ns0:style>
        <ns0:txBody>
          <ns1:bodyPr lIns="9360" rIns="9360" tIns="9360" bIns="936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67" name=""/>
          <ns0:cNvSpPr/>
          <ns0:nvPr/>
        </ns0:nvSpPr>
        <ns0:spPr>
          <ns1:xfrm>
            <ns1:off x="2521440" y="1659600"/>
            <ns1:ext cx="790560" cy="550440"/>
          </ns1:xfrm>
          <ns1:custGeom>
            <ns1:avLst/>
            <ns1:gdLst/>
            <ns1:ahLst/>
            <ns1:rect l="0" t="0" r="r" b="b"/>
            <ns1:pathLst>
              <ns1:path w="2196" h="1529">
                <ns1:moveTo>
                  <ns1:pt x="0" y="1529"/>
                </ns1:moveTo>
                <ns1:lnTo>
                  <ns1:pt x="0" y="0"/>
                </ns1:lnTo>
                <ns1:lnTo>
                  <ns1:pt x="2196" y="0"/>
                </ns1:lnTo>
                <ns1:lnTo>
                  <ns1:pt x="2196" y="1529"/>
                </ns1:lnTo>
                <ns1:lnTo>
                  <ns1:pt x="0" y="1529"/>
                </ns1:lnTo>
                <ns1:close/>
              </ns1:path>
            </ns1:pathLst>
          </ns1:custGeom>
          <ns1:solidFill>
            <ns1:srgbClr val="f59e0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69" name=""/>
          <ns0:cNvSpPr/>
          <ns0:nvPr/>
        </ns0:nvSpPr>
        <ns0:spPr>
          <ns1:xfrm>
            <ns1:off x="3400200" y="1140120"/>
            <ns1:ext cx="790200" cy="1069920"/>
          </ns1:xfrm>
          <ns1:custGeom>
            <ns1:avLst/>
            <ns1:gdLst/>
            <ns1:ahLst/>
            <ns1:rect l="0" t="0" r="r" b="b"/>
            <ns1:pathLst>
              <ns1:path w="2195" h="2972">
                <ns1:moveTo>
                  <ns1:pt x="0" y="2972"/>
                </ns1:moveTo>
                <ns1:lnTo>
                  <ns1:pt x="0" y="0"/>
                </ns1:lnTo>
                <ns1:lnTo>
                  <ns1:pt x="2195" y="0"/>
                </ns1:lnTo>
                <ns1:lnTo>
                  <ns1:pt x="2195" y="2972"/>
                </ns1:lnTo>
                <ns1:lnTo>
                  <ns1:pt x="0" y="2972"/>
                </ns1:lnTo>
                <ns1:close/>
              </ns1:path>
            </ns1:pathLst>
          </ns1:custGeom>
          <ns1:solidFill>
            <ns1:srgbClr val="2563e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071" name=""/>
          <ns0:cNvSpPr/>
          <ns0:nvPr/>
        </ns0:nvSpPr>
        <ns0:spPr>
          <ns1:xfrm>
            <ns1:off x="6910200" y="2064600"/>
            <ns1:ext cx="790560" cy="145440"/>
          </ns1:xfrm>
          <ns1:custGeom>
            <ns1:avLst/>
            <ns1:gdLst/>
            <ns1:ahLst/>
            <ns1:rect l="0" t="0" r="r" b="b"/>
            <ns1:pathLst>
              <ns1:path w="2196" h="404">
                <ns1:moveTo>
                  <ns1:pt x="0" y="404"/>
                </ns1:moveTo>
                <ns1:lnTo>
                  <ns1:pt x="0" y="0"/>
                </ns1:lnTo>
                <ns1:lnTo>
                  <ns1:pt x="2196" y="0"/>
                </ns1:lnTo>
                <ns1:lnTo>
                  <ns1:pt x="2196" y="404"/>
                </ns1:lnTo>
                <ns1:lnTo>
                  <ns1:pt x="0" y="404"/>
                </ns1:lnTo>
                <ns1:close/>
              </ns1:path>
            </ns1:pathLst>
          </ns1:custGeom>
          <ns1:solidFill>
            <ns1:srgbClr val="2563eb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901" name="D-CI-Table"/>
          <ns0:cNvSpPr txBox="1"/>
          <ns0:nvPr/>
        </ns0:nvSpPr>
        <ns0:spPr>
          <ns1:xfrm>
            <ns1:off x="6580800" y="2194560"/>
            <ns1:ext cx="5080320" cy="3200400"/>
          </ns1:xfrm>
          <ns1:prstGeom prst="rect">
            <ns1:avLst/>
          </ns1:prstGeom>
          <ns1:solidFill>
            <ns1:srgbClr val="F8FAFF"/>
          </ns1:solidFill>
          <ns1:ln w="12700">
            <ns1:solidFill>
              <ns1:srgbClr val="93C5FD"/>
            </ns1:solidFill>
          </ns1:ln>
        </ns0:spPr>
        <ns0:txBody>
          <ns1:bodyPr wrap="square" lIns="91440" rIns="91440" tIns="91440" bIns="91440"/>
          <ns1:lstStyle/>
          <ns1:p>
            <ns1:pPr>
              <ns1:tabLst>
                <ns1:tab pos="914400" algn="l"/>
                <ns1:tab pos="2286000" algn="r"/>
                <ns1:tab pos="3657600" algn="c"/>
                <ns1:tab pos="4800600" algn="c"/>
              </ns1:tabLst>
            </ns1:pPr>
            <ns1:r>
              <ns1:rPr b="1" lang="zh-CN" sz="1000" spc="-100">
                <ns1:solidFill>
                  <ns1:srgbClr val="1E40AF"/>
                </ns1:solidFill>
                <ns1:latin typeface="Calibri"/>
                <ns1:ea typeface="Noto Sans SC"/>
              </ns1:rPr>
              <ns1:t>多样57科 mmlu（dense 4560条，NBOOT=1000）</ns1:t>
            </ns1:r>
          </ns1:p>
          <ns1:p>
            <ns1:pPr>
              <ns1:tabLst>
                <ns1:tab pos="914400" algn="r"/>
                <ns1:tab pos="2286000" algn="r"/>
                <ns1:tab pos="3657600" algn="c"/>
                <ns1:tab pos="4800600" algn="c"/>
              </ns1:tabLst>
            </ns1:pPr>
            <ns1:r>
              <ns1:rPr b="1" lang="en-US" sz="900">
                <ns1:solidFill>
                  <ns1:srgbClr val="374151"/>
                </ns1:solidFill>
                <ns1:latin typeface="Calibri"/>
              </ns1:rPr>
              <ns1:t>容量 C</ns1:t>
            </ns1:r>
            <ns1:r>
              <ns1:rPr lang="en-US" sz="900">
                <ns1:latin typeface="Calibri"/>
              </ns1:rPr>
              <ns1:t>	</ns1:t>
            </ns1:r>
            <ns1:r>
              <ns1:rPr b="1" lang="en-US" sz="900">
                <ns1:solidFill>
                  <ns1:srgbClr val="374151"/>
                </ns1:solidFill>
                <ns1:latin typeface="Calibri"/>
              </ns1:rPr>
              <ns1:t>D点估</ns1:t>
            </ns1:r>
            <ns1:r>
              <ns1:rPr lang="en-US" sz="900">
                <ns1:latin typeface="Calibri"/>
              </ns1:rPr>
              <ns1:t>	</ns1:t>
            </ns1:r>
            <ns1:r>
              <ns1:rPr b="1" lang="en-US" sz="900">
                <ns1:solidFill>
                  <ns1:srgbClr val="374151"/>
                </ns1:solidFill>
                <ns1:latin typeface="Calibri"/>
              </ns1:rPr>
              <ns1:t>95% CI</ns1:t>
            </ns1:r>
            <ns1:r>
              <ns1:rPr lang="en-US" sz="900">
                <ns1:latin typeface="Calibri"/>
              </ns1:rPr>
              <ns1:t>	</ns1:t>
            </ns1:r>
            <ns1:r>
              <ns1:rPr b="1" lang="en-US" sz="900">
                <ns1:solidFill>
                  <ns1:srgbClr val="374151"/>
                </ns1:solidFill>
                <ns1:latin typeface="Calibri"/>
              </ns1:rPr>
              <ns1:t>显著?</ns1:t>
            </ns1:r>
          </ns1:p>
          <ns1:p>
            <ns1:pPr>
              <ns1:tabLst>
                <ns1:tab pos="914400" algn="r"/>
                <ns1:tab pos="2286000" algn="r"/>
                <ns1:tab pos="3657600" algn="c"/>
                <ns1:tab pos="4800600" algn="c"/>
              </ns1:tabLst>
            </ns1:pPr>
            <ns1:r>
              <ns1:rPr lang="en-US" sz="950">
                <ns1:solidFill>
                  <ns1:srgbClr val="1F2937"/>
                </ns1:solidFill>
                <ns1:latin typeface="Calibri"/>
              </ns1:rPr>
              <ns1:t>8 (13%N)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950">
                <ns1:solidFill>
                  <ns1:srgbClr val="059669"/>
                </ns1:solidFill>
                <ns1:latin typeface="Calibri"/>
              </ns1:rPr>
              <ns1:t>+0.96 pp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950">
                <ns1:solidFill>
                  <ns1:srgbClr val="6B7280"/>
                </ns1:solidFill>
                <ns1:latin typeface="Calibri"/>
              </ns1:rPr>
              <ns1:t>[−0.23, +1.11]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1100">
                <ns1:solidFill>
                  <ns1:srgbClr val="DC2626"/>
                </ns1:solidFill>
                <ns1:latin typeface="Calibri"/>
              </ns1:rPr>
              <ns1:t>❌ CI跨0</ns1:t>
            </ns1:r>
          </ns1:p>
          <ns1:p>
            <ns1:pPr>
              <ns1:tabLst>
                <ns1:tab pos="914400" algn="r"/>
                <ns1:tab pos="2286000" algn="r"/>
                <ns1:tab pos="3657600" algn="c"/>
                <ns1:tab pos="4800600" algn="c"/>
              </ns1:tabLst>
            </ns1:pPr>
            <ns1:r>
              <ns1:rPr lang="en-US" sz="950">
                <ns1:solidFill>
                  <ns1:srgbClr val="1F2937"/>
                </ns1:solidFill>
                <ns1:latin typeface="Calibri"/>
              </ns1:rPr>
              <ns1:t>12 (20%N)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950">
                <ns1:solidFill>
                  <ns1:srgbClr val="059669"/>
                </ns1:solidFill>
                <ns1:latin typeface="Calibri"/>
              </ns1:rPr>
              <ns1:t>+1.79 pp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950">
                <ns1:solidFill>
                  <ns1:srgbClr val="6B7280"/>
                </ns1:solidFill>
                <ns1:latin typeface="Calibri"/>
              </ns1:rPr>
              <ns1:t>[−0.36, +1.74]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1100">
                <ns1:solidFill>
                  <ns1:srgbClr val="DC2626"/>
                </ns1:solidFill>
                <ns1:latin typeface="Calibri"/>
              </ns1:rPr>
              <ns1:t>❌ CI跨0</ns1:t>
            </ns1:r>
          </ns1:p>
          <ns1:p>
            <ns1:pPr>
              <ns1:tabLst>
                <ns1:tab pos="914400" algn="r"/>
                <ns1:tab pos="2286000" algn="r"/>
                <ns1:tab pos="3657600" algn="c"/>
                <ns1:tab pos="4800600" algn="c"/>
              </ns1:tabLst>
            </ns1:pPr>
            <ns1:r>
              <ns1:rPr lang="en-US" sz="950">
                <ns1:solidFill>
                  <ns1:srgbClr val="1F2937"/>
                </ns1:solidFill>
                <ns1:latin typeface="Calibri"/>
              </ns1:rPr>
              <ns1:t>16 (27%N)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950">
                <ns1:solidFill>
                  <ns1:srgbClr val="059669"/>
                </ns1:solidFill>
                <ns1:latin typeface="Calibri"/>
              </ns1:rPr>
              <ns1:t>+2.39 pp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950">
                <ns1:solidFill>
                  <ns1:srgbClr val="6B7280"/>
                </ns1:solidFill>
                <ns1:latin typeface="Calibri"/>
              </ns1:rPr>
              <ns1:t>[−0.45, +2.41]</ns1:t>
            </ns1:r>
            <ns1:r>
              <ns1:rPr lang="en-US" sz="950">
                <ns1:latin typeface="Calibri"/>
              </ns1:rPr>
              <ns1:t>	</ns1:t>
            </ns1:r>
            <ns1:r>
              <ns1:rPr lang="en-US" sz="1100">
                <ns1:solidFill>
                  <ns1:srgbClr val="DC2626"/>
                </ns1:solidFill>
                <ns1:latin typeface="Calibri"/>
              </ns1:rPr>
              <ns1:t>❌ CI跨0</ns1:t>
            </ns1:r>
          </ns1:p>
          <ns1:p>
            <ns1:r>
              <ns1:rPr lang="zh-CN" sz="850" i="1">
                <ns1:solidFill>
                  <ns1:srgbClr val="6B7280"/>
                </ns1:solidFill>
                <ns1:latin typeface="Calibri"/>
                <ns1:ea typeface="Noto Sans SC"/>
              </ns1:rPr>
              <ns1:t>D方向正、单调递增、机制自洽；功效不足→佐证而非主证</ns1:t>
            </ns1:r>
          </ns1:p>
          <ns1:p>
            <ns1:r>
              <ns1:rPr lang="zh-CN" sz="850">
                <ns1:solidFill>
                  <ns1:srgbClr val="92400E"/>
                </ns1:solidFill>
                <ns1:latin typeface="Calibri"/>
                <ns1:ea typeface="Noto Sans SC"/>
              </ns1:rPr>
              <ns1:t>3科同质B：C=6/7/8时暾显著（+1.05/+1.40/+1.83 pp, CI下界&gt;0）</ns1:t>
            </ns1:r>
          </ns1:p>
        </ns0:txBody>
      </ns0:sp>
    </ns0:spTree>
  </ns0:cSld>
  <ns2:AlternateContent>
    <ns2:Choice Requires="p14">
      <ns0:transition spd="slow" ns3:dur="2000"/>
    </ns2:Choice>
    <ns2:Fallback>
      <ns0:transition spd="slow"/>
    </ns2:Fallback>
  </ns2:AlternateContent>
</ns0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457200" y="465480"/>
            <a:ext cx="4060507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证据三：5模型方向一致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461880" y="2071440"/>
            <a:ext cx="5477040" cy="2467440"/>
          </a:xfrm>
          <a:custGeom>
            <a:avLst/>
            <a:gdLst/>
            <a:ahLst/>
            <a:rect l="0" t="0" r="r" b="b"/>
            <a:pathLst>
              <a:path w="15214" h="6854">
                <a:moveTo>
                  <a:pt x="0" y="6655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4"/>
                </a:cubicBezTo>
                <a:cubicBezTo>
                  <a:pt x="15067" y="7"/>
                  <a:pt x="15080" y="10"/>
                  <a:pt x="15092" y="15"/>
                </a:cubicBezTo>
                <a:cubicBezTo>
                  <a:pt x="15104" y="20"/>
                  <a:pt x="15115" y="26"/>
                  <a:pt x="15126" y="34"/>
                </a:cubicBezTo>
                <a:cubicBezTo>
                  <a:pt x="15137" y="41"/>
                  <a:pt x="15147" y="49"/>
                  <a:pt x="15156" y="58"/>
                </a:cubicBezTo>
                <a:cubicBezTo>
                  <a:pt x="15165" y="68"/>
                  <a:pt x="15174" y="78"/>
                  <a:pt x="15181" y="88"/>
                </a:cubicBezTo>
                <a:cubicBezTo>
                  <a:pt x="15188" y="99"/>
                  <a:pt x="15194" y="111"/>
                  <a:pt x="15199" y="123"/>
                </a:cubicBezTo>
                <a:cubicBezTo>
                  <a:pt x="15204" y="135"/>
                  <a:pt x="15208" y="147"/>
                  <a:pt x="15210" y="160"/>
                </a:cubicBezTo>
                <a:cubicBezTo>
                  <a:pt x="15213" y="173"/>
                  <a:pt x="15214" y="186"/>
                  <a:pt x="15214" y="199"/>
                </a:cubicBezTo>
                <a:lnTo>
                  <a:pt x="15214" y="6655"/>
                </a:lnTo>
                <a:cubicBezTo>
                  <a:pt x="15214" y="6668"/>
                  <a:pt x="15213" y="6681"/>
                  <a:pt x="15210" y="6694"/>
                </a:cubicBezTo>
                <a:cubicBezTo>
                  <a:pt x="15208" y="6707"/>
                  <a:pt x="15204" y="6719"/>
                  <a:pt x="15199" y="6731"/>
                </a:cubicBezTo>
                <a:cubicBezTo>
                  <a:pt x="15194" y="6743"/>
                  <a:pt x="15188" y="6755"/>
                  <a:pt x="15181" y="6766"/>
                </a:cubicBezTo>
                <a:cubicBezTo>
                  <a:pt x="15174" y="6777"/>
                  <a:pt x="15165" y="6787"/>
                  <a:pt x="15156" y="6796"/>
                </a:cubicBezTo>
                <a:cubicBezTo>
                  <a:pt x="15147" y="6805"/>
                  <a:pt x="15137" y="6813"/>
                  <a:pt x="15126" y="6820"/>
                </a:cubicBezTo>
                <a:cubicBezTo>
                  <a:pt x="15115" y="6828"/>
                  <a:pt x="15104" y="6834"/>
                  <a:pt x="15092" y="6839"/>
                </a:cubicBezTo>
                <a:cubicBezTo>
                  <a:pt x="15080" y="6844"/>
                  <a:pt x="15067" y="6848"/>
                  <a:pt x="15055" y="6850"/>
                </a:cubicBezTo>
                <a:cubicBezTo>
                  <a:pt x="15042" y="6853"/>
                  <a:pt x="15029" y="6854"/>
                  <a:pt x="15016" y="6854"/>
                </a:cubicBezTo>
                <a:lnTo>
                  <a:pt x="198" y="6854"/>
                </a:lnTo>
                <a:cubicBezTo>
                  <a:pt x="185" y="6854"/>
                  <a:pt x="172" y="6853"/>
                  <a:pt x="159" y="6850"/>
                </a:cubicBezTo>
                <a:cubicBezTo>
                  <a:pt x="147" y="6848"/>
                  <a:pt x="134" y="6844"/>
                  <a:pt x="122" y="6839"/>
                </a:cubicBezTo>
                <a:cubicBezTo>
                  <a:pt x="110" y="6834"/>
                  <a:pt x="99" y="6828"/>
                  <a:pt x="88" y="6820"/>
                </a:cubicBezTo>
                <a:cubicBezTo>
                  <a:pt x="77" y="6813"/>
                  <a:pt x="67" y="6805"/>
                  <a:pt x="58" y="6796"/>
                </a:cubicBezTo>
                <a:cubicBezTo>
                  <a:pt x="49" y="6787"/>
                  <a:pt x="40" y="6777"/>
                  <a:pt x="33" y="6766"/>
                </a:cubicBezTo>
                <a:cubicBezTo>
                  <a:pt x="26" y="6755"/>
                  <a:pt x="20" y="6743"/>
                  <a:pt x="15" y="6731"/>
                </a:cubicBezTo>
                <a:cubicBezTo>
                  <a:pt x="10" y="6719"/>
                  <a:pt x="6" y="6707"/>
                  <a:pt x="4" y="6694"/>
                </a:cubicBezTo>
                <a:cubicBezTo>
                  <a:pt x="1" y="6681"/>
                  <a:pt x="0" y="6668"/>
                  <a:pt x="0" y="66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blurRad="76200" dist="50800" dir="5400000" algn="tl" rotWithShape="0">
              <a:prstClr val="black">
                <a:alpha val="100000"/>
              </a:prstClr>
            </a:outerShdw>
          </a:effectLst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461880" y="2071440"/>
            <a:ext cx="5477040" cy="2467440"/>
          </a:xfrm>
          <a:custGeom>
            <a:avLst/>
            <a:gdLst/>
            <a:ahLst/>
            <a:rect l="0" t="0" r="r" b="b"/>
            <a:pathLst>
              <a:path fill="none" w="15214" h="6854">
                <a:moveTo>
                  <a:pt x="0" y="6655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4"/>
                </a:cubicBezTo>
                <a:cubicBezTo>
                  <a:pt x="15067" y="7"/>
                  <a:pt x="15080" y="10"/>
                  <a:pt x="15092" y="15"/>
                </a:cubicBezTo>
                <a:cubicBezTo>
                  <a:pt x="15104" y="20"/>
                  <a:pt x="15115" y="26"/>
                  <a:pt x="15126" y="34"/>
                </a:cubicBezTo>
                <a:cubicBezTo>
                  <a:pt x="15137" y="41"/>
                  <a:pt x="15147" y="49"/>
                  <a:pt x="15156" y="58"/>
                </a:cubicBezTo>
                <a:cubicBezTo>
                  <a:pt x="15165" y="68"/>
                  <a:pt x="15174" y="78"/>
                  <a:pt x="15181" y="88"/>
                </a:cubicBezTo>
                <a:cubicBezTo>
                  <a:pt x="15188" y="99"/>
                  <a:pt x="15194" y="111"/>
                  <a:pt x="15199" y="123"/>
                </a:cubicBezTo>
                <a:cubicBezTo>
                  <a:pt x="15204" y="135"/>
                  <a:pt x="15208" y="147"/>
                  <a:pt x="15210" y="160"/>
                </a:cubicBezTo>
                <a:cubicBezTo>
                  <a:pt x="15213" y="173"/>
                  <a:pt x="15214" y="186"/>
                  <a:pt x="15214" y="199"/>
                </a:cubicBezTo>
                <a:lnTo>
                  <a:pt x="15214" y="6655"/>
                </a:lnTo>
                <a:cubicBezTo>
                  <a:pt x="15214" y="6668"/>
                  <a:pt x="15213" y="6681"/>
                  <a:pt x="15210" y="6694"/>
                </a:cubicBezTo>
                <a:cubicBezTo>
                  <a:pt x="15208" y="6707"/>
                  <a:pt x="15204" y="6719"/>
                  <a:pt x="15199" y="6731"/>
                </a:cubicBezTo>
                <a:cubicBezTo>
                  <a:pt x="15194" y="6743"/>
                  <a:pt x="15188" y="6755"/>
                  <a:pt x="15181" y="6766"/>
                </a:cubicBezTo>
                <a:cubicBezTo>
                  <a:pt x="15174" y="6777"/>
                  <a:pt x="15165" y="6787"/>
                  <a:pt x="15156" y="6796"/>
                </a:cubicBezTo>
                <a:cubicBezTo>
                  <a:pt x="15147" y="6805"/>
                  <a:pt x="15137" y="6813"/>
                  <a:pt x="15126" y="6820"/>
                </a:cubicBezTo>
                <a:cubicBezTo>
                  <a:pt x="15115" y="6828"/>
                  <a:pt x="15104" y="6834"/>
                  <a:pt x="15092" y="6839"/>
                </a:cubicBezTo>
                <a:cubicBezTo>
                  <a:pt x="15080" y="6844"/>
                  <a:pt x="15067" y="6848"/>
                  <a:pt x="15055" y="6850"/>
                </a:cubicBezTo>
                <a:cubicBezTo>
                  <a:pt x="15042" y="6853"/>
                  <a:pt x="15029" y="6854"/>
                  <a:pt x="15016" y="6854"/>
                </a:cubicBezTo>
                <a:lnTo>
                  <a:pt x="198" y="6854"/>
                </a:lnTo>
                <a:cubicBezTo>
                  <a:pt x="185" y="6854"/>
                  <a:pt x="172" y="6853"/>
                  <a:pt x="159" y="6850"/>
                </a:cubicBezTo>
                <a:cubicBezTo>
                  <a:pt x="147" y="6848"/>
                  <a:pt x="134" y="6844"/>
                  <a:pt x="122" y="6839"/>
                </a:cubicBezTo>
                <a:cubicBezTo>
                  <a:pt x="110" y="6834"/>
                  <a:pt x="99" y="6828"/>
                  <a:pt x="88" y="6820"/>
                </a:cubicBezTo>
                <a:cubicBezTo>
                  <a:pt x="77" y="6813"/>
                  <a:pt x="67" y="6805"/>
                  <a:pt x="58" y="6796"/>
                </a:cubicBezTo>
                <a:cubicBezTo>
                  <a:pt x="49" y="6787"/>
                  <a:pt x="40" y="6777"/>
                  <a:pt x="33" y="6766"/>
                </a:cubicBezTo>
                <a:cubicBezTo>
                  <a:pt x="26" y="6755"/>
                  <a:pt x="20" y="6743"/>
                  <a:pt x="15" y="6731"/>
                </a:cubicBezTo>
                <a:cubicBezTo>
                  <a:pt x="10" y="6719"/>
                  <a:pt x="6" y="6707"/>
                  <a:pt x="4" y="6694"/>
                </a:cubicBezTo>
                <a:cubicBezTo>
                  <a:pt x="1" y="6681"/>
                  <a:pt x="0" y="6668"/>
                  <a:pt x="0" y="6655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4295520" y="2628720"/>
            <a:ext cx="1486440" cy="352800"/>
          </a:xfrm>
          <a:custGeom>
            <a:avLst/>
            <a:gdLst/>
            <a:ahLst/>
            <a:rect l="0" t="0" r="r" b="b"/>
            <a:pathLst>
              <a:path w="4129" h="980">
                <a:moveTo>
                  <a:pt x="0" y="874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023" y="0"/>
                </a:lnTo>
                <a:cubicBezTo>
                  <a:pt x="4037" y="0"/>
                  <a:pt x="4050" y="3"/>
                  <a:pt x="4063" y="8"/>
                </a:cubicBezTo>
                <a:cubicBezTo>
                  <a:pt x="4076" y="13"/>
                  <a:pt x="4088" y="21"/>
                  <a:pt x="4098" y="31"/>
                </a:cubicBezTo>
                <a:cubicBezTo>
                  <a:pt x="4108" y="42"/>
                  <a:pt x="4115" y="53"/>
                  <a:pt x="4121" y="66"/>
                </a:cubicBezTo>
                <a:cubicBezTo>
                  <a:pt x="4126" y="79"/>
                  <a:pt x="4129" y="93"/>
                  <a:pt x="4129" y="107"/>
                </a:cubicBezTo>
                <a:lnTo>
                  <a:pt x="4129" y="874"/>
                </a:lnTo>
                <a:cubicBezTo>
                  <a:pt x="4129" y="888"/>
                  <a:pt x="4126" y="902"/>
                  <a:pt x="4121" y="915"/>
                </a:cubicBezTo>
                <a:cubicBezTo>
                  <a:pt x="4115" y="928"/>
                  <a:pt x="4108" y="939"/>
                  <a:pt x="4098" y="949"/>
                </a:cubicBezTo>
                <a:cubicBezTo>
                  <a:pt x="4088" y="959"/>
                  <a:pt x="4076" y="967"/>
                  <a:pt x="4063" y="972"/>
                </a:cubicBezTo>
                <a:cubicBezTo>
                  <a:pt x="4050" y="977"/>
                  <a:pt x="4037" y="980"/>
                  <a:pt x="4023" y="980"/>
                </a:cubicBezTo>
                <a:lnTo>
                  <a:pt x="106" y="980"/>
                </a:lnTo>
                <a:cubicBezTo>
                  <a:pt x="92" y="980"/>
                  <a:pt x="79" y="977"/>
                  <a:pt x="66" y="972"/>
                </a:cubicBezTo>
                <a:cubicBezTo>
                  <a:pt x="53" y="967"/>
                  <a:pt x="41" y="959"/>
                  <a:pt x="31" y="949"/>
                </a:cubicBezTo>
                <a:cubicBezTo>
                  <a:pt x="21" y="939"/>
                  <a:pt x="14" y="928"/>
                  <a:pt x="8" y="915"/>
                </a:cubicBezTo>
                <a:cubicBezTo>
                  <a:pt x="3" y="902"/>
                  <a:pt x="0" y="888"/>
                  <a:pt x="0" y="874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4295520" y="2981160"/>
            <a:ext cx="1486440" cy="352800"/>
          </a:xfrm>
          <a:custGeom>
            <a:avLst/>
            <a:gdLst/>
            <a:ahLst/>
            <a:rect l="0" t="0" r="r" b="b"/>
            <a:pathLst>
              <a:path w="4129" h="980">
                <a:moveTo>
                  <a:pt x="0" y="874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023" y="0"/>
                </a:lnTo>
                <a:cubicBezTo>
                  <a:pt x="4037" y="0"/>
                  <a:pt x="4050" y="3"/>
                  <a:pt x="4063" y="8"/>
                </a:cubicBezTo>
                <a:cubicBezTo>
                  <a:pt x="4076" y="13"/>
                  <a:pt x="4088" y="21"/>
                  <a:pt x="4098" y="31"/>
                </a:cubicBezTo>
                <a:cubicBezTo>
                  <a:pt x="4108" y="42"/>
                  <a:pt x="4115" y="53"/>
                  <a:pt x="4121" y="66"/>
                </a:cubicBezTo>
                <a:cubicBezTo>
                  <a:pt x="4126" y="79"/>
                  <a:pt x="4129" y="93"/>
                  <a:pt x="4129" y="107"/>
                </a:cubicBezTo>
                <a:lnTo>
                  <a:pt x="4129" y="874"/>
                </a:lnTo>
                <a:cubicBezTo>
                  <a:pt x="4129" y="888"/>
                  <a:pt x="4126" y="902"/>
                  <a:pt x="4121" y="915"/>
                </a:cubicBezTo>
                <a:cubicBezTo>
                  <a:pt x="4115" y="928"/>
                  <a:pt x="4108" y="939"/>
                  <a:pt x="4098" y="949"/>
                </a:cubicBezTo>
                <a:cubicBezTo>
                  <a:pt x="4088" y="959"/>
                  <a:pt x="4076" y="966"/>
                  <a:pt x="4063" y="972"/>
                </a:cubicBezTo>
                <a:cubicBezTo>
                  <a:pt x="4050" y="977"/>
                  <a:pt x="4037" y="980"/>
                  <a:pt x="4023" y="980"/>
                </a:cubicBezTo>
                <a:lnTo>
                  <a:pt x="106" y="980"/>
                </a:lnTo>
                <a:cubicBezTo>
                  <a:pt x="92" y="980"/>
                  <a:pt x="79" y="977"/>
                  <a:pt x="66" y="972"/>
                </a:cubicBezTo>
                <a:cubicBezTo>
                  <a:pt x="53" y="966"/>
                  <a:pt x="41" y="959"/>
                  <a:pt x="31" y="949"/>
                </a:cubicBezTo>
                <a:cubicBezTo>
                  <a:pt x="21" y="939"/>
                  <a:pt x="14" y="928"/>
                  <a:pt x="8" y="915"/>
                </a:cubicBezTo>
                <a:cubicBezTo>
                  <a:pt x="3" y="902"/>
                  <a:pt x="0" y="888"/>
                  <a:pt x="0" y="874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4295520" y="3333600"/>
            <a:ext cx="1486440" cy="352800"/>
          </a:xfrm>
          <a:custGeom>
            <a:avLst/>
            <a:gdLst/>
            <a:ahLst/>
            <a:rect l="0" t="0" r="r" b="b"/>
            <a:pathLst>
              <a:path w="4129" h="980">
                <a:moveTo>
                  <a:pt x="0" y="874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023" y="0"/>
                </a:lnTo>
                <a:cubicBezTo>
                  <a:pt x="4037" y="0"/>
                  <a:pt x="4050" y="3"/>
                  <a:pt x="4063" y="8"/>
                </a:cubicBezTo>
                <a:cubicBezTo>
                  <a:pt x="4076" y="13"/>
                  <a:pt x="4088" y="21"/>
                  <a:pt x="4098" y="32"/>
                </a:cubicBezTo>
                <a:cubicBezTo>
                  <a:pt x="4108" y="42"/>
                  <a:pt x="4115" y="53"/>
                  <a:pt x="4121" y="66"/>
                </a:cubicBezTo>
                <a:cubicBezTo>
                  <a:pt x="4126" y="79"/>
                  <a:pt x="4129" y="93"/>
                  <a:pt x="4129" y="107"/>
                </a:cubicBezTo>
                <a:lnTo>
                  <a:pt x="4129" y="874"/>
                </a:lnTo>
                <a:cubicBezTo>
                  <a:pt x="4129" y="888"/>
                  <a:pt x="4126" y="902"/>
                  <a:pt x="4121" y="915"/>
                </a:cubicBezTo>
                <a:cubicBezTo>
                  <a:pt x="4115" y="928"/>
                  <a:pt x="4108" y="939"/>
                  <a:pt x="4098" y="949"/>
                </a:cubicBezTo>
                <a:cubicBezTo>
                  <a:pt x="4088" y="959"/>
                  <a:pt x="4076" y="966"/>
                  <a:pt x="4063" y="972"/>
                </a:cubicBezTo>
                <a:cubicBezTo>
                  <a:pt x="4050" y="977"/>
                  <a:pt x="4037" y="980"/>
                  <a:pt x="4023" y="980"/>
                </a:cubicBezTo>
                <a:lnTo>
                  <a:pt x="106" y="980"/>
                </a:lnTo>
                <a:cubicBezTo>
                  <a:pt x="92" y="980"/>
                  <a:pt x="79" y="977"/>
                  <a:pt x="66" y="972"/>
                </a:cubicBezTo>
                <a:cubicBezTo>
                  <a:pt x="53" y="966"/>
                  <a:pt x="41" y="959"/>
                  <a:pt x="31" y="949"/>
                </a:cubicBezTo>
                <a:cubicBezTo>
                  <a:pt x="21" y="939"/>
                  <a:pt x="14" y="928"/>
                  <a:pt x="8" y="915"/>
                </a:cubicBezTo>
                <a:cubicBezTo>
                  <a:pt x="3" y="902"/>
                  <a:pt x="0" y="888"/>
                  <a:pt x="0" y="874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618840" y="2619360"/>
            <a:ext cx="1772280" cy="9720"/>
          </a:xfrm>
          <a:custGeom>
            <a:avLst/>
            <a:gdLst/>
            <a:ahLst/>
            <a:rect l="0" t="0" r="r" b="b"/>
            <a:pathLst>
              <a:path w="4923" h="27">
                <a:moveTo>
                  <a:pt x="0" y="0"/>
                </a:moveTo>
                <a:lnTo>
                  <a:pt x="4923" y="0"/>
                </a:lnTo>
                <a:lnTo>
                  <a:pt x="49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2390760" y="2619360"/>
            <a:ext cx="800280" cy="9720"/>
          </a:xfrm>
          <a:custGeom>
            <a:avLst/>
            <a:gdLst/>
            <a:ahLst/>
            <a:rect l="0" t="0" r="r" b="b"/>
            <a:pathLst>
              <a:path w="2223" h="27">
                <a:moveTo>
                  <a:pt x="0" y="0"/>
                </a:moveTo>
                <a:lnTo>
                  <a:pt x="2223" y="0"/>
                </a:lnTo>
                <a:lnTo>
                  <a:pt x="22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3190680" y="2619360"/>
            <a:ext cx="1105200" cy="9720"/>
          </a:xfrm>
          <a:custGeom>
            <a:avLst/>
            <a:gdLst/>
            <a:ahLst/>
            <a:rect l="0" t="0" r="r" b="b"/>
            <a:pathLst>
              <a:path w="3070" h="27">
                <a:moveTo>
                  <a:pt x="0" y="0"/>
                </a:moveTo>
                <a:lnTo>
                  <a:pt x="3070" y="0"/>
                </a:lnTo>
                <a:lnTo>
                  <a:pt x="30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4295520" y="2619360"/>
            <a:ext cx="1486440" cy="9720"/>
          </a:xfrm>
          <a:custGeom>
            <a:avLst/>
            <a:gdLst/>
            <a:ahLst/>
            <a:rect l="0" t="0" r="r" b="b"/>
            <a:pathLst>
              <a:path w="4129" h="27">
                <a:moveTo>
                  <a:pt x="0" y="0"/>
                </a:moveTo>
                <a:lnTo>
                  <a:pt x="4129" y="0"/>
                </a:lnTo>
                <a:lnTo>
                  <a:pt x="4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618840" y="2971440"/>
            <a:ext cx="1772280" cy="10440"/>
          </a:xfrm>
          <a:custGeom>
            <a:avLst/>
            <a:gdLst/>
            <a:ahLst/>
            <a:rect l="0" t="0" r="r" b="b"/>
            <a:pathLst>
              <a:path w="4923" h="29">
                <a:moveTo>
                  <a:pt x="0" y="0"/>
                </a:moveTo>
                <a:lnTo>
                  <a:pt x="4923" y="0"/>
                </a:lnTo>
                <a:lnTo>
                  <a:pt x="492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2390760" y="2971440"/>
            <a:ext cx="800280" cy="10440"/>
          </a:xfrm>
          <a:custGeom>
            <a:avLst/>
            <a:gdLst/>
            <a:ahLst/>
            <a:rect l="0" t="0" r="r" b="b"/>
            <a:pathLst>
              <a:path w="2223" h="29">
                <a:moveTo>
                  <a:pt x="0" y="0"/>
                </a:moveTo>
                <a:lnTo>
                  <a:pt x="2223" y="0"/>
                </a:lnTo>
                <a:lnTo>
                  <a:pt x="222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3190680" y="2971440"/>
            <a:ext cx="1105200" cy="10440"/>
          </a:xfrm>
          <a:custGeom>
            <a:avLst/>
            <a:gdLst/>
            <a:ahLst/>
            <a:rect l="0" t="0" r="r" b="b"/>
            <a:pathLst>
              <a:path w="3070" h="29">
                <a:moveTo>
                  <a:pt x="0" y="0"/>
                </a:moveTo>
                <a:lnTo>
                  <a:pt x="3070" y="0"/>
                </a:lnTo>
                <a:lnTo>
                  <a:pt x="307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4295520" y="2971440"/>
            <a:ext cx="1486440" cy="10440"/>
          </a:xfrm>
          <a:custGeom>
            <a:avLst/>
            <a:gdLst/>
            <a:ahLst/>
            <a:rect l="0" t="0" r="r" b="b"/>
            <a:pathLst>
              <a:path w="4129" h="29">
                <a:moveTo>
                  <a:pt x="0" y="0"/>
                </a:moveTo>
                <a:lnTo>
                  <a:pt x="4129" y="0"/>
                </a:lnTo>
                <a:lnTo>
                  <a:pt x="412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618840" y="3323880"/>
            <a:ext cx="1772280" cy="10080"/>
          </a:xfrm>
          <a:custGeom>
            <a:avLst/>
            <a:gdLst/>
            <a:ahLst/>
            <a:rect l="0" t="0" r="r" b="b"/>
            <a:pathLst>
              <a:path w="4923" h="28">
                <a:moveTo>
                  <a:pt x="0" y="0"/>
                </a:moveTo>
                <a:lnTo>
                  <a:pt x="4923" y="0"/>
                </a:lnTo>
                <a:lnTo>
                  <a:pt x="49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2390760" y="3323880"/>
            <a:ext cx="800280" cy="10080"/>
          </a:xfrm>
          <a:custGeom>
            <a:avLst/>
            <a:gdLst/>
            <a:ahLst/>
            <a:rect l="0" t="0" r="r" b="b"/>
            <a:pathLst>
              <a:path w="2223" h="28">
                <a:moveTo>
                  <a:pt x="0" y="0"/>
                </a:moveTo>
                <a:lnTo>
                  <a:pt x="2223" y="0"/>
                </a:lnTo>
                <a:lnTo>
                  <a:pt x="22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3190680" y="3323880"/>
            <a:ext cx="1105200" cy="10080"/>
          </a:xfrm>
          <a:custGeom>
            <a:avLst/>
            <a:gdLst/>
            <a:ahLst/>
            <a:rect l="0" t="0" r="r" b="b"/>
            <a:pathLst>
              <a:path w="3070" h="28">
                <a:moveTo>
                  <a:pt x="0" y="0"/>
                </a:moveTo>
                <a:lnTo>
                  <a:pt x="3070" y="0"/>
                </a:lnTo>
                <a:lnTo>
                  <a:pt x="30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4295520" y="3323880"/>
            <a:ext cx="1486440" cy="10080"/>
          </a:xfrm>
          <a:custGeom>
            <a:avLst/>
            <a:gdLst/>
            <a:ahLst/>
            <a:rect l="0" t="0" r="r" b="b"/>
            <a:pathLst>
              <a:path w="4129" h="28">
                <a:moveTo>
                  <a:pt x="0" y="0"/>
                </a:moveTo>
                <a:lnTo>
                  <a:pt x="4129" y="0"/>
                </a:lnTo>
                <a:lnTo>
                  <a:pt x="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618840" y="3676320"/>
            <a:ext cx="1772280" cy="10080"/>
          </a:xfrm>
          <a:custGeom>
            <a:avLst/>
            <a:gdLst/>
            <a:ahLst/>
            <a:rect l="0" t="0" r="r" b="b"/>
            <a:pathLst>
              <a:path w="4923" h="28">
                <a:moveTo>
                  <a:pt x="0" y="0"/>
                </a:moveTo>
                <a:lnTo>
                  <a:pt x="4923" y="0"/>
                </a:lnTo>
                <a:lnTo>
                  <a:pt x="49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2390760" y="3676320"/>
            <a:ext cx="800280" cy="10080"/>
          </a:xfrm>
          <a:custGeom>
            <a:avLst/>
            <a:gdLst/>
            <a:ahLst/>
            <a:rect l="0" t="0" r="r" b="b"/>
            <a:pathLst>
              <a:path w="2223" h="28">
                <a:moveTo>
                  <a:pt x="0" y="0"/>
                </a:moveTo>
                <a:lnTo>
                  <a:pt x="2223" y="0"/>
                </a:lnTo>
                <a:lnTo>
                  <a:pt x="22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3190680" y="3676320"/>
            <a:ext cx="1105200" cy="10080"/>
          </a:xfrm>
          <a:custGeom>
            <a:avLst/>
            <a:gdLst/>
            <a:ahLst/>
            <a:rect l="0" t="0" r="r" b="b"/>
            <a:pathLst>
              <a:path w="3070" h="28">
                <a:moveTo>
                  <a:pt x="0" y="0"/>
                </a:moveTo>
                <a:lnTo>
                  <a:pt x="3070" y="0"/>
                </a:lnTo>
                <a:lnTo>
                  <a:pt x="30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4295520" y="3676320"/>
            <a:ext cx="1486440" cy="10080"/>
          </a:xfrm>
          <a:custGeom>
            <a:avLst/>
            <a:gdLst/>
            <a:ahLst/>
            <a:rect l="0" t="0" r="r" b="b"/>
            <a:pathLst>
              <a:path w="4129" h="28">
                <a:moveTo>
                  <a:pt x="0" y="0"/>
                </a:moveTo>
                <a:lnTo>
                  <a:pt x="4129" y="0"/>
                </a:lnTo>
                <a:lnTo>
                  <a:pt x="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618840" y="4028760"/>
            <a:ext cx="1772280" cy="10080"/>
          </a:xfrm>
          <a:custGeom>
            <a:avLst/>
            <a:gdLst/>
            <a:ahLst/>
            <a:rect l="0" t="0" r="r" b="b"/>
            <a:pathLst>
              <a:path w="4923" h="28">
                <a:moveTo>
                  <a:pt x="0" y="0"/>
                </a:moveTo>
                <a:lnTo>
                  <a:pt x="4923" y="0"/>
                </a:lnTo>
                <a:lnTo>
                  <a:pt x="49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2390760" y="4028760"/>
            <a:ext cx="800280" cy="10080"/>
          </a:xfrm>
          <a:custGeom>
            <a:avLst/>
            <a:gdLst/>
            <a:ahLst/>
            <a:rect l="0" t="0" r="r" b="b"/>
            <a:pathLst>
              <a:path w="2223" h="28">
                <a:moveTo>
                  <a:pt x="0" y="0"/>
                </a:moveTo>
                <a:lnTo>
                  <a:pt x="2223" y="0"/>
                </a:lnTo>
                <a:lnTo>
                  <a:pt x="22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3190680" y="4028760"/>
            <a:ext cx="1105200" cy="10080"/>
          </a:xfrm>
          <a:custGeom>
            <a:avLst/>
            <a:gdLst/>
            <a:ahLst/>
            <a:rect l="0" t="0" r="r" b="b"/>
            <a:pathLst>
              <a:path w="3070" h="28">
                <a:moveTo>
                  <a:pt x="0" y="0"/>
                </a:moveTo>
                <a:lnTo>
                  <a:pt x="3070" y="0"/>
                </a:lnTo>
                <a:lnTo>
                  <a:pt x="30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4295520" y="4028760"/>
            <a:ext cx="1486440" cy="10080"/>
          </a:xfrm>
          <a:custGeom>
            <a:avLst/>
            <a:gdLst/>
            <a:ahLst/>
            <a:rect l="0" t="0" r="r" b="b"/>
            <a:pathLst>
              <a:path w="4129" h="28">
                <a:moveTo>
                  <a:pt x="0" y="0"/>
                </a:moveTo>
                <a:lnTo>
                  <a:pt x="4129" y="0"/>
                </a:lnTo>
                <a:lnTo>
                  <a:pt x="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 txBox="1"/>
          <p:nvPr/>
        </p:nvSpPr>
        <p:spPr>
          <a:xfrm>
            <a:off x="457200" y="1533600"/>
            <a:ext cx="2184271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跨模型EXP-B结果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 txBox="1"/>
          <p:nvPr/>
        </p:nvSpPr>
        <p:spPr>
          <a:xfrm>
            <a:off x="695160" y="2334960"/>
            <a:ext cx="36880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模型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2469240" y="2338560"/>
            <a:ext cx="4572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top-k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3266640" y="2338560"/>
            <a:ext cx="377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C&gt;k?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4370400" y="2334960"/>
            <a:ext cx="366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>
                <a:solidFill>
                  <a:srgbClr val="4b5563"/>
                </a:solidFill>
                <a:effectLst/>
                <a:uFillTx/>
                <a:latin typeface="WenQuanYiMicroHei"/>
                <a:ea typeface="WenQuanYiMicroHei"/>
              </a:rPr>
              <a:t>漂移分量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 txBox="1"/>
          <p:nvPr/>
        </p:nvSpPr>
        <p:spPr>
          <a:xfrm>
            <a:off x="4979880" y="2338560"/>
            <a:ext cx="153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 txBox="1"/>
          <p:nvPr/>
        </p:nvSpPr>
        <p:spPr>
          <a:xfrm>
            <a:off x="695160" y="2727360"/>
            <a:ext cx="1010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Llama4-Maverick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 txBox="1"/>
          <p:nvPr/>
        </p:nvSpPr>
        <p:spPr>
          <a:xfrm>
            <a:off x="2469240" y="272736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1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 txBox="1"/>
          <p:nvPr/>
        </p:nvSpPr>
        <p:spPr>
          <a:xfrm>
            <a:off x="3266640" y="272412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22c55e"/>
                </a:solidFill>
                <a:effectLst/>
                <a:uFillTx/>
                <a:latin typeface="NotoColorEmoji"/>
                <a:ea typeface="NotoColorEmoji"/>
              </a:rPr>
              <a:t>✅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 txBox="1"/>
          <p:nvPr/>
        </p:nvSpPr>
        <p:spPr>
          <a:xfrm>
            <a:off x="4370400" y="2724120"/>
            <a:ext cx="7196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+7.77 pp 稳健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 txBox="1"/>
          <p:nvPr/>
        </p:nvSpPr>
        <p:spPr>
          <a:xfrm>
            <a:off x="695160" y="3079800"/>
            <a:ext cx="464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Kimi-K2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2469240" y="307980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 txBox="1"/>
          <p:nvPr/>
        </p:nvSpPr>
        <p:spPr>
          <a:xfrm>
            <a:off x="3266640" y="307656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22c55e"/>
                </a:solidFill>
                <a:effectLst/>
                <a:uFillTx/>
                <a:latin typeface="NotoColorEmoji"/>
                <a:ea typeface="NotoColorEmoji"/>
              </a:rPr>
              <a:t>✅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4370400" y="3079800"/>
            <a:ext cx="520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+2.18 pp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 txBox="1"/>
          <p:nvPr/>
        </p:nvSpPr>
        <p:spPr>
          <a:xfrm>
            <a:off x="695160" y="3432240"/>
            <a:ext cx="833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DeepSeek-R1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 txBox="1"/>
          <p:nvPr/>
        </p:nvSpPr>
        <p:spPr>
          <a:xfrm>
            <a:off x="2469240" y="343224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3266640" y="342900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22c55e"/>
                </a:solidFill>
                <a:effectLst/>
                <a:uFillTx/>
                <a:latin typeface="NotoColorEmoji"/>
                <a:ea typeface="NotoColorEmoji"/>
              </a:rPr>
              <a:t>✅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4370400" y="3432240"/>
            <a:ext cx="520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+1.27 pp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 txBox="1"/>
          <p:nvPr/>
        </p:nvSpPr>
        <p:spPr>
          <a:xfrm>
            <a:off x="695160" y="3784680"/>
            <a:ext cx="848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Qwen1.5-MoE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 txBox="1"/>
          <p:nvPr/>
        </p:nvSpPr>
        <p:spPr>
          <a:xfrm>
            <a:off x="2469240" y="378468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4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 txBox="1"/>
          <p:nvPr/>
        </p:nvSpPr>
        <p:spPr>
          <a:xfrm>
            <a:off x="3266640" y="3781440"/>
            <a:ext cx="546067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ef4444"/>
                </a:solidFill>
                <a:effectLst/>
                <a:uFillTx/>
                <a:latin typeface="NotoColorEmoji"/>
                <a:ea typeface="NotoColorEmoji"/>
              </a:rPr>
              <a:t>❌forced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 txBox="1"/>
          <p:nvPr/>
        </p:nvSpPr>
        <p:spPr>
          <a:xfrm>
            <a:off x="4370400" y="3784680"/>
            <a:ext cx="183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≈ 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 txBox="1"/>
          <p:nvPr/>
        </p:nvSpPr>
        <p:spPr>
          <a:xfrm>
            <a:off x="695160" y="4137120"/>
            <a:ext cx="774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Qwen3-235B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 txBox="1"/>
          <p:nvPr/>
        </p:nvSpPr>
        <p:spPr>
          <a:xfrm>
            <a:off x="2469240" y="413712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 txBox="1"/>
          <p:nvPr/>
        </p:nvSpPr>
        <p:spPr>
          <a:xfrm>
            <a:off x="3266640" y="4133880"/>
            <a:ext cx="546067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ef4444"/>
                </a:solidFill>
                <a:effectLst/>
                <a:uFillTx/>
                <a:latin typeface="NotoColorEmoji"/>
                <a:ea typeface="NotoColorEmoji"/>
              </a:rPr>
              <a:t>❌forced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 txBox="1"/>
          <p:nvPr/>
        </p:nvSpPr>
        <p:spPr>
          <a:xfrm>
            <a:off x="4370400" y="4137120"/>
            <a:ext cx="183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≈ 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 txBox="1"/>
          <p:nvPr/>
        </p:nvSpPr>
        <p:spPr>
          <a:xfrm>
            <a:off x="457200" y="4819680"/>
            <a:ext cx="1290828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核心规律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 txBox="1"/>
          <p:nvPr/>
        </p:nvSpPr>
        <p:spPr>
          <a:xfrm>
            <a:off x="457200" y="5383080"/>
            <a:ext cx="5186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C &gt; top-k（跨步保留）时D&gt;0且方向一致；C ≤ top-k（forced，每步全换）时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 txBox="1"/>
          <p:nvPr/>
        </p:nvSpPr>
        <p:spPr>
          <a:xfrm>
            <a:off x="457200" y="5630760"/>
            <a:ext cx="110413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D≈0——容量伪影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457200" y="6039000"/>
            <a:ext cx="1036129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k=4补点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457200" y="6602400"/>
            <a:ext cx="4136517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CI下界+0.90→+7.31 pp（随C单调），k∈{1,4,8}三点曲线闭合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6405480" y="1490400"/>
            <a:ext cx="5324760" cy="4905720"/>
          </a:xfrm>
          <a:custGeom>
            <a:avLst/>
            <a:gdLst/>
            <a:ahLst/>
            <a:rect l="0" t="0" r="r" b="b"/>
            <a:pathLst>
              <a:path w="14791" h="13627">
                <a:moveTo>
                  <a:pt x="0" y="13323"/>
                </a:moveTo>
                <a:lnTo>
                  <a:pt x="0" y="304"/>
                </a:lnTo>
                <a:cubicBezTo>
                  <a:pt x="0" y="285"/>
                  <a:pt x="2" y="265"/>
                  <a:pt x="6" y="245"/>
                </a:cubicBezTo>
                <a:cubicBezTo>
                  <a:pt x="9" y="226"/>
                  <a:pt x="15" y="207"/>
                  <a:pt x="23" y="188"/>
                </a:cubicBezTo>
                <a:cubicBezTo>
                  <a:pt x="31" y="170"/>
                  <a:pt x="40" y="152"/>
                  <a:pt x="51" y="135"/>
                </a:cubicBezTo>
                <a:cubicBezTo>
                  <a:pt x="62" y="119"/>
                  <a:pt x="75" y="103"/>
                  <a:pt x="89" y="89"/>
                </a:cubicBezTo>
                <a:cubicBezTo>
                  <a:pt x="103" y="75"/>
                  <a:pt x="118" y="63"/>
                  <a:pt x="135" y="52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14487" y="0"/>
                </a:lnTo>
                <a:cubicBezTo>
                  <a:pt x="14507" y="0"/>
                  <a:pt x="14526" y="2"/>
                  <a:pt x="14546" y="6"/>
                </a:cubicBezTo>
                <a:cubicBezTo>
                  <a:pt x="14566" y="10"/>
                  <a:pt x="14585" y="16"/>
                  <a:pt x="14603" y="23"/>
                </a:cubicBezTo>
                <a:cubicBezTo>
                  <a:pt x="14622" y="31"/>
                  <a:pt x="14639" y="40"/>
                  <a:pt x="14656" y="52"/>
                </a:cubicBezTo>
                <a:cubicBezTo>
                  <a:pt x="14672" y="63"/>
                  <a:pt x="14688" y="75"/>
                  <a:pt x="14702" y="89"/>
                </a:cubicBezTo>
                <a:cubicBezTo>
                  <a:pt x="14716" y="103"/>
                  <a:pt x="14729" y="119"/>
                  <a:pt x="14740" y="135"/>
                </a:cubicBezTo>
                <a:cubicBezTo>
                  <a:pt x="14751" y="152"/>
                  <a:pt x="14760" y="170"/>
                  <a:pt x="14768" y="188"/>
                </a:cubicBezTo>
                <a:cubicBezTo>
                  <a:pt x="14775" y="207"/>
                  <a:pt x="14781" y="226"/>
                  <a:pt x="14785" y="245"/>
                </a:cubicBezTo>
                <a:cubicBezTo>
                  <a:pt x="14789" y="265"/>
                  <a:pt x="14791" y="285"/>
                  <a:pt x="14791" y="304"/>
                </a:cubicBezTo>
                <a:lnTo>
                  <a:pt x="14791" y="13323"/>
                </a:lnTo>
                <a:cubicBezTo>
                  <a:pt x="14791" y="13343"/>
                  <a:pt x="14789" y="13363"/>
                  <a:pt x="14785" y="13382"/>
                </a:cubicBezTo>
                <a:cubicBezTo>
                  <a:pt x="14781" y="13402"/>
                  <a:pt x="14775" y="13421"/>
                  <a:pt x="14768" y="13439"/>
                </a:cubicBezTo>
                <a:cubicBezTo>
                  <a:pt x="14760" y="13458"/>
                  <a:pt x="14751" y="13475"/>
                  <a:pt x="14740" y="13492"/>
                </a:cubicBezTo>
                <a:cubicBezTo>
                  <a:pt x="14729" y="13509"/>
                  <a:pt x="14716" y="13524"/>
                  <a:pt x="14702" y="13538"/>
                </a:cubicBezTo>
                <a:cubicBezTo>
                  <a:pt x="14688" y="13552"/>
                  <a:pt x="14672" y="13565"/>
                  <a:pt x="14656" y="13576"/>
                </a:cubicBezTo>
                <a:cubicBezTo>
                  <a:pt x="14639" y="13587"/>
                  <a:pt x="14622" y="13596"/>
                  <a:pt x="14603" y="13604"/>
                </a:cubicBezTo>
                <a:cubicBezTo>
                  <a:pt x="14585" y="13612"/>
                  <a:pt x="14566" y="13618"/>
                  <a:pt x="14546" y="13621"/>
                </a:cubicBezTo>
                <a:cubicBezTo>
                  <a:pt x="14526" y="13625"/>
                  <a:pt x="14507" y="13627"/>
                  <a:pt x="14487" y="13627"/>
                </a:cubicBezTo>
                <a:lnTo>
                  <a:pt x="304" y="13627"/>
                </a:lnTo>
                <a:cubicBezTo>
                  <a:pt x="284" y="13627"/>
                  <a:pt x="264" y="13625"/>
                  <a:pt x="245" y="13621"/>
                </a:cubicBezTo>
                <a:cubicBezTo>
                  <a:pt x="225" y="13618"/>
                  <a:pt x="206" y="13612"/>
                  <a:pt x="188" y="13604"/>
                </a:cubicBezTo>
                <a:cubicBezTo>
                  <a:pt x="169" y="13596"/>
                  <a:pt x="152" y="13587"/>
                  <a:pt x="135" y="13576"/>
                </a:cubicBezTo>
                <a:cubicBezTo>
                  <a:pt x="118" y="13565"/>
                  <a:pt x="103" y="13552"/>
                  <a:pt x="89" y="13538"/>
                </a:cubicBezTo>
                <a:cubicBezTo>
                  <a:pt x="75" y="13524"/>
                  <a:pt x="62" y="13509"/>
                  <a:pt x="51" y="13492"/>
                </a:cubicBezTo>
                <a:cubicBezTo>
                  <a:pt x="40" y="13475"/>
                  <a:pt x="31" y="13458"/>
                  <a:pt x="23" y="13439"/>
                </a:cubicBezTo>
                <a:cubicBezTo>
                  <a:pt x="15" y="13421"/>
                  <a:pt x="9" y="13402"/>
                  <a:pt x="6" y="13382"/>
                </a:cubicBezTo>
                <a:cubicBezTo>
                  <a:pt x="2" y="13363"/>
                  <a:pt x="0" y="13343"/>
                  <a:pt x="0" y="133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blurRad="190500" dist="127000" dir="5400000" algn="tl" rotWithShape="0">
              <a:prstClr val="black">
                <a:alpha val="100000"/>
              </a:prstClr>
            </a:outerShdw>
          </a:effectLst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6405480" y="1490400"/>
            <a:ext cx="5324760" cy="4905720"/>
          </a:xfrm>
          <a:custGeom>
            <a:avLst/>
            <a:gdLst/>
            <a:ahLst/>
            <a:rect l="0" t="0" r="r" b="b"/>
            <a:pathLst>
              <a:path fill="none" w="14791" h="13627">
                <a:moveTo>
                  <a:pt x="0" y="13323"/>
                </a:moveTo>
                <a:lnTo>
                  <a:pt x="0" y="304"/>
                </a:lnTo>
                <a:cubicBezTo>
                  <a:pt x="0" y="285"/>
                  <a:pt x="2" y="265"/>
                  <a:pt x="6" y="245"/>
                </a:cubicBezTo>
                <a:cubicBezTo>
                  <a:pt x="9" y="226"/>
                  <a:pt x="15" y="207"/>
                  <a:pt x="23" y="188"/>
                </a:cubicBezTo>
                <a:cubicBezTo>
                  <a:pt x="31" y="170"/>
                  <a:pt x="40" y="152"/>
                  <a:pt x="51" y="135"/>
                </a:cubicBezTo>
                <a:cubicBezTo>
                  <a:pt x="62" y="119"/>
                  <a:pt x="75" y="103"/>
                  <a:pt x="89" y="89"/>
                </a:cubicBezTo>
                <a:cubicBezTo>
                  <a:pt x="103" y="75"/>
                  <a:pt x="118" y="63"/>
                  <a:pt x="135" y="52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14487" y="0"/>
                </a:lnTo>
                <a:cubicBezTo>
                  <a:pt x="14507" y="0"/>
                  <a:pt x="14526" y="2"/>
                  <a:pt x="14546" y="6"/>
                </a:cubicBezTo>
                <a:cubicBezTo>
                  <a:pt x="14566" y="10"/>
                  <a:pt x="14585" y="16"/>
                  <a:pt x="14603" y="23"/>
                </a:cubicBezTo>
                <a:cubicBezTo>
                  <a:pt x="14622" y="31"/>
                  <a:pt x="14639" y="40"/>
                  <a:pt x="14656" y="52"/>
                </a:cubicBezTo>
                <a:cubicBezTo>
                  <a:pt x="14672" y="63"/>
                  <a:pt x="14688" y="75"/>
                  <a:pt x="14702" y="89"/>
                </a:cubicBezTo>
                <a:cubicBezTo>
                  <a:pt x="14716" y="103"/>
                  <a:pt x="14729" y="119"/>
                  <a:pt x="14740" y="135"/>
                </a:cubicBezTo>
                <a:cubicBezTo>
                  <a:pt x="14751" y="152"/>
                  <a:pt x="14760" y="170"/>
                  <a:pt x="14768" y="188"/>
                </a:cubicBezTo>
                <a:cubicBezTo>
                  <a:pt x="14775" y="207"/>
                  <a:pt x="14781" y="226"/>
                  <a:pt x="14785" y="245"/>
                </a:cubicBezTo>
                <a:cubicBezTo>
                  <a:pt x="14789" y="265"/>
                  <a:pt x="14791" y="285"/>
                  <a:pt x="14791" y="304"/>
                </a:cubicBezTo>
                <a:lnTo>
                  <a:pt x="14791" y="13323"/>
                </a:lnTo>
                <a:cubicBezTo>
                  <a:pt x="14791" y="13343"/>
                  <a:pt x="14789" y="13363"/>
                  <a:pt x="14785" y="13382"/>
                </a:cubicBezTo>
                <a:cubicBezTo>
                  <a:pt x="14781" y="13402"/>
                  <a:pt x="14775" y="13421"/>
                  <a:pt x="14768" y="13439"/>
                </a:cubicBezTo>
                <a:cubicBezTo>
                  <a:pt x="14760" y="13458"/>
                  <a:pt x="14751" y="13475"/>
                  <a:pt x="14740" y="13492"/>
                </a:cubicBezTo>
                <a:cubicBezTo>
                  <a:pt x="14729" y="13509"/>
                  <a:pt x="14716" y="13524"/>
                  <a:pt x="14702" y="13538"/>
                </a:cubicBezTo>
                <a:cubicBezTo>
                  <a:pt x="14688" y="13552"/>
                  <a:pt x="14672" y="13565"/>
                  <a:pt x="14656" y="13576"/>
                </a:cubicBezTo>
                <a:cubicBezTo>
                  <a:pt x="14639" y="13587"/>
                  <a:pt x="14622" y="13596"/>
                  <a:pt x="14603" y="13604"/>
                </a:cubicBezTo>
                <a:cubicBezTo>
                  <a:pt x="14585" y="13612"/>
                  <a:pt x="14566" y="13618"/>
                  <a:pt x="14546" y="13621"/>
                </a:cubicBezTo>
                <a:cubicBezTo>
                  <a:pt x="14526" y="13625"/>
                  <a:pt x="14507" y="13627"/>
                  <a:pt x="14487" y="13627"/>
                </a:cubicBezTo>
                <a:lnTo>
                  <a:pt x="304" y="13627"/>
                </a:lnTo>
                <a:cubicBezTo>
                  <a:pt x="284" y="13627"/>
                  <a:pt x="264" y="13625"/>
                  <a:pt x="245" y="13621"/>
                </a:cubicBezTo>
                <a:cubicBezTo>
                  <a:pt x="225" y="13618"/>
                  <a:pt x="206" y="13612"/>
                  <a:pt x="188" y="13604"/>
                </a:cubicBezTo>
                <a:cubicBezTo>
                  <a:pt x="169" y="13596"/>
                  <a:pt x="152" y="13587"/>
                  <a:pt x="135" y="13576"/>
                </a:cubicBezTo>
                <a:cubicBezTo>
                  <a:pt x="118" y="13565"/>
                  <a:pt x="103" y="13552"/>
                  <a:pt x="89" y="13538"/>
                </a:cubicBezTo>
                <a:cubicBezTo>
                  <a:pt x="75" y="13524"/>
                  <a:pt x="62" y="13509"/>
                  <a:pt x="51" y="13492"/>
                </a:cubicBezTo>
                <a:cubicBezTo>
                  <a:pt x="40" y="13475"/>
                  <a:pt x="31" y="13458"/>
                  <a:pt x="23" y="13439"/>
                </a:cubicBezTo>
                <a:cubicBezTo>
                  <a:pt x="15" y="13421"/>
                  <a:pt x="9" y="13402"/>
                  <a:pt x="6" y="13382"/>
                </a:cubicBezTo>
                <a:cubicBezTo>
                  <a:pt x="2" y="13363"/>
                  <a:pt x="0" y="13343"/>
                  <a:pt x="0" y="13323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 txBox="1"/>
          <p:nvPr/>
        </p:nvSpPr>
        <p:spPr>
          <a:xfrm>
            <a:off x="7738920" y="6332040"/>
            <a:ext cx="2760203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82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阴影：95% bootstrap CI；红色带：forced区(C≤top-k=4)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6" name="" descr=""/>
          <p:cNvPicPr/>
          <p:nvPr/>
        </p:nvPicPr>
        <p:blipFill>
          <a:blip r:embed="rId1">
            <a:alphaModFix amt="50000"/>
          </a:blip>
          <a:stretch/>
        </p:blipFill>
        <p:spPr>
          <a:xfrm>
            <a:off x="6524640" y="1609560"/>
            <a:ext cx="5086080" cy="4667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7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1" name="" descr=""/>
          <p:cNvPicPr/>
          <p:nvPr/>
        </p:nvPicPr>
        <p:blipFill>
          <a:blip r:embed="rId2"/>
          <a:stretch/>
        </p:blipFill>
        <p:spPr>
          <a:xfrm>
            <a:off x="8227440" y="2893320"/>
            <a:ext cx="3964320" cy="396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2" name=""/>
          <p:cNvSpPr/>
          <p:nvPr/>
        </p:nvSpPr>
        <p:spPr>
          <a:xfrm>
            <a:off x="0" y="0"/>
            <a:ext cx="1886040" cy="1886040"/>
          </a:xfrm>
          <a:custGeom>
            <a:avLst/>
            <a:gdLst/>
            <a:ahLst/>
            <a:rect l="0" t="0" r="r" b="b"/>
            <a:pathLst>
              <a:path fill="none" w="5239" h="5239">
                <a:moveTo>
                  <a:pt x="4809" y="0"/>
                </a:moveTo>
                <a:cubicBezTo>
                  <a:pt x="4813" y="7"/>
                  <a:pt x="4817" y="14"/>
                  <a:pt x="4821" y="22"/>
                </a:cubicBezTo>
                <a:cubicBezTo>
                  <a:pt x="4848" y="73"/>
                  <a:pt x="4874" y="125"/>
                  <a:pt x="4899" y="177"/>
                </a:cubicBezTo>
                <a:cubicBezTo>
                  <a:pt x="4924" y="229"/>
                  <a:pt x="4947" y="282"/>
                  <a:pt x="4969" y="336"/>
                </a:cubicBezTo>
                <a:cubicBezTo>
                  <a:pt x="4992" y="390"/>
                  <a:pt x="5012" y="444"/>
                  <a:pt x="5032" y="498"/>
                </a:cubicBezTo>
                <a:cubicBezTo>
                  <a:pt x="5052" y="553"/>
                  <a:pt x="5070" y="608"/>
                  <a:pt x="5087" y="664"/>
                </a:cubicBezTo>
                <a:cubicBezTo>
                  <a:pt x="5103" y="719"/>
                  <a:pt x="5119" y="775"/>
                  <a:pt x="5133" y="831"/>
                </a:cubicBezTo>
                <a:cubicBezTo>
                  <a:pt x="5147" y="888"/>
                  <a:pt x="5160" y="944"/>
                  <a:pt x="5171" y="1001"/>
                </a:cubicBezTo>
                <a:cubicBezTo>
                  <a:pt x="5182" y="1058"/>
                  <a:pt x="5192" y="1115"/>
                  <a:pt x="5201" y="1173"/>
                </a:cubicBezTo>
                <a:cubicBezTo>
                  <a:pt x="5209" y="1230"/>
                  <a:pt x="5216" y="1288"/>
                  <a:pt x="5222" y="1345"/>
                </a:cubicBezTo>
                <a:cubicBezTo>
                  <a:pt x="5228" y="1403"/>
                  <a:pt x="5232" y="1461"/>
                  <a:pt x="5235" y="1519"/>
                </a:cubicBezTo>
                <a:cubicBezTo>
                  <a:pt x="5238" y="1577"/>
                  <a:pt x="5239" y="1635"/>
                  <a:pt x="5239" y="1693"/>
                </a:cubicBezTo>
                <a:cubicBezTo>
                  <a:pt x="5239" y="1751"/>
                  <a:pt x="5238" y="1809"/>
                  <a:pt x="5235" y="1867"/>
                </a:cubicBezTo>
                <a:cubicBezTo>
                  <a:pt x="5232" y="1925"/>
                  <a:pt x="5228" y="1983"/>
                  <a:pt x="5222" y="2040"/>
                </a:cubicBezTo>
                <a:cubicBezTo>
                  <a:pt x="5216" y="2098"/>
                  <a:pt x="5209" y="2156"/>
                  <a:pt x="5201" y="2213"/>
                </a:cubicBezTo>
                <a:cubicBezTo>
                  <a:pt x="5192" y="2270"/>
                  <a:pt x="5182" y="2328"/>
                  <a:pt x="5171" y="2385"/>
                </a:cubicBezTo>
                <a:cubicBezTo>
                  <a:pt x="5160" y="2441"/>
                  <a:pt x="5147" y="2498"/>
                  <a:pt x="5133" y="2554"/>
                </a:cubicBezTo>
                <a:cubicBezTo>
                  <a:pt x="5119" y="2611"/>
                  <a:pt x="5103" y="2667"/>
                  <a:pt x="5087" y="2723"/>
                </a:cubicBezTo>
                <a:cubicBezTo>
                  <a:pt x="5070" y="2779"/>
                  <a:pt x="5052" y="2834"/>
                  <a:pt x="5032" y="2888"/>
                </a:cubicBezTo>
                <a:cubicBezTo>
                  <a:pt x="5012" y="2943"/>
                  <a:pt x="4992" y="2997"/>
                  <a:pt x="4969" y="3051"/>
                </a:cubicBezTo>
                <a:cubicBezTo>
                  <a:pt x="4947" y="3104"/>
                  <a:pt x="4924" y="3157"/>
                  <a:pt x="4899" y="3210"/>
                </a:cubicBezTo>
                <a:cubicBezTo>
                  <a:pt x="4874" y="3262"/>
                  <a:pt x="4848" y="3314"/>
                  <a:pt x="4821" y="3365"/>
                </a:cubicBezTo>
                <a:cubicBezTo>
                  <a:pt x="4793" y="3416"/>
                  <a:pt x="4765" y="3467"/>
                  <a:pt x="4735" y="3517"/>
                </a:cubicBezTo>
                <a:cubicBezTo>
                  <a:pt x="4705" y="3566"/>
                  <a:pt x="4674" y="3615"/>
                  <a:pt x="4642" y="3664"/>
                </a:cubicBezTo>
                <a:cubicBezTo>
                  <a:pt x="4610" y="3712"/>
                  <a:pt x="4576" y="3759"/>
                  <a:pt x="4542" y="3806"/>
                </a:cubicBezTo>
                <a:cubicBezTo>
                  <a:pt x="4507" y="3852"/>
                  <a:pt x="4471" y="3898"/>
                  <a:pt x="4434" y="3943"/>
                </a:cubicBezTo>
                <a:cubicBezTo>
                  <a:pt x="4398" y="3988"/>
                  <a:pt x="4360" y="4032"/>
                  <a:pt x="4321" y="4075"/>
                </a:cubicBezTo>
                <a:cubicBezTo>
                  <a:pt x="4282" y="4118"/>
                  <a:pt x="4242" y="4160"/>
                  <a:pt x="4201" y="4201"/>
                </a:cubicBezTo>
                <a:cubicBezTo>
                  <a:pt x="4160" y="4242"/>
                  <a:pt x="4118" y="4282"/>
                  <a:pt x="4075" y="4321"/>
                </a:cubicBezTo>
                <a:cubicBezTo>
                  <a:pt x="4032" y="4360"/>
                  <a:pt x="3988" y="4398"/>
                  <a:pt x="3943" y="4434"/>
                </a:cubicBezTo>
                <a:cubicBezTo>
                  <a:pt x="3898" y="4471"/>
                  <a:pt x="3852" y="4507"/>
                  <a:pt x="3806" y="4542"/>
                </a:cubicBezTo>
                <a:cubicBezTo>
                  <a:pt x="3759" y="4576"/>
                  <a:pt x="3712" y="4610"/>
                  <a:pt x="3664" y="4642"/>
                </a:cubicBezTo>
                <a:cubicBezTo>
                  <a:pt x="3615" y="4674"/>
                  <a:pt x="3566" y="4705"/>
                  <a:pt x="3517" y="4735"/>
                </a:cubicBezTo>
                <a:cubicBezTo>
                  <a:pt x="3467" y="4765"/>
                  <a:pt x="3416" y="4793"/>
                  <a:pt x="3365" y="4821"/>
                </a:cubicBezTo>
                <a:cubicBezTo>
                  <a:pt x="3314" y="4848"/>
                  <a:pt x="3262" y="4874"/>
                  <a:pt x="3210" y="4899"/>
                </a:cubicBezTo>
                <a:cubicBezTo>
                  <a:pt x="3157" y="4924"/>
                  <a:pt x="3104" y="4947"/>
                  <a:pt x="3051" y="4969"/>
                </a:cubicBezTo>
                <a:cubicBezTo>
                  <a:pt x="2997" y="4992"/>
                  <a:pt x="2943" y="5012"/>
                  <a:pt x="2888" y="5032"/>
                </a:cubicBezTo>
                <a:cubicBezTo>
                  <a:pt x="2834" y="5052"/>
                  <a:pt x="2779" y="5070"/>
                  <a:pt x="2723" y="5087"/>
                </a:cubicBezTo>
                <a:cubicBezTo>
                  <a:pt x="2667" y="5103"/>
                  <a:pt x="2611" y="5119"/>
                  <a:pt x="2554" y="5133"/>
                </a:cubicBezTo>
                <a:cubicBezTo>
                  <a:pt x="2498" y="5147"/>
                  <a:pt x="2441" y="5160"/>
                  <a:pt x="2385" y="5171"/>
                </a:cubicBezTo>
                <a:cubicBezTo>
                  <a:pt x="2328" y="5182"/>
                  <a:pt x="2270" y="5192"/>
                  <a:pt x="2213" y="5201"/>
                </a:cubicBezTo>
                <a:cubicBezTo>
                  <a:pt x="2156" y="5209"/>
                  <a:pt x="2098" y="5216"/>
                  <a:pt x="2040" y="5222"/>
                </a:cubicBezTo>
                <a:cubicBezTo>
                  <a:pt x="1983" y="5228"/>
                  <a:pt x="1925" y="5232"/>
                  <a:pt x="1867" y="5235"/>
                </a:cubicBezTo>
                <a:cubicBezTo>
                  <a:pt x="1809" y="5238"/>
                  <a:pt x="1751" y="5239"/>
                  <a:pt x="1693" y="5239"/>
                </a:cubicBezTo>
                <a:cubicBezTo>
                  <a:pt x="1635" y="5239"/>
                  <a:pt x="1577" y="5238"/>
                  <a:pt x="1519" y="5235"/>
                </a:cubicBezTo>
                <a:cubicBezTo>
                  <a:pt x="1461" y="5232"/>
                  <a:pt x="1403" y="5228"/>
                  <a:pt x="1345" y="5222"/>
                </a:cubicBezTo>
                <a:cubicBezTo>
                  <a:pt x="1288" y="5216"/>
                  <a:pt x="1230" y="5209"/>
                  <a:pt x="1173" y="5201"/>
                </a:cubicBezTo>
                <a:cubicBezTo>
                  <a:pt x="1115" y="5192"/>
                  <a:pt x="1058" y="5182"/>
                  <a:pt x="1001" y="5171"/>
                </a:cubicBezTo>
                <a:cubicBezTo>
                  <a:pt x="944" y="5160"/>
                  <a:pt x="888" y="5147"/>
                  <a:pt x="831" y="5133"/>
                </a:cubicBezTo>
                <a:cubicBezTo>
                  <a:pt x="775" y="5119"/>
                  <a:pt x="719" y="5103"/>
                  <a:pt x="664" y="5087"/>
                </a:cubicBezTo>
                <a:cubicBezTo>
                  <a:pt x="608" y="5070"/>
                  <a:pt x="553" y="5052"/>
                  <a:pt x="498" y="5032"/>
                </a:cubicBezTo>
                <a:cubicBezTo>
                  <a:pt x="444" y="5012"/>
                  <a:pt x="390" y="4992"/>
                  <a:pt x="336" y="4969"/>
                </a:cubicBezTo>
                <a:cubicBezTo>
                  <a:pt x="282" y="4947"/>
                  <a:pt x="229" y="4924"/>
                  <a:pt x="177" y="4899"/>
                </a:cubicBezTo>
                <a:cubicBezTo>
                  <a:pt x="125" y="4874"/>
                  <a:pt x="73" y="4848"/>
                  <a:pt x="22" y="4821"/>
                </a:cubicBezTo>
                <a:cubicBezTo>
                  <a:pt x="14" y="4817"/>
                  <a:pt x="7" y="4813"/>
                  <a:pt x="0" y="4809"/>
                </a:cubicBezTo>
              </a:path>
            </a:pathLst>
          </a:custGeom>
          <a:ln w="190440">
            <a:solidFill>
              <a:srgbClr val="bfdbfe"/>
            </a:solidFill>
            <a:miter/>
          </a:ln>
        </p:spPr>
        <p:txBody>
          <a:bodyPr lIns="95040" rIns="95040" tIns="95040" bIns="950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57146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4" y="0"/>
                </a:lnTo>
                <a:cubicBezTo>
                  <a:pt x="2071" y="0"/>
                  <a:pt x="2078" y="1"/>
                  <a:pt x="2084" y="4"/>
                </a:cubicBezTo>
                <a:cubicBezTo>
                  <a:pt x="2091" y="7"/>
                  <a:pt x="2097" y="10"/>
                  <a:pt x="2102" y="15"/>
                </a:cubicBezTo>
                <a:cubicBezTo>
                  <a:pt x="2107" y="20"/>
                  <a:pt x="2110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0" y="80"/>
                  <a:pt x="2107" y="86"/>
                  <a:pt x="2102" y="91"/>
                </a:cubicBezTo>
                <a:cubicBezTo>
                  <a:pt x="2097" y="96"/>
                  <a:pt x="2091" y="100"/>
                  <a:pt x="2084" y="103"/>
                </a:cubicBezTo>
                <a:cubicBezTo>
                  <a:pt x="2078" y="105"/>
                  <a:pt x="2071" y="107"/>
                  <a:pt x="2064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 txBox="1"/>
          <p:nvPr/>
        </p:nvSpPr>
        <p:spPr>
          <a:xfrm>
            <a:off x="3968640" y="465480"/>
            <a:ext cx="4340542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FineMoE机制与漂移失效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461880" y="1566720"/>
            <a:ext cx="3543480" cy="4829400"/>
          </a:xfrm>
          <a:custGeom>
            <a:avLst/>
            <a:gdLst/>
            <a:ahLst/>
            <a:rect l="0" t="0" r="r" b="b"/>
            <a:pathLst>
              <a:path w="9843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9645" y="0"/>
                </a:lnTo>
                <a:cubicBezTo>
                  <a:pt x="9658" y="0"/>
                  <a:pt x="9671" y="1"/>
                  <a:pt x="9684" y="4"/>
                </a:cubicBezTo>
                <a:cubicBezTo>
                  <a:pt x="9696" y="6"/>
                  <a:pt x="9709" y="10"/>
                  <a:pt x="9721" y="15"/>
                </a:cubicBezTo>
                <a:cubicBezTo>
                  <a:pt x="9733" y="20"/>
                  <a:pt x="9744" y="26"/>
                  <a:pt x="9755" y="33"/>
                </a:cubicBezTo>
                <a:cubicBezTo>
                  <a:pt x="9766" y="41"/>
                  <a:pt x="9776" y="49"/>
                  <a:pt x="9785" y="58"/>
                </a:cubicBezTo>
                <a:cubicBezTo>
                  <a:pt x="9794" y="67"/>
                  <a:pt x="9803" y="77"/>
                  <a:pt x="9810" y="88"/>
                </a:cubicBezTo>
                <a:cubicBezTo>
                  <a:pt x="9817" y="99"/>
                  <a:pt x="9823" y="110"/>
                  <a:pt x="9828" y="122"/>
                </a:cubicBezTo>
                <a:cubicBezTo>
                  <a:pt x="9833" y="134"/>
                  <a:pt x="9837" y="147"/>
                  <a:pt x="9839" y="160"/>
                </a:cubicBezTo>
                <a:cubicBezTo>
                  <a:pt x="9842" y="172"/>
                  <a:pt x="9843" y="185"/>
                  <a:pt x="9843" y="198"/>
                </a:cubicBezTo>
                <a:lnTo>
                  <a:pt x="9843" y="13217"/>
                </a:lnTo>
                <a:cubicBezTo>
                  <a:pt x="9843" y="13230"/>
                  <a:pt x="9842" y="13243"/>
                  <a:pt x="9839" y="13256"/>
                </a:cubicBezTo>
                <a:cubicBezTo>
                  <a:pt x="9837" y="13268"/>
                  <a:pt x="9833" y="13281"/>
                  <a:pt x="9828" y="13293"/>
                </a:cubicBezTo>
                <a:cubicBezTo>
                  <a:pt x="9823" y="13305"/>
                  <a:pt x="9817" y="13316"/>
                  <a:pt x="9810" y="13327"/>
                </a:cubicBezTo>
                <a:cubicBezTo>
                  <a:pt x="9803" y="13338"/>
                  <a:pt x="9794" y="13348"/>
                  <a:pt x="9785" y="13357"/>
                </a:cubicBezTo>
                <a:cubicBezTo>
                  <a:pt x="9776" y="13366"/>
                  <a:pt x="9766" y="13375"/>
                  <a:pt x="9755" y="13382"/>
                </a:cubicBezTo>
                <a:cubicBezTo>
                  <a:pt x="9744" y="13389"/>
                  <a:pt x="9733" y="13395"/>
                  <a:pt x="9721" y="13400"/>
                </a:cubicBezTo>
                <a:cubicBezTo>
                  <a:pt x="9709" y="13405"/>
                  <a:pt x="9696" y="13409"/>
                  <a:pt x="9684" y="13411"/>
                </a:cubicBezTo>
                <a:cubicBezTo>
                  <a:pt x="9671" y="13414"/>
                  <a:pt x="9658" y="13415"/>
                  <a:pt x="9645" y="13415"/>
                </a:cubicBezTo>
                <a:lnTo>
                  <a:pt x="198" y="13415"/>
                </a:lnTo>
                <a:cubicBezTo>
                  <a:pt x="185" y="13415"/>
                  <a:pt x="172" y="13414"/>
                  <a:pt x="159" y="13411"/>
                </a:cubicBezTo>
                <a:cubicBezTo>
                  <a:pt x="147" y="13409"/>
                  <a:pt x="134" y="13405"/>
                  <a:pt x="122" y="13400"/>
                </a:cubicBezTo>
                <a:cubicBezTo>
                  <a:pt x="110" y="13395"/>
                  <a:pt x="99" y="13389"/>
                  <a:pt x="88" y="13382"/>
                </a:cubicBezTo>
                <a:cubicBezTo>
                  <a:pt x="77" y="13375"/>
                  <a:pt x="67" y="13366"/>
                  <a:pt x="58" y="13357"/>
                </a:cubicBezTo>
                <a:cubicBezTo>
                  <a:pt x="49" y="13348"/>
                  <a:pt x="40" y="13338"/>
                  <a:pt x="33" y="13327"/>
                </a:cubicBezTo>
                <a:cubicBezTo>
                  <a:pt x="26" y="13316"/>
                  <a:pt x="20" y="13305"/>
                  <a:pt x="15" y="13293"/>
                </a:cubicBezTo>
                <a:cubicBezTo>
                  <a:pt x="10" y="13281"/>
                  <a:pt x="6" y="13268"/>
                  <a:pt x="4" y="13256"/>
                </a:cubicBezTo>
                <a:cubicBezTo>
                  <a:pt x="1" y="13243"/>
                  <a:pt x="0" y="13230"/>
                  <a:pt x="0" y="132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461880" y="1566720"/>
            <a:ext cx="3543480" cy="4829400"/>
          </a:xfrm>
          <a:custGeom>
            <a:avLst/>
            <a:gdLst/>
            <a:ahLst/>
            <a:rect l="0" t="0" r="r" b="b"/>
            <a:pathLst>
              <a:path fill="none" w="9843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9645" y="0"/>
                </a:lnTo>
                <a:cubicBezTo>
                  <a:pt x="9658" y="0"/>
                  <a:pt x="9671" y="1"/>
                  <a:pt x="9684" y="4"/>
                </a:cubicBezTo>
                <a:cubicBezTo>
                  <a:pt x="9696" y="6"/>
                  <a:pt x="9709" y="10"/>
                  <a:pt x="9721" y="15"/>
                </a:cubicBezTo>
                <a:cubicBezTo>
                  <a:pt x="9733" y="20"/>
                  <a:pt x="9744" y="26"/>
                  <a:pt x="9755" y="33"/>
                </a:cubicBezTo>
                <a:cubicBezTo>
                  <a:pt x="9766" y="41"/>
                  <a:pt x="9776" y="49"/>
                  <a:pt x="9785" y="58"/>
                </a:cubicBezTo>
                <a:cubicBezTo>
                  <a:pt x="9794" y="67"/>
                  <a:pt x="9803" y="77"/>
                  <a:pt x="9810" y="88"/>
                </a:cubicBezTo>
                <a:cubicBezTo>
                  <a:pt x="9817" y="99"/>
                  <a:pt x="9823" y="110"/>
                  <a:pt x="9828" y="122"/>
                </a:cubicBezTo>
                <a:cubicBezTo>
                  <a:pt x="9833" y="134"/>
                  <a:pt x="9837" y="147"/>
                  <a:pt x="9839" y="160"/>
                </a:cubicBezTo>
                <a:cubicBezTo>
                  <a:pt x="9842" y="172"/>
                  <a:pt x="9843" y="185"/>
                  <a:pt x="9843" y="198"/>
                </a:cubicBezTo>
                <a:lnTo>
                  <a:pt x="9843" y="13217"/>
                </a:lnTo>
                <a:cubicBezTo>
                  <a:pt x="9843" y="13230"/>
                  <a:pt x="9842" y="13243"/>
                  <a:pt x="9839" y="13256"/>
                </a:cubicBezTo>
                <a:cubicBezTo>
                  <a:pt x="9837" y="13268"/>
                  <a:pt x="9833" y="13281"/>
                  <a:pt x="9828" y="13293"/>
                </a:cubicBezTo>
                <a:cubicBezTo>
                  <a:pt x="9823" y="13305"/>
                  <a:pt x="9817" y="13316"/>
                  <a:pt x="9810" y="13327"/>
                </a:cubicBezTo>
                <a:cubicBezTo>
                  <a:pt x="9803" y="13338"/>
                  <a:pt x="9794" y="13348"/>
                  <a:pt x="9785" y="13357"/>
                </a:cubicBezTo>
                <a:cubicBezTo>
                  <a:pt x="9776" y="13366"/>
                  <a:pt x="9766" y="13375"/>
                  <a:pt x="9755" y="13382"/>
                </a:cubicBezTo>
                <a:cubicBezTo>
                  <a:pt x="9744" y="13389"/>
                  <a:pt x="9733" y="13395"/>
                  <a:pt x="9721" y="13400"/>
                </a:cubicBezTo>
                <a:cubicBezTo>
                  <a:pt x="9709" y="13405"/>
                  <a:pt x="9696" y="13409"/>
                  <a:pt x="9684" y="13411"/>
                </a:cubicBezTo>
                <a:cubicBezTo>
                  <a:pt x="9671" y="13414"/>
                  <a:pt x="9658" y="13415"/>
                  <a:pt x="9645" y="13415"/>
                </a:cubicBezTo>
                <a:lnTo>
                  <a:pt x="198" y="13415"/>
                </a:lnTo>
                <a:cubicBezTo>
                  <a:pt x="185" y="13415"/>
                  <a:pt x="172" y="13414"/>
                  <a:pt x="159" y="13411"/>
                </a:cubicBezTo>
                <a:cubicBezTo>
                  <a:pt x="147" y="13409"/>
                  <a:pt x="134" y="13405"/>
                  <a:pt x="122" y="13400"/>
                </a:cubicBezTo>
                <a:cubicBezTo>
                  <a:pt x="110" y="13395"/>
                  <a:pt x="99" y="13389"/>
                  <a:pt x="88" y="13382"/>
                </a:cubicBezTo>
                <a:cubicBezTo>
                  <a:pt x="77" y="13375"/>
                  <a:pt x="67" y="13366"/>
                  <a:pt x="58" y="13357"/>
                </a:cubicBezTo>
                <a:cubicBezTo>
                  <a:pt x="49" y="13348"/>
                  <a:pt x="40" y="13338"/>
                  <a:pt x="33" y="13327"/>
                </a:cubicBezTo>
                <a:cubicBezTo>
                  <a:pt x="26" y="13316"/>
                  <a:pt x="20" y="13305"/>
                  <a:pt x="15" y="13293"/>
                </a:cubicBezTo>
                <a:cubicBezTo>
                  <a:pt x="10" y="13281"/>
                  <a:pt x="6" y="13268"/>
                  <a:pt x="4" y="13256"/>
                </a:cubicBezTo>
                <a:cubicBezTo>
                  <a:pt x="1" y="13243"/>
                  <a:pt x="0" y="13230"/>
                  <a:pt x="0" y="13217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1495080" y="1819080"/>
            <a:ext cx="1486440" cy="1486440"/>
          </a:xfrm>
          <a:custGeom>
            <a:avLst/>
            <a:gdLst/>
            <a:ahLst/>
            <a:rect l="0" t="0" r="r" b="b"/>
            <a:pathLst>
              <a:path fill="none" w="4129" h="4129">
                <a:moveTo>
                  <a:pt x="4129" y="2065"/>
                </a:moveTo>
                <a:cubicBezTo>
                  <a:pt x="4129" y="2132"/>
                  <a:pt x="4126" y="2200"/>
                  <a:pt x="4119" y="2267"/>
                </a:cubicBezTo>
                <a:cubicBezTo>
                  <a:pt x="4112" y="2334"/>
                  <a:pt x="4102" y="2401"/>
                  <a:pt x="4089" y="2467"/>
                </a:cubicBezTo>
                <a:cubicBezTo>
                  <a:pt x="4076" y="2534"/>
                  <a:pt x="4060" y="2599"/>
                  <a:pt x="4040" y="2664"/>
                </a:cubicBezTo>
                <a:cubicBezTo>
                  <a:pt x="4020" y="2729"/>
                  <a:pt x="3998" y="2792"/>
                  <a:pt x="3972" y="2855"/>
                </a:cubicBezTo>
                <a:cubicBezTo>
                  <a:pt x="3946" y="2917"/>
                  <a:pt x="3917" y="2978"/>
                  <a:pt x="3885" y="3038"/>
                </a:cubicBezTo>
                <a:cubicBezTo>
                  <a:pt x="3853" y="3097"/>
                  <a:pt x="3819" y="3155"/>
                  <a:pt x="3781" y="3211"/>
                </a:cubicBezTo>
                <a:cubicBezTo>
                  <a:pt x="3744" y="3268"/>
                  <a:pt x="3703" y="3322"/>
                  <a:pt x="3661" y="3374"/>
                </a:cubicBezTo>
                <a:cubicBezTo>
                  <a:pt x="3618" y="3426"/>
                  <a:pt x="3572" y="3476"/>
                  <a:pt x="3524" y="3524"/>
                </a:cubicBezTo>
                <a:cubicBezTo>
                  <a:pt x="3477" y="3572"/>
                  <a:pt x="3427" y="3617"/>
                  <a:pt x="3374" y="3660"/>
                </a:cubicBezTo>
                <a:cubicBezTo>
                  <a:pt x="3322" y="3703"/>
                  <a:pt x="3268" y="3743"/>
                  <a:pt x="3212" y="3781"/>
                </a:cubicBezTo>
                <a:cubicBezTo>
                  <a:pt x="3156" y="3818"/>
                  <a:pt x="3098" y="3853"/>
                  <a:pt x="3038" y="3885"/>
                </a:cubicBezTo>
                <a:cubicBezTo>
                  <a:pt x="2978" y="3917"/>
                  <a:pt x="2917" y="3946"/>
                  <a:pt x="2855" y="3971"/>
                </a:cubicBezTo>
                <a:cubicBezTo>
                  <a:pt x="2793" y="3997"/>
                  <a:pt x="2729" y="4020"/>
                  <a:pt x="2664" y="4040"/>
                </a:cubicBezTo>
                <a:cubicBezTo>
                  <a:pt x="2600" y="4059"/>
                  <a:pt x="2534" y="4076"/>
                  <a:pt x="2468" y="4089"/>
                </a:cubicBezTo>
                <a:cubicBezTo>
                  <a:pt x="2402" y="4102"/>
                  <a:pt x="2335" y="4112"/>
                  <a:pt x="2267" y="4119"/>
                </a:cubicBezTo>
                <a:cubicBezTo>
                  <a:pt x="2200" y="4125"/>
                  <a:pt x="2133" y="4129"/>
                  <a:pt x="2065" y="4129"/>
                </a:cubicBezTo>
                <a:cubicBezTo>
                  <a:pt x="1997" y="4129"/>
                  <a:pt x="1929" y="4125"/>
                  <a:pt x="1862" y="4119"/>
                </a:cubicBezTo>
                <a:cubicBezTo>
                  <a:pt x="1795" y="4112"/>
                  <a:pt x="1728" y="4102"/>
                  <a:pt x="1662" y="4089"/>
                </a:cubicBezTo>
                <a:cubicBezTo>
                  <a:pt x="1595" y="4076"/>
                  <a:pt x="1530" y="4059"/>
                  <a:pt x="1465" y="4040"/>
                </a:cubicBezTo>
                <a:cubicBezTo>
                  <a:pt x="1400" y="4020"/>
                  <a:pt x="1337" y="3997"/>
                  <a:pt x="1274" y="3971"/>
                </a:cubicBezTo>
                <a:cubicBezTo>
                  <a:pt x="1212" y="3946"/>
                  <a:pt x="1151" y="3917"/>
                  <a:pt x="1091" y="3885"/>
                </a:cubicBezTo>
                <a:cubicBezTo>
                  <a:pt x="1032" y="3853"/>
                  <a:pt x="974" y="3818"/>
                  <a:pt x="918" y="3781"/>
                </a:cubicBezTo>
                <a:cubicBezTo>
                  <a:pt x="861" y="3743"/>
                  <a:pt x="807" y="3703"/>
                  <a:pt x="755" y="3660"/>
                </a:cubicBezTo>
                <a:cubicBezTo>
                  <a:pt x="703" y="3617"/>
                  <a:pt x="653" y="3572"/>
                  <a:pt x="605" y="3524"/>
                </a:cubicBezTo>
                <a:cubicBezTo>
                  <a:pt x="557" y="3476"/>
                  <a:pt x="512" y="3426"/>
                  <a:pt x="469" y="3374"/>
                </a:cubicBezTo>
                <a:cubicBezTo>
                  <a:pt x="426" y="3322"/>
                  <a:pt x="386" y="3268"/>
                  <a:pt x="348" y="3211"/>
                </a:cubicBezTo>
                <a:cubicBezTo>
                  <a:pt x="311" y="3155"/>
                  <a:pt x="276" y="3097"/>
                  <a:pt x="244" y="3038"/>
                </a:cubicBezTo>
                <a:cubicBezTo>
                  <a:pt x="212" y="2978"/>
                  <a:pt x="183" y="2917"/>
                  <a:pt x="158" y="2855"/>
                </a:cubicBezTo>
                <a:cubicBezTo>
                  <a:pt x="132" y="2792"/>
                  <a:pt x="109" y="2729"/>
                  <a:pt x="89" y="2664"/>
                </a:cubicBezTo>
                <a:cubicBezTo>
                  <a:pt x="70" y="2599"/>
                  <a:pt x="53" y="2534"/>
                  <a:pt x="40" y="2467"/>
                </a:cubicBezTo>
                <a:cubicBezTo>
                  <a:pt x="27" y="2401"/>
                  <a:pt x="17" y="2334"/>
                  <a:pt x="10" y="2267"/>
                </a:cubicBezTo>
                <a:cubicBezTo>
                  <a:pt x="4" y="2200"/>
                  <a:pt x="0" y="2132"/>
                  <a:pt x="0" y="2065"/>
                </a:cubicBezTo>
                <a:cubicBezTo>
                  <a:pt x="0" y="1997"/>
                  <a:pt x="4" y="1930"/>
                  <a:pt x="10" y="1863"/>
                </a:cubicBezTo>
                <a:cubicBezTo>
                  <a:pt x="17" y="1795"/>
                  <a:pt x="27" y="1728"/>
                  <a:pt x="40" y="1662"/>
                </a:cubicBezTo>
                <a:cubicBezTo>
                  <a:pt x="53" y="1596"/>
                  <a:pt x="70" y="1530"/>
                  <a:pt x="89" y="1466"/>
                </a:cubicBezTo>
                <a:cubicBezTo>
                  <a:pt x="109" y="1401"/>
                  <a:pt x="132" y="1337"/>
                  <a:pt x="158" y="1275"/>
                </a:cubicBezTo>
                <a:cubicBezTo>
                  <a:pt x="183" y="1213"/>
                  <a:pt x="212" y="1152"/>
                  <a:pt x="244" y="1091"/>
                </a:cubicBezTo>
                <a:cubicBezTo>
                  <a:pt x="276" y="1031"/>
                  <a:pt x="311" y="973"/>
                  <a:pt x="348" y="917"/>
                </a:cubicBezTo>
                <a:cubicBezTo>
                  <a:pt x="386" y="861"/>
                  <a:pt x="426" y="807"/>
                  <a:pt x="469" y="755"/>
                </a:cubicBezTo>
                <a:cubicBezTo>
                  <a:pt x="512" y="702"/>
                  <a:pt x="557" y="652"/>
                  <a:pt x="605" y="604"/>
                </a:cubicBezTo>
                <a:cubicBezTo>
                  <a:pt x="653" y="557"/>
                  <a:pt x="703" y="511"/>
                  <a:pt x="755" y="468"/>
                </a:cubicBezTo>
                <a:cubicBezTo>
                  <a:pt x="807" y="426"/>
                  <a:pt x="861" y="385"/>
                  <a:pt x="918" y="348"/>
                </a:cubicBezTo>
                <a:cubicBezTo>
                  <a:pt x="974" y="310"/>
                  <a:pt x="1032" y="276"/>
                  <a:pt x="1091" y="244"/>
                </a:cubicBezTo>
                <a:cubicBezTo>
                  <a:pt x="1151" y="212"/>
                  <a:pt x="1212" y="183"/>
                  <a:pt x="1274" y="157"/>
                </a:cubicBezTo>
                <a:cubicBezTo>
                  <a:pt x="1337" y="131"/>
                  <a:pt x="1400" y="109"/>
                  <a:pt x="1465" y="89"/>
                </a:cubicBezTo>
                <a:cubicBezTo>
                  <a:pt x="1530" y="69"/>
                  <a:pt x="1595" y="53"/>
                  <a:pt x="1662" y="40"/>
                </a:cubicBezTo>
                <a:cubicBezTo>
                  <a:pt x="1728" y="27"/>
                  <a:pt x="1795" y="17"/>
                  <a:pt x="1862" y="10"/>
                </a:cubicBezTo>
                <a:cubicBezTo>
                  <a:pt x="1929" y="3"/>
                  <a:pt x="1997" y="0"/>
                  <a:pt x="2065" y="0"/>
                </a:cubicBezTo>
                <a:cubicBezTo>
                  <a:pt x="2133" y="0"/>
                  <a:pt x="2200" y="3"/>
                  <a:pt x="2267" y="10"/>
                </a:cubicBezTo>
                <a:cubicBezTo>
                  <a:pt x="2335" y="17"/>
                  <a:pt x="2402" y="27"/>
                  <a:pt x="2468" y="40"/>
                </a:cubicBezTo>
                <a:cubicBezTo>
                  <a:pt x="2534" y="53"/>
                  <a:pt x="2600" y="69"/>
                  <a:pt x="2664" y="89"/>
                </a:cubicBezTo>
                <a:cubicBezTo>
                  <a:pt x="2729" y="109"/>
                  <a:pt x="2793" y="131"/>
                  <a:pt x="2855" y="157"/>
                </a:cubicBezTo>
                <a:cubicBezTo>
                  <a:pt x="2917" y="183"/>
                  <a:pt x="2978" y="212"/>
                  <a:pt x="3038" y="244"/>
                </a:cubicBezTo>
                <a:cubicBezTo>
                  <a:pt x="3098" y="276"/>
                  <a:pt x="3156" y="310"/>
                  <a:pt x="3212" y="348"/>
                </a:cubicBezTo>
                <a:cubicBezTo>
                  <a:pt x="3268" y="385"/>
                  <a:pt x="3322" y="426"/>
                  <a:pt x="3374" y="468"/>
                </a:cubicBezTo>
                <a:cubicBezTo>
                  <a:pt x="3427" y="511"/>
                  <a:pt x="3477" y="557"/>
                  <a:pt x="3524" y="604"/>
                </a:cubicBezTo>
                <a:cubicBezTo>
                  <a:pt x="3572" y="652"/>
                  <a:pt x="3618" y="702"/>
                  <a:pt x="3661" y="755"/>
                </a:cubicBezTo>
                <a:cubicBezTo>
                  <a:pt x="3703" y="807"/>
                  <a:pt x="3744" y="861"/>
                  <a:pt x="3781" y="917"/>
                </a:cubicBezTo>
                <a:cubicBezTo>
                  <a:pt x="3819" y="973"/>
                  <a:pt x="3853" y="1031"/>
                  <a:pt x="3885" y="1091"/>
                </a:cubicBezTo>
                <a:cubicBezTo>
                  <a:pt x="3917" y="1152"/>
                  <a:pt x="3946" y="1213"/>
                  <a:pt x="3972" y="1275"/>
                </a:cubicBezTo>
                <a:cubicBezTo>
                  <a:pt x="3998" y="1337"/>
                  <a:pt x="4020" y="1401"/>
                  <a:pt x="4040" y="1466"/>
                </a:cubicBezTo>
                <a:cubicBezTo>
                  <a:pt x="4060" y="1530"/>
                  <a:pt x="4076" y="1596"/>
                  <a:pt x="4089" y="1662"/>
                </a:cubicBezTo>
                <a:cubicBezTo>
                  <a:pt x="4102" y="1728"/>
                  <a:pt x="4112" y="1795"/>
                  <a:pt x="4119" y="1863"/>
                </a:cubicBezTo>
                <a:cubicBezTo>
                  <a:pt x="4126" y="1930"/>
                  <a:pt x="4129" y="1997"/>
                  <a:pt x="4129" y="2065"/>
                </a:cubicBezTo>
              </a:path>
            </a:pathLst>
          </a:custGeom>
          <a:ln w="37800">
            <a:solidFill>
              <a:srgbClr val="ffffff"/>
            </a:solidFill>
            <a:miter/>
          </a:ln>
        </p:spPr>
        <p:txBody>
          <a:bodyPr lIns="18720" rIns="18720" tIns="18720" bIns="187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78" name="" descr=""/>
          <p:cNvPicPr/>
          <p:nvPr/>
        </p:nvPicPr>
        <p:blipFill>
          <a:blip r:embed="rId3"/>
          <a:stretch/>
        </p:blipFill>
        <p:spPr>
          <a:xfrm>
            <a:off x="1514520" y="183816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0" name=""/>
          <p:cNvSpPr txBox="1"/>
          <p:nvPr/>
        </p:nvSpPr>
        <p:spPr>
          <a:xfrm>
            <a:off x="1697400" y="1872000"/>
            <a:ext cx="313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MoE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 txBox="1"/>
          <p:nvPr/>
        </p:nvSpPr>
        <p:spPr>
          <a:xfrm>
            <a:off x="2010600" y="186840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系统中正常⼯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 txBox="1"/>
          <p:nvPr/>
        </p:nvSpPr>
        <p:spPr>
          <a:xfrm>
            <a:off x="1777680" y="211608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作的专家节点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 txBox="1"/>
          <p:nvPr/>
        </p:nvSpPr>
        <p:spPr>
          <a:xfrm>
            <a:off x="949320" y="3580560"/>
            <a:ext cx="314325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FineMoE (EuroSys'26) SOTA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1236960" y="4003200"/>
            <a:ext cx="2151268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-47%延迟/ +39% hit rate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8186400" y="1566720"/>
            <a:ext cx="3543840" cy="4829400"/>
          </a:xfrm>
          <a:custGeom>
            <a:avLst/>
            <a:gdLst/>
            <a:ahLst/>
            <a:rect l="0" t="0" r="r" b="b"/>
            <a:pathLst>
              <a:path w="9844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1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9645" y="0"/>
                </a:lnTo>
                <a:cubicBezTo>
                  <a:pt x="9659" y="0"/>
                  <a:pt x="9671" y="1"/>
                  <a:pt x="9684" y="4"/>
                </a:cubicBezTo>
                <a:cubicBezTo>
                  <a:pt x="9697" y="6"/>
                  <a:pt x="9709" y="10"/>
                  <a:pt x="9721" y="15"/>
                </a:cubicBezTo>
                <a:cubicBezTo>
                  <a:pt x="9733" y="20"/>
                  <a:pt x="9745" y="26"/>
                  <a:pt x="9756" y="33"/>
                </a:cubicBezTo>
                <a:cubicBezTo>
                  <a:pt x="9767" y="41"/>
                  <a:pt x="9777" y="49"/>
                  <a:pt x="9786" y="58"/>
                </a:cubicBezTo>
                <a:cubicBezTo>
                  <a:pt x="9795" y="67"/>
                  <a:pt x="9803" y="77"/>
                  <a:pt x="9810" y="88"/>
                </a:cubicBezTo>
                <a:cubicBezTo>
                  <a:pt x="9818" y="99"/>
                  <a:pt x="9824" y="110"/>
                  <a:pt x="9829" y="122"/>
                </a:cubicBezTo>
                <a:cubicBezTo>
                  <a:pt x="9834" y="134"/>
                  <a:pt x="9838" y="147"/>
                  <a:pt x="9840" y="160"/>
                </a:cubicBezTo>
                <a:cubicBezTo>
                  <a:pt x="9843" y="172"/>
                  <a:pt x="9844" y="185"/>
                  <a:pt x="9844" y="198"/>
                </a:cubicBezTo>
                <a:lnTo>
                  <a:pt x="9844" y="13217"/>
                </a:lnTo>
                <a:cubicBezTo>
                  <a:pt x="9844" y="13230"/>
                  <a:pt x="9843" y="13243"/>
                  <a:pt x="9840" y="13256"/>
                </a:cubicBezTo>
                <a:cubicBezTo>
                  <a:pt x="9838" y="13268"/>
                  <a:pt x="9834" y="13281"/>
                  <a:pt x="9829" y="13293"/>
                </a:cubicBezTo>
                <a:cubicBezTo>
                  <a:pt x="9824" y="13305"/>
                  <a:pt x="9818" y="13316"/>
                  <a:pt x="9810" y="13327"/>
                </a:cubicBezTo>
                <a:cubicBezTo>
                  <a:pt x="9803" y="13338"/>
                  <a:pt x="9795" y="13348"/>
                  <a:pt x="9786" y="13357"/>
                </a:cubicBezTo>
                <a:cubicBezTo>
                  <a:pt x="9777" y="13366"/>
                  <a:pt x="9767" y="13375"/>
                  <a:pt x="9756" y="13382"/>
                </a:cubicBezTo>
                <a:cubicBezTo>
                  <a:pt x="9745" y="13389"/>
                  <a:pt x="9733" y="13395"/>
                  <a:pt x="9721" y="13400"/>
                </a:cubicBezTo>
                <a:cubicBezTo>
                  <a:pt x="9709" y="13405"/>
                  <a:pt x="9697" y="13409"/>
                  <a:pt x="9684" y="13411"/>
                </a:cubicBezTo>
                <a:cubicBezTo>
                  <a:pt x="9671" y="13414"/>
                  <a:pt x="9659" y="13415"/>
                  <a:pt x="9645" y="13415"/>
                </a:cubicBezTo>
                <a:lnTo>
                  <a:pt x="199" y="13415"/>
                </a:lnTo>
                <a:cubicBezTo>
                  <a:pt x="186" y="13415"/>
                  <a:pt x="173" y="13414"/>
                  <a:pt x="160" y="13411"/>
                </a:cubicBezTo>
                <a:cubicBezTo>
                  <a:pt x="147" y="13409"/>
                  <a:pt x="135" y="13405"/>
                  <a:pt x="123" y="13400"/>
                </a:cubicBezTo>
                <a:cubicBezTo>
                  <a:pt x="111" y="13395"/>
                  <a:pt x="99" y="13389"/>
                  <a:pt x="89" y="13382"/>
                </a:cubicBezTo>
                <a:cubicBezTo>
                  <a:pt x="78" y="13375"/>
                  <a:pt x="68" y="13366"/>
                  <a:pt x="59" y="13357"/>
                </a:cubicBezTo>
                <a:cubicBezTo>
                  <a:pt x="49" y="13348"/>
                  <a:pt x="41" y="13338"/>
                  <a:pt x="34" y="13327"/>
                </a:cubicBezTo>
                <a:cubicBezTo>
                  <a:pt x="27" y="13316"/>
                  <a:pt x="21" y="13305"/>
                  <a:pt x="16" y="13293"/>
                </a:cubicBezTo>
                <a:cubicBezTo>
                  <a:pt x="11" y="13281"/>
                  <a:pt x="7" y="13268"/>
                  <a:pt x="4" y="13256"/>
                </a:cubicBezTo>
                <a:cubicBezTo>
                  <a:pt x="2" y="13243"/>
                  <a:pt x="0" y="13230"/>
                  <a:pt x="0" y="132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8186400" y="1566720"/>
            <a:ext cx="3543840" cy="4829400"/>
          </a:xfrm>
          <a:custGeom>
            <a:avLst/>
            <a:gdLst/>
            <a:ahLst/>
            <a:rect l="0" t="0" r="r" b="b"/>
            <a:pathLst>
              <a:path fill="none" w="9844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1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9645" y="0"/>
                </a:lnTo>
                <a:cubicBezTo>
                  <a:pt x="9659" y="0"/>
                  <a:pt x="9671" y="1"/>
                  <a:pt x="9684" y="4"/>
                </a:cubicBezTo>
                <a:cubicBezTo>
                  <a:pt x="9697" y="6"/>
                  <a:pt x="9709" y="10"/>
                  <a:pt x="9721" y="15"/>
                </a:cubicBezTo>
                <a:cubicBezTo>
                  <a:pt x="9733" y="20"/>
                  <a:pt x="9745" y="26"/>
                  <a:pt x="9756" y="33"/>
                </a:cubicBezTo>
                <a:cubicBezTo>
                  <a:pt x="9767" y="41"/>
                  <a:pt x="9777" y="49"/>
                  <a:pt x="9786" y="58"/>
                </a:cubicBezTo>
                <a:cubicBezTo>
                  <a:pt x="9795" y="67"/>
                  <a:pt x="9803" y="77"/>
                  <a:pt x="9810" y="88"/>
                </a:cubicBezTo>
                <a:cubicBezTo>
                  <a:pt x="9818" y="99"/>
                  <a:pt x="9824" y="110"/>
                  <a:pt x="9829" y="122"/>
                </a:cubicBezTo>
                <a:cubicBezTo>
                  <a:pt x="9834" y="134"/>
                  <a:pt x="9838" y="147"/>
                  <a:pt x="9840" y="160"/>
                </a:cubicBezTo>
                <a:cubicBezTo>
                  <a:pt x="9843" y="172"/>
                  <a:pt x="9844" y="185"/>
                  <a:pt x="9844" y="198"/>
                </a:cubicBezTo>
                <a:lnTo>
                  <a:pt x="9844" y="13217"/>
                </a:lnTo>
                <a:cubicBezTo>
                  <a:pt x="9844" y="13230"/>
                  <a:pt x="9843" y="13243"/>
                  <a:pt x="9840" y="13256"/>
                </a:cubicBezTo>
                <a:cubicBezTo>
                  <a:pt x="9838" y="13268"/>
                  <a:pt x="9834" y="13281"/>
                  <a:pt x="9829" y="13293"/>
                </a:cubicBezTo>
                <a:cubicBezTo>
                  <a:pt x="9824" y="13305"/>
                  <a:pt x="9818" y="13316"/>
                  <a:pt x="9810" y="13327"/>
                </a:cubicBezTo>
                <a:cubicBezTo>
                  <a:pt x="9803" y="13338"/>
                  <a:pt x="9795" y="13348"/>
                  <a:pt x="9786" y="13357"/>
                </a:cubicBezTo>
                <a:cubicBezTo>
                  <a:pt x="9777" y="13366"/>
                  <a:pt x="9767" y="13375"/>
                  <a:pt x="9756" y="13382"/>
                </a:cubicBezTo>
                <a:cubicBezTo>
                  <a:pt x="9745" y="13389"/>
                  <a:pt x="9733" y="13395"/>
                  <a:pt x="9721" y="13400"/>
                </a:cubicBezTo>
                <a:cubicBezTo>
                  <a:pt x="9709" y="13405"/>
                  <a:pt x="9697" y="13409"/>
                  <a:pt x="9684" y="13411"/>
                </a:cubicBezTo>
                <a:cubicBezTo>
                  <a:pt x="9671" y="13414"/>
                  <a:pt x="9659" y="13415"/>
                  <a:pt x="9645" y="13415"/>
                </a:cubicBezTo>
                <a:lnTo>
                  <a:pt x="199" y="13415"/>
                </a:lnTo>
                <a:cubicBezTo>
                  <a:pt x="186" y="13415"/>
                  <a:pt x="173" y="13414"/>
                  <a:pt x="160" y="13411"/>
                </a:cubicBezTo>
                <a:cubicBezTo>
                  <a:pt x="147" y="13409"/>
                  <a:pt x="135" y="13405"/>
                  <a:pt x="123" y="13400"/>
                </a:cubicBezTo>
                <a:cubicBezTo>
                  <a:pt x="111" y="13395"/>
                  <a:pt x="99" y="13389"/>
                  <a:pt x="89" y="13382"/>
                </a:cubicBezTo>
                <a:cubicBezTo>
                  <a:pt x="78" y="13375"/>
                  <a:pt x="68" y="13366"/>
                  <a:pt x="59" y="13357"/>
                </a:cubicBezTo>
                <a:cubicBezTo>
                  <a:pt x="49" y="13348"/>
                  <a:pt x="41" y="13338"/>
                  <a:pt x="34" y="13327"/>
                </a:cubicBezTo>
                <a:cubicBezTo>
                  <a:pt x="27" y="13316"/>
                  <a:pt x="21" y="13305"/>
                  <a:pt x="16" y="13293"/>
                </a:cubicBezTo>
                <a:cubicBezTo>
                  <a:pt x="11" y="13281"/>
                  <a:pt x="7" y="13268"/>
                  <a:pt x="4" y="13256"/>
                </a:cubicBezTo>
                <a:cubicBezTo>
                  <a:pt x="2" y="13243"/>
                  <a:pt x="0" y="13230"/>
                  <a:pt x="0" y="13217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9210600" y="1819080"/>
            <a:ext cx="1486080" cy="1486440"/>
          </a:xfrm>
          <a:custGeom>
            <a:avLst/>
            <a:gdLst/>
            <a:ahLst/>
            <a:rect l="0" t="0" r="r" b="b"/>
            <a:pathLst>
              <a:path fill="none" w="4128" h="4129">
                <a:moveTo>
                  <a:pt x="4128" y="2065"/>
                </a:moveTo>
                <a:cubicBezTo>
                  <a:pt x="4128" y="2132"/>
                  <a:pt x="4125" y="2200"/>
                  <a:pt x="4118" y="2267"/>
                </a:cubicBezTo>
                <a:cubicBezTo>
                  <a:pt x="4112" y="2334"/>
                  <a:pt x="4102" y="2401"/>
                  <a:pt x="4089" y="2467"/>
                </a:cubicBezTo>
                <a:cubicBezTo>
                  <a:pt x="4075" y="2534"/>
                  <a:pt x="4059" y="2599"/>
                  <a:pt x="4039" y="2664"/>
                </a:cubicBezTo>
                <a:cubicBezTo>
                  <a:pt x="4020" y="2729"/>
                  <a:pt x="3997" y="2792"/>
                  <a:pt x="3971" y="2855"/>
                </a:cubicBezTo>
                <a:cubicBezTo>
                  <a:pt x="3945" y="2917"/>
                  <a:pt x="3916" y="2978"/>
                  <a:pt x="3885" y="3038"/>
                </a:cubicBezTo>
                <a:cubicBezTo>
                  <a:pt x="3853" y="3097"/>
                  <a:pt x="3818" y="3155"/>
                  <a:pt x="3780" y="3211"/>
                </a:cubicBezTo>
                <a:cubicBezTo>
                  <a:pt x="3743" y="3268"/>
                  <a:pt x="3703" y="3322"/>
                  <a:pt x="3660" y="3374"/>
                </a:cubicBezTo>
                <a:cubicBezTo>
                  <a:pt x="3617" y="3426"/>
                  <a:pt x="3572" y="3476"/>
                  <a:pt x="3524" y="3524"/>
                </a:cubicBezTo>
                <a:cubicBezTo>
                  <a:pt x="3476" y="3572"/>
                  <a:pt x="3426" y="3617"/>
                  <a:pt x="3374" y="3660"/>
                </a:cubicBezTo>
                <a:cubicBezTo>
                  <a:pt x="3321" y="3703"/>
                  <a:pt x="3267" y="3743"/>
                  <a:pt x="3211" y="3781"/>
                </a:cubicBezTo>
                <a:cubicBezTo>
                  <a:pt x="3155" y="3818"/>
                  <a:pt x="3097" y="3853"/>
                  <a:pt x="3037" y="3885"/>
                </a:cubicBezTo>
                <a:cubicBezTo>
                  <a:pt x="2978" y="3917"/>
                  <a:pt x="2917" y="3946"/>
                  <a:pt x="2854" y="3971"/>
                </a:cubicBezTo>
                <a:cubicBezTo>
                  <a:pt x="2792" y="3997"/>
                  <a:pt x="2728" y="4020"/>
                  <a:pt x="2664" y="4040"/>
                </a:cubicBezTo>
                <a:cubicBezTo>
                  <a:pt x="2599" y="4059"/>
                  <a:pt x="2533" y="4076"/>
                  <a:pt x="2467" y="4089"/>
                </a:cubicBezTo>
                <a:cubicBezTo>
                  <a:pt x="2401" y="4102"/>
                  <a:pt x="2334" y="4112"/>
                  <a:pt x="2267" y="4119"/>
                </a:cubicBezTo>
                <a:cubicBezTo>
                  <a:pt x="2199" y="4125"/>
                  <a:pt x="2132" y="4129"/>
                  <a:pt x="2064" y="4129"/>
                </a:cubicBezTo>
                <a:cubicBezTo>
                  <a:pt x="1997" y="4129"/>
                  <a:pt x="1929" y="4125"/>
                  <a:pt x="1862" y="4119"/>
                </a:cubicBezTo>
                <a:cubicBezTo>
                  <a:pt x="1795" y="4112"/>
                  <a:pt x="1728" y="4102"/>
                  <a:pt x="1662" y="4089"/>
                </a:cubicBezTo>
                <a:cubicBezTo>
                  <a:pt x="1596" y="4076"/>
                  <a:pt x="1530" y="4059"/>
                  <a:pt x="1465" y="4040"/>
                </a:cubicBezTo>
                <a:cubicBezTo>
                  <a:pt x="1401" y="4020"/>
                  <a:pt x="1337" y="3997"/>
                  <a:pt x="1275" y="3971"/>
                </a:cubicBezTo>
                <a:cubicBezTo>
                  <a:pt x="1211" y="3946"/>
                  <a:pt x="1150" y="3917"/>
                  <a:pt x="1091" y="3885"/>
                </a:cubicBezTo>
                <a:cubicBezTo>
                  <a:pt x="1031" y="3853"/>
                  <a:pt x="973" y="3818"/>
                  <a:pt x="917" y="3781"/>
                </a:cubicBezTo>
                <a:cubicBezTo>
                  <a:pt x="861" y="3743"/>
                  <a:pt x="806" y="3703"/>
                  <a:pt x="754" y="3660"/>
                </a:cubicBezTo>
                <a:cubicBezTo>
                  <a:pt x="702" y="3617"/>
                  <a:pt x="652" y="3572"/>
                  <a:pt x="604" y="3524"/>
                </a:cubicBezTo>
                <a:cubicBezTo>
                  <a:pt x="556" y="3476"/>
                  <a:pt x="511" y="3426"/>
                  <a:pt x="468" y="3374"/>
                </a:cubicBezTo>
                <a:cubicBezTo>
                  <a:pt x="425" y="3322"/>
                  <a:pt x="385" y="3268"/>
                  <a:pt x="348" y="3211"/>
                </a:cubicBezTo>
                <a:cubicBezTo>
                  <a:pt x="310" y="3155"/>
                  <a:pt x="275" y="3097"/>
                  <a:pt x="243" y="3038"/>
                </a:cubicBezTo>
                <a:cubicBezTo>
                  <a:pt x="212" y="2978"/>
                  <a:pt x="183" y="2917"/>
                  <a:pt x="157" y="2855"/>
                </a:cubicBezTo>
                <a:cubicBezTo>
                  <a:pt x="131" y="2792"/>
                  <a:pt x="108" y="2729"/>
                  <a:pt x="89" y="2664"/>
                </a:cubicBezTo>
                <a:cubicBezTo>
                  <a:pt x="69" y="2599"/>
                  <a:pt x="53" y="2534"/>
                  <a:pt x="39" y="2467"/>
                </a:cubicBezTo>
                <a:cubicBezTo>
                  <a:pt x="26" y="2401"/>
                  <a:pt x="16" y="2334"/>
                  <a:pt x="10" y="2267"/>
                </a:cubicBezTo>
                <a:cubicBezTo>
                  <a:pt x="3" y="2200"/>
                  <a:pt x="0" y="2132"/>
                  <a:pt x="0" y="2065"/>
                </a:cubicBezTo>
                <a:cubicBezTo>
                  <a:pt x="0" y="1997"/>
                  <a:pt x="3" y="1930"/>
                  <a:pt x="10" y="1863"/>
                </a:cubicBezTo>
                <a:cubicBezTo>
                  <a:pt x="16" y="1795"/>
                  <a:pt x="26" y="1728"/>
                  <a:pt x="39" y="1662"/>
                </a:cubicBezTo>
                <a:cubicBezTo>
                  <a:pt x="53" y="1596"/>
                  <a:pt x="69" y="1530"/>
                  <a:pt x="89" y="1466"/>
                </a:cubicBezTo>
                <a:cubicBezTo>
                  <a:pt x="108" y="1401"/>
                  <a:pt x="131" y="1337"/>
                  <a:pt x="157" y="1275"/>
                </a:cubicBezTo>
                <a:cubicBezTo>
                  <a:pt x="183" y="1213"/>
                  <a:pt x="212" y="1152"/>
                  <a:pt x="243" y="1091"/>
                </a:cubicBezTo>
                <a:cubicBezTo>
                  <a:pt x="275" y="1031"/>
                  <a:pt x="310" y="973"/>
                  <a:pt x="348" y="917"/>
                </a:cubicBezTo>
                <a:cubicBezTo>
                  <a:pt x="385" y="861"/>
                  <a:pt x="425" y="807"/>
                  <a:pt x="468" y="755"/>
                </a:cubicBezTo>
                <a:cubicBezTo>
                  <a:pt x="511" y="702"/>
                  <a:pt x="556" y="652"/>
                  <a:pt x="604" y="604"/>
                </a:cubicBezTo>
                <a:cubicBezTo>
                  <a:pt x="652" y="557"/>
                  <a:pt x="702" y="511"/>
                  <a:pt x="754" y="468"/>
                </a:cubicBezTo>
                <a:cubicBezTo>
                  <a:pt x="806" y="426"/>
                  <a:pt x="861" y="385"/>
                  <a:pt x="917" y="348"/>
                </a:cubicBezTo>
                <a:cubicBezTo>
                  <a:pt x="973" y="310"/>
                  <a:pt x="1031" y="276"/>
                  <a:pt x="1091" y="244"/>
                </a:cubicBezTo>
                <a:cubicBezTo>
                  <a:pt x="1150" y="212"/>
                  <a:pt x="1211" y="183"/>
                  <a:pt x="1275" y="157"/>
                </a:cubicBezTo>
                <a:cubicBezTo>
                  <a:pt x="1337" y="131"/>
                  <a:pt x="1401" y="109"/>
                  <a:pt x="1465" y="89"/>
                </a:cubicBezTo>
                <a:cubicBezTo>
                  <a:pt x="1530" y="69"/>
                  <a:pt x="1596" y="53"/>
                  <a:pt x="1662" y="40"/>
                </a:cubicBezTo>
                <a:cubicBezTo>
                  <a:pt x="1728" y="27"/>
                  <a:pt x="1795" y="17"/>
                  <a:pt x="1862" y="10"/>
                </a:cubicBezTo>
                <a:cubicBezTo>
                  <a:pt x="1929" y="3"/>
                  <a:pt x="1997" y="0"/>
                  <a:pt x="2064" y="0"/>
                </a:cubicBezTo>
                <a:cubicBezTo>
                  <a:pt x="2132" y="0"/>
                  <a:pt x="2199" y="3"/>
                  <a:pt x="2267" y="10"/>
                </a:cubicBezTo>
                <a:cubicBezTo>
                  <a:pt x="2334" y="17"/>
                  <a:pt x="2401" y="27"/>
                  <a:pt x="2467" y="40"/>
                </a:cubicBezTo>
                <a:cubicBezTo>
                  <a:pt x="2533" y="53"/>
                  <a:pt x="2599" y="69"/>
                  <a:pt x="2664" y="89"/>
                </a:cubicBezTo>
                <a:cubicBezTo>
                  <a:pt x="2728" y="109"/>
                  <a:pt x="2792" y="131"/>
                  <a:pt x="2854" y="157"/>
                </a:cubicBezTo>
                <a:cubicBezTo>
                  <a:pt x="2917" y="183"/>
                  <a:pt x="2978" y="212"/>
                  <a:pt x="3037" y="244"/>
                </a:cubicBezTo>
                <a:cubicBezTo>
                  <a:pt x="3097" y="276"/>
                  <a:pt x="3155" y="310"/>
                  <a:pt x="3211" y="348"/>
                </a:cubicBezTo>
                <a:cubicBezTo>
                  <a:pt x="3267" y="385"/>
                  <a:pt x="3321" y="426"/>
                  <a:pt x="3374" y="468"/>
                </a:cubicBezTo>
                <a:cubicBezTo>
                  <a:pt x="3426" y="511"/>
                  <a:pt x="3476" y="557"/>
                  <a:pt x="3524" y="604"/>
                </a:cubicBezTo>
                <a:cubicBezTo>
                  <a:pt x="3572" y="652"/>
                  <a:pt x="3617" y="702"/>
                  <a:pt x="3660" y="755"/>
                </a:cubicBezTo>
                <a:cubicBezTo>
                  <a:pt x="3703" y="807"/>
                  <a:pt x="3743" y="861"/>
                  <a:pt x="3780" y="917"/>
                </a:cubicBezTo>
                <a:cubicBezTo>
                  <a:pt x="3818" y="973"/>
                  <a:pt x="3853" y="1031"/>
                  <a:pt x="3885" y="1091"/>
                </a:cubicBezTo>
                <a:cubicBezTo>
                  <a:pt x="3916" y="1152"/>
                  <a:pt x="3945" y="1213"/>
                  <a:pt x="3971" y="1275"/>
                </a:cubicBezTo>
                <a:cubicBezTo>
                  <a:pt x="3997" y="1337"/>
                  <a:pt x="4020" y="1401"/>
                  <a:pt x="4039" y="1466"/>
                </a:cubicBezTo>
                <a:cubicBezTo>
                  <a:pt x="4059" y="1530"/>
                  <a:pt x="4075" y="1596"/>
                  <a:pt x="4089" y="1662"/>
                </a:cubicBezTo>
                <a:cubicBezTo>
                  <a:pt x="4102" y="1728"/>
                  <a:pt x="4112" y="1795"/>
                  <a:pt x="4118" y="1863"/>
                </a:cubicBezTo>
                <a:cubicBezTo>
                  <a:pt x="4125" y="1930"/>
                  <a:pt x="4128" y="1997"/>
                  <a:pt x="4128" y="2065"/>
                </a:cubicBezTo>
              </a:path>
            </a:pathLst>
          </a:custGeom>
          <a:ln w="37800">
            <a:solidFill>
              <a:srgbClr val="ffffff"/>
            </a:solidFill>
            <a:miter/>
          </a:ln>
        </p:spPr>
        <p:txBody>
          <a:bodyPr lIns="18720" rIns="18720" tIns="18720" bIns="187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89" name="" descr=""/>
          <p:cNvPicPr/>
          <p:nvPr/>
        </p:nvPicPr>
        <p:blipFill>
          <a:blip r:embed="rId4"/>
          <a:stretch/>
        </p:blipFill>
        <p:spPr>
          <a:xfrm>
            <a:off x="9229680" y="183816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1" name=""/>
          <p:cNvSpPr txBox="1"/>
          <p:nvPr/>
        </p:nvSpPr>
        <p:spPr>
          <a:xfrm>
            <a:off x="9419040" y="1872000"/>
            <a:ext cx="313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MoE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9732240" y="186840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系统中出现异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9499320" y="211608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常失效的节点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8420040" y="4009680"/>
            <a:ext cx="838440" cy="162360"/>
          </a:xfrm>
          <a:custGeom>
            <a:avLst/>
            <a:gdLst/>
            <a:ahLst/>
            <a:rect l="0" t="0" r="r" b="b"/>
            <a:pathLst>
              <a:path w="2329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lnTo>
                  <a:pt x="2223" y="0"/>
                </a:lnTo>
                <a:cubicBezTo>
                  <a:pt x="2237" y="0"/>
                  <a:pt x="2251" y="3"/>
                  <a:pt x="2264" y="9"/>
                </a:cubicBezTo>
                <a:cubicBezTo>
                  <a:pt x="2277" y="14"/>
                  <a:pt x="2288" y="22"/>
                  <a:pt x="2298" y="31"/>
                </a:cubicBezTo>
                <a:cubicBezTo>
                  <a:pt x="2308" y="41"/>
                  <a:pt x="2316" y="53"/>
                  <a:pt x="2321" y="66"/>
                </a:cubicBezTo>
                <a:cubicBezTo>
                  <a:pt x="2326" y="79"/>
                  <a:pt x="2329" y="92"/>
                  <a:pt x="2329" y="106"/>
                </a:cubicBezTo>
                <a:lnTo>
                  <a:pt x="2329" y="345"/>
                </a:lnTo>
                <a:cubicBezTo>
                  <a:pt x="2329" y="359"/>
                  <a:pt x="2326" y="373"/>
                  <a:pt x="2321" y="386"/>
                </a:cubicBezTo>
                <a:cubicBezTo>
                  <a:pt x="2316" y="399"/>
                  <a:pt x="2308" y="410"/>
                  <a:pt x="2298" y="420"/>
                </a:cubicBezTo>
                <a:cubicBezTo>
                  <a:pt x="2288" y="430"/>
                  <a:pt x="2277" y="438"/>
                  <a:pt x="2264" y="443"/>
                </a:cubicBezTo>
                <a:cubicBezTo>
                  <a:pt x="2251" y="449"/>
                  <a:pt x="2237" y="451"/>
                  <a:pt x="2223" y="451"/>
                </a:cubicBezTo>
                <a:lnTo>
                  <a:pt x="105" y="451"/>
                </a:lnTo>
                <a:cubicBezTo>
                  <a:pt x="91" y="451"/>
                  <a:pt x="78" y="449"/>
                  <a:pt x="65" y="443"/>
                </a:cubicBezTo>
                <a:cubicBezTo>
                  <a:pt x="52" y="438"/>
                  <a:pt x="41" y="430"/>
                  <a:pt x="31" y="420"/>
                </a:cubicBezTo>
                <a:cubicBezTo>
                  <a:pt x="21" y="410"/>
                  <a:pt x="13" y="399"/>
                  <a:pt x="8" y="386"/>
                </a:cubicBezTo>
                <a:cubicBezTo>
                  <a:pt x="2" y="373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9194760" y="3576240"/>
            <a:ext cx="1844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漂移下三个失效点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 txBox="1"/>
          <p:nvPr/>
        </p:nvSpPr>
        <p:spPr>
          <a:xfrm>
            <a:off x="8454960" y="4002120"/>
            <a:ext cx="286435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相似度塌陷:检索命中旧任务map →预取大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8420040" y="4495680"/>
            <a:ext cx="1009800" cy="162360"/>
          </a:xfrm>
          <a:custGeom>
            <a:avLst/>
            <a:gdLst/>
            <a:ahLst/>
            <a:rect l="0" t="0" r="r" b="b"/>
            <a:pathLst>
              <a:path w="2805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699" y="0"/>
                </a:lnTo>
                <a:cubicBezTo>
                  <a:pt x="2713" y="0"/>
                  <a:pt x="2727" y="3"/>
                  <a:pt x="2740" y="8"/>
                </a:cubicBezTo>
                <a:cubicBezTo>
                  <a:pt x="2753" y="13"/>
                  <a:pt x="2764" y="21"/>
                  <a:pt x="2774" y="31"/>
                </a:cubicBezTo>
                <a:cubicBezTo>
                  <a:pt x="2784" y="41"/>
                  <a:pt x="2792" y="52"/>
                  <a:pt x="2797" y="65"/>
                </a:cubicBezTo>
                <a:cubicBezTo>
                  <a:pt x="2803" y="78"/>
                  <a:pt x="2805" y="92"/>
                  <a:pt x="2805" y="106"/>
                </a:cubicBezTo>
                <a:lnTo>
                  <a:pt x="2805" y="345"/>
                </a:lnTo>
                <a:cubicBezTo>
                  <a:pt x="2805" y="359"/>
                  <a:pt x="2803" y="372"/>
                  <a:pt x="2797" y="385"/>
                </a:cubicBezTo>
                <a:cubicBezTo>
                  <a:pt x="2792" y="398"/>
                  <a:pt x="2784" y="410"/>
                  <a:pt x="2774" y="420"/>
                </a:cubicBezTo>
                <a:cubicBezTo>
                  <a:pt x="2764" y="430"/>
                  <a:pt x="2753" y="437"/>
                  <a:pt x="2740" y="443"/>
                </a:cubicBezTo>
                <a:cubicBezTo>
                  <a:pt x="2727" y="448"/>
                  <a:pt x="2713" y="451"/>
                  <a:pt x="2699" y="451"/>
                </a:cubicBezTo>
                <a:lnTo>
                  <a:pt x="105" y="451"/>
                </a:lnTo>
                <a:cubicBezTo>
                  <a:pt x="91" y="451"/>
                  <a:pt x="78" y="448"/>
                  <a:pt x="65" y="443"/>
                </a:cubicBezTo>
                <a:cubicBezTo>
                  <a:pt x="52" y="437"/>
                  <a:pt x="41" y="430"/>
                  <a:pt x="31" y="420"/>
                </a:cubicBezTo>
                <a:cubicBezTo>
                  <a:pt x="21" y="410"/>
                  <a:pt x="13" y="398"/>
                  <a:pt x="8" y="385"/>
                </a:cubicBezTo>
                <a:cubicBezTo>
                  <a:pt x="2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 txBox="1"/>
          <p:nvPr/>
        </p:nvSpPr>
        <p:spPr>
          <a:xfrm>
            <a:off x="8416800" y="4249440"/>
            <a:ext cx="670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面积误判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 txBox="1"/>
          <p:nvPr/>
        </p:nvSpPr>
        <p:spPr>
          <a:xfrm>
            <a:off x="8454960" y="4487760"/>
            <a:ext cx="2816352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LFU陈旧计数:旧任务专家赖着不走→缓存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8420040" y="4981320"/>
            <a:ext cx="1238400" cy="162360"/>
          </a:xfrm>
          <a:custGeom>
            <a:avLst/>
            <a:gdLst/>
            <a:ahLst/>
            <a:rect l="0" t="0" r="r" b="b"/>
            <a:pathLst>
              <a:path w="3440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334" y="0"/>
                </a:lnTo>
                <a:cubicBezTo>
                  <a:pt x="3348" y="0"/>
                  <a:pt x="3362" y="3"/>
                  <a:pt x="3375" y="8"/>
                </a:cubicBezTo>
                <a:cubicBezTo>
                  <a:pt x="3388" y="14"/>
                  <a:pt x="3399" y="21"/>
                  <a:pt x="3409" y="31"/>
                </a:cubicBezTo>
                <a:cubicBezTo>
                  <a:pt x="3419" y="41"/>
                  <a:pt x="3427" y="53"/>
                  <a:pt x="3432" y="66"/>
                </a:cubicBezTo>
                <a:cubicBezTo>
                  <a:pt x="3438" y="79"/>
                  <a:pt x="3440" y="92"/>
                  <a:pt x="3440" y="106"/>
                </a:cubicBezTo>
                <a:lnTo>
                  <a:pt x="3440" y="345"/>
                </a:lnTo>
                <a:cubicBezTo>
                  <a:pt x="3440" y="359"/>
                  <a:pt x="3438" y="373"/>
                  <a:pt x="3432" y="386"/>
                </a:cubicBezTo>
                <a:cubicBezTo>
                  <a:pt x="3427" y="399"/>
                  <a:pt x="3419" y="410"/>
                  <a:pt x="3409" y="420"/>
                </a:cubicBezTo>
                <a:cubicBezTo>
                  <a:pt x="3399" y="430"/>
                  <a:pt x="3388" y="438"/>
                  <a:pt x="3375" y="443"/>
                </a:cubicBezTo>
                <a:cubicBezTo>
                  <a:pt x="3362" y="448"/>
                  <a:pt x="3348" y="451"/>
                  <a:pt x="3334" y="451"/>
                </a:cubicBezTo>
                <a:lnTo>
                  <a:pt x="105" y="451"/>
                </a:lnTo>
                <a:cubicBezTo>
                  <a:pt x="91" y="451"/>
                  <a:pt x="78" y="448"/>
                  <a:pt x="65" y="443"/>
                </a:cubicBezTo>
                <a:cubicBezTo>
                  <a:pt x="52" y="438"/>
                  <a:pt x="41" y="430"/>
                  <a:pt x="31" y="420"/>
                </a:cubicBezTo>
                <a:cubicBezTo>
                  <a:pt x="21" y="410"/>
                  <a:pt x="13" y="399"/>
                  <a:pt x="8" y="386"/>
                </a:cubicBezTo>
                <a:cubicBezTo>
                  <a:pt x="2" y="373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 txBox="1"/>
          <p:nvPr/>
        </p:nvSpPr>
        <p:spPr>
          <a:xfrm>
            <a:off x="8416800" y="4735440"/>
            <a:ext cx="335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污染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 txBox="1"/>
          <p:nvPr/>
        </p:nvSpPr>
        <p:spPr>
          <a:xfrm>
            <a:off x="8454960" y="4973400"/>
            <a:ext cx="2936367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Store无时序概念:旧map占坑/新任务冷启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 txBox="1"/>
          <p:nvPr/>
        </p:nvSpPr>
        <p:spPr>
          <a:xfrm>
            <a:off x="8416800" y="5221080"/>
            <a:ext cx="896112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→预取缺代表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 txBox="1"/>
          <p:nvPr/>
        </p:nvSpPr>
        <p:spPr>
          <a:xfrm>
            <a:off x="8871120" y="5610240"/>
            <a:ext cx="2219276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50" strike="noStrike" u="none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FineMoE从未把任务漂移作为评测轴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4319280" y="1261800"/>
            <a:ext cx="3553200" cy="4829760"/>
          </a:xfrm>
          <a:custGeom>
            <a:avLst/>
            <a:gdLst/>
            <a:ahLst/>
            <a:rect l="0" t="0" r="r" b="b"/>
            <a:pathLst>
              <a:path w="9870" h="13416">
                <a:moveTo>
                  <a:pt x="0" y="13217"/>
                </a:move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7" y="99"/>
                  <a:pt x="34" y="88"/>
                </a:cubicBezTo>
                <a:cubicBezTo>
                  <a:pt x="41" y="78"/>
                  <a:pt x="49" y="68"/>
                  <a:pt x="58" y="58"/>
                </a:cubicBezTo>
                <a:cubicBezTo>
                  <a:pt x="68" y="49"/>
                  <a:pt x="78" y="41"/>
                  <a:pt x="89" y="34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9672" y="0"/>
                </a:lnTo>
                <a:cubicBezTo>
                  <a:pt x="9685" y="0"/>
                  <a:pt x="9698" y="1"/>
                  <a:pt x="9711" y="4"/>
                </a:cubicBezTo>
                <a:cubicBezTo>
                  <a:pt x="9723" y="7"/>
                  <a:pt x="9736" y="10"/>
                  <a:pt x="9748" y="15"/>
                </a:cubicBezTo>
                <a:cubicBezTo>
                  <a:pt x="9760" y="20"/>
                  <a:pt x="9771" y="26"/>
                  <a:pt x="9782" y="34"/>
                </a:cubicBezTo>
                <a:cubicBezTo>
                  <a:pt x="9793" y="41"/>
                  <a:pt x="9803" y="49"/>
                  <a:pt x="9812" y="58"/>
                </a:cubicBezTo>
                <a:cubicBezTo>
                  <a:pt x="9821" y="68"/>
                  <a:pt x="9830" y="78"/>
                  <a:pt x="9837" y="88"/>
                </a:cubicBezTo>
                <a:cubicBezTo>
                  <a:pt x="9844" y="99"/>
                  <a:pt x="9850" y="111"/>
                  <a:pt x="9855" y="123"/>
                </a:cubicBezTo>
                <a:cubicBezTo>
                  <a:pt x="9860" y="135"/>
                  <a:pt x="9864" y="147"/>
                  <a:pt x="9866" y="160"/>
                </a:cubicBezTo>
                <a:cubicBezTo>
                  <a:pt x="9869" y="173"/>
                  <a:pt x="9870" y="186"/>
                  <a:pt x="9870" y="199"/>
                </a:cubicBezTo>
                <a:lnTo>
                  <a:pt x="9870" y="13217"/>
                </a:lnTo>
                <a:cubicBezTo>
                  <a:pt x="9870" y="13230"/>
                  <a:pt x="9869" y="13243"/>
                  <a:pt x="9866" y="13256"/>
                </a:cubicBezTo>
                <a:cubicBezTo>
                  <a:pt x="9864" y="13269"/>
                  <a:pt x="9860" y="13281"/>
                  <a:pt x="9855" y="13293"/>
                </a:cubicBezTo>
                <a:cubicBezTo>
                  <a:pt x="9850" y="13305"/>
                  <a:pt x="9844" y="13317"/>
                  <a:pt x="9837" y="13327"/>
                </a:cubicBezTo>
                <a:cubicBezTo>
                  <a:pt x="9830" y="13338"/>
                  <a:pt x="9821" y="13348"/>
                  <a:pt x="9812" y="13357"/>
                </a:cubicBezTo>
                <a:cubicBezTo>
                  <a:pt x="9803" y="13367"/>
                  <a:pt x="9793" y="13375"/>
                  <a:pt x="9782" y="13382"/>
                </a:cubicBezTo>
                <a:cubicBezTo>
                  <a:pt x="9771" y="13389"/>
                  <a:pt x="9760" y="13396"/>
                  <a:pt x="9748" y="13400"/>
                </a:cubicBezTo>
                <a:cubicBezTo>
                  <a:pt x="9736" y="13405"/>
                  <a:pt x="9723" y="13409"/>
                  <a:pt x="9711" y="13412"/>
                </a:cubicBezTo>
                <a:cubicBezTo>
                  <a:pt x="9698" y="13414"/>
                  <a:pt x="9685" y="13416"/>
                  <a:pt x="9672" y="13416"/>
                </a:cubicBezTo>
                <a:lnTo>
                  <a:pt x="199" y="13416"/>
                </a:lnTo>
                <a:cubicBezTo>
                  <a:pt x="186" y="13416"/>
                  <a:pt x="173" y="13414"/>
                  <a:pt x="160" y="13412"/>
                </a:cubicBezTo>
                <a:cubicBezTo>
                  <a:pt x="147" y="13409"/>
                  <a:pt x="135" y="13405"/>
                  <a:pt x="123" y="13400"/>
                </a:cubicBezTo>
                <a:cubicBezTo>
                  <a:pt x="111" y="13396"/>
                  <a:pt x="99" y="13389"/>
                  <a:pt x="89" y="13382"/>
                </a:cubicBezTo>
                <a:cubicBezTo>
                  <a:pt x="78" y="13375"/>
                  <a:pt x="68" y="13367"/>
                  <a:pt x="58" y="13357"/>
                </a:cubicBezTo>
                <a:cubicBezTo>
                  <a:pt x="49" y="13348"/>
                  <a:pt x="41" y="13338"/>
                  <a:pt x="34" y="13327"/>
                </a:cubicBezTo>
                <a:cubicBezTo>
                  <a:pt x="27" y="13317"/>
                  <a:pt x="20" y="13305"/>
                  <a:pt x="15" y="13293"/>
                </a:cubicBezTo>
                <a:cubicBezTo>
                  <a:pt x="10" y="13281"/>
                  <a:pt x="7" y="13269"/>
                  <a:pt x="4" y="13256"/>
                </a:cubicBezTo>
                <a:cubicBezTo>
                  <a:pt x="2" y="13243"/>
                  <a:pt x="0" y="13230"/>
                  <a:pt x="0" y="132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4319280" y="1261800"/>
            <a:ext cx="3553200" cy="4829760"/>
          </a:xfrm>
          <a:custGeom>
            <a:avLst/>
            <a:gdLst/>
            <a:ahLst/>
            <a:rect l="0" t="0" r="r" b="b"/>
            <a:pathLst>
              <a:path fill="none" w="9870" h="13416">
                <a:moveTo>
                  <a:pt x="0" y="13217"/>
                </a:move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7" y="99"/>
                  <a:pt x="34" y="88"/>
                </a:cubicBezTo>
                <a:cubicBezTo>
                  <a:pt x="41" y="78"/>
                  <a:pt x="49" y="68"/>
                  <a:pt x="58" y="58"/>
                </a:cubicBezTo>
                <a:cubicBezTo>
                  <a:pt x="68" y="49"/>
                  <a:pt x="78" y="41"/>
                  <a:pt x="89" y="34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9672" y="0"/>
                </a:lnTo>
                <a:cubicBezTo>
                  <a:pt x="9685" y="0"/>
                  <a:pt x="9698" y="1"/>
                  <a:pt x="9711" y="4"/>
                </a:cubicBezTo>
                <a:cubicBezTo>
                  <a:pt x="9723" y="7"/>
                  <a:pt x="9736" y="10"/>
                  <a:pt x="9748" y="15"/>
                </a:cubicBezTo>
                <a:cubicBezTo>
                  <a:pt x="9760" y="20"/>
                  <a:pt x="9771" y="26"/>
                  <a:pt x="9782" y="34"/>
                </a:cubicBezTo>
                <a:cubicBezTo>
                  <a:pt x="9793" y="41"/>
                  <a:pt x="9803" y="49"/>
                  <a:pt x="9812" y="58"/>
                </a:cubicBezTo>
                <a:cubicBezTo>
                  <a:pt x="9821" y="68"/>
                  <a:pt x="9830" y="78"/>
                  <a:pt x="9837" y="88"/>
                </a:cubicBezTo>
                <a:cubicBezTo>
                  <a:pt x="9844" y="99"/>
                  <a:pt x="9850" y="111"/>
                  <a:pt x="9855" y="123"/>
                </a:cubicBezTo>
                <a:cubicBezTo>
                  <a:pt x="9860" y="135"/>
                  <a:pt x="9864" y="147"/>
                  <a:pt x="9866" y="160"/>
                </a:cubicBezTo>
                <a:cubicBezTo>
                  <a:pt x="9869" y="173"/>
                  <a:pt x="9870" y="186"/>
                  <a:pt x="9870" y="199"/>
                </a:cubicBezTo>
                <a:lnTo>
                  <a:pt x="9870" y="13217"/>
                </a:lnTo>
                <a:cubicBezTo>
                  <a:pt x="9870" y="13230"/>
                  <a:pt x="9869" y="13243"/>
                  <a:pt x="9866" y="13256"/>
                </a:cubicBezTo>
                <a:cubicBezTo>
                  <a:pt x="9864" y="13269"/>
                  <a:pt x="9860" y="13281"/>
                  <a:pt x="9855" y="13293"/>
                </a:cubicBezTo>
                <a:cubicBezTo>
                  <a:pt x="9850" y="13305"/>
                  <a:pt x="9844" y="13317"/>
                  <a:pt x="9837" y="13327"/>
                </a:cubicBezTo>
                <a:cubicBezTo>
                  <a:pt x="9830" y="13338"/>
                  <a:pt x="9821" y="13348"/>
                  <a:pt x="9812" y="13357"/>
                </a:cubicBezTo>
                <a:cubicBezTo>
                  <a:pt x="9803" y="13367"/>
                  <a:pt x="9793" y="13375"/>
                  <a:pt x="9782" y="13382"/>
                </a:cubicBezTo>
                <a:cubicBezTo>
                  <a:pt x="9771" y="13389"/>
                  <a:pt x="9760" y="13396"/>
                  <a:pt x="9748" y="13400"/>
                </a:cubicBezTo>
                <a:cubicBezTo>
                  <a:pt x="9736" y="13405"/>
                  <a:pt x="9723" y="13409"/>
                  <a:pt x="9711" y="13412"/>
                </a:cubicBezTo>
                <a:cubicBezTo>
                  <a:pt x="9698" y="13414"/>
                  <a:pt x="9685" y="13416"/>
                  <a:pt x="9672" y="13416"/>
                </a:cubicBezTo>
                <a:lnTo>
                  <a:pt x="199" y="13416"/>
                </a:lnTo>
                <a:cubicBezTo>
                  <a:pt x="186" y="13416"/>
                  <a:pt x="173" y="13414"/>
                  <a:pt x="160" y="13412"/>
                </a:cubicBezTo>
                <a:cubicBezTo>
                  <a:pt x="147" y="13409"/>
                  <a:pt x="135" y="13405"/>
                  <a:pt x="123" y="13400"/>
                </a:cubicBezTo>
                <a:cubicBezTo>
                  <a:pt x="111" y="13396"/>
                  <a:pt x="99" y="13389"/>
                  <a:pt x="89" y="13382"/>
                </a:cubicBezTo>
                <a:cubicBezTo>
                  <a:pt x="78" y="13375"/>
                  <a:pt x="68" y="13367"/>
                  <a:pt x="58" y="13357"/>
                </a:cubicBezTo>
                <a:cubicBezTo>
                  <a:pt x="49" y="13348"/>
                  <a:pt x="41" y="13338"/>
                  <a:pt x="34" y="13327"/>
                </a:cubicBezTo>
                <a:cubicBezTo>
                  <a:pt x="27" y="13317"/>
                  <a:pt x="20" y="13305"/>
                  <a:pt x="15" y="13293"/>
                </a:cubicBezTo>
                <a:cubicBezTo>
                  <a:pt x="10" y="13281"/>
                  <a:pt x="7" y="13269"/>
                  <a:pt x="4" y="13256"/>
                </a:cubicBezTo>
                <a:cubicBezTo>
                  <a:pt x="2" y="13243"/>
                  <a:pt x="0" y="13230"/>
                  <a:pt x="0" y="13217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5352840" y="1514160"/>
            <a:ext cx="1486440" cy="1486440"/>
          </a:xfrm>
          <a:custGeom>
            <a:avLst/>
            <a:gdLst/>
            <a:ahLst/>
            <a:rect l="0" t="0" r="r" b="b"/>
            <a:pathLst>
              <a:path fill="none" w="4129" h="4129">
                <a:moveTo>
                  <a:pt x="4129" y="2065"/>
                </a:moveTo>
                <a:cubicBezTo>
                  <a:pt x="4129" y="2133"/>
                  <a:pt x="4125" y="2200"/>
                  <a:pt x="4119" y="2267"/>
                </a:cubicBezTo>
                <a:cubicBezTo>
                  <a:pt x="4112" y="2335"/>
                  <a:pt x="4102" y="2401"/>
                  <a:pt x="4089" y="2468"/>
                </a:cubicBezTo>
                <a:cubicBezTo>
                  <a:pt x="4076" y="2534"/>
                  <a:pt x="4059" y="2600"/>
                  <a:pt x="4040" y="2664"/>
                </a:cubicBezTo>
                <a:cubicBezTo>
                  <a:pt x="4020" y="2729"/>
                  <a:pt x="3997" y="2792"/>
                  <a:pt x="3971" y="2855"/>
                </a:cubicBezTo>
                <a:cubicBezTo>
                  <a:pt x="3946" y="2917"/>
                  <a:pt x="3917" y="2978"/>
                  <a:pt x="3885" y="3038"/>
                </a:cubicBezTo>
                <a:cubicBezTo>
                  <a:pt x="3853" y="3098"/>
                  <a:pt x="3818" y="3155"/>
                  <a:pt x="3781" y="3212"/>
                </a:cubicBezTo>
                <a:cubicBezTo>
                  <a:pt x="3743" y="3268"/>
                  <a:pt x="3702" y="3322"/>
                  <a:pt x="3659" y="3374"/>
                </a:cubicBezTo>
                <a:cubicBezTo>
                  <a:pt x="3616" y="3427"/>
                  <a:pt x="3571" y="3477"/>
                  <a:pt x="3523" y="3524"/>
                </a:cubicBezTo>
                <a:cubicBezTo>
                  <a:pt x="3475" y="3572"/>
                  <a:pt x="3425" y="3618"/>
                  <a:pt x="3373" y="3660"/>
                </a:cubicBezTo>
                <a:cubicBezTo>
                  <a:pt x="3321" y="3703"/>
                  <a:pt x="3267" y="3744"/>
                  <a:pt x="3210" y="3781"/>
                </a:cubicBezTo>
                <a:cubicBezTo>
                  <a:pt x="3154" y="3819"/>
                  <a:pt x="3096" y="3853"/>
                  <a:pt x="3037" y="3885"/>
                </a:cubicBezTo>
                <a:cubicBezTo>
                  <a:pt x="2977" y="3917"/>
                  <a:pt x="2916" y="3946"/>
                  <a:pt x="2854" y="3972"/>
                </a:cubicBezTo>
                <a:cubicBezTo>
                  <a:pt x="2791" y="3998"/>
                  <a:pt x="2728" y="4020"/>
                  <a:pt x="2663" y="4040"/>
                </a:cubicBezTo>
                <a:cubicBezTo>
                  <a:pt x="2598" y="4060"/>
                  <a:pt x="2533" y="4076"/>
                  <a:pt x="2466" y="4089"/>
                </a:cubicBezTo>
                <a:cubicBezTo>
                  <a:pt x="2400" y="4102"/>
                  <a:pt x="2333" y="4112"/>
                  <a:pt x="2266" y="4119"/>
                </a:cubicBezTo>
                <a:cubicBezTo>
                  <a:pt x="2199" y="4126"/>
                  <a:pt x="2131" y="4129"/>
                  <a:pt x="2064" y="4129"/>
                </a:cubicBezTo>
                <a:cubicBezTo>
                  <a:pt x="1996" y="4129"/>
                  <a:pt x="1929" y="4126"/>
                  <a:pt x="1862" y="4119"/>
                </a:cubicBezTo>
                <a:cubicBezTo>
                  <a:pt x="1794" y="4112"/>
                  <a:pt x="1728" y="4102"/>
                  <a:pt x="1661" y="4089"/>
                </a:cubicBezTo>
                <a:cubicBezTo>
                  <a:pt x="1595" y="4076"/>
                  <a:pt x="1529" y="4060"/>
                  <a:pt x="1465" y="4040"/>
                </a:cubicBezTo>
                <a:cubicBezTo>
                  <a:pt x="1400" y="4020"/>
                  <a:pt x="1337" y="3998"/>
                  <a:pt x="1274" y="3972"/>
                </a:cubicBezTo>
                <a:cubicBezTo>
                  <a:pt x="1212" y="3946"/>
                  <a:pt x="1151" y="3917"/>
                  <a:pt x="1091" y="3885"/>
                </a:cubicBezTo>
                <a:cubicBezTo>
                  <a:pt x="1031" y="3853"/>
                  <a:pt x="973" y="3819"/>
                  <a:pt x="917" y="3781"/>
                </a:cubicBezTo>
                <a:cubicBezTo>
                  <a:pt x="861" y="3744"/>
                  <a:pt x="807" y="3703"/>
                  <a:pt x="755" y="3660"/>
                </a:cubicBezTo>
                <a:cubicBezTo>
                  <a:pt x="702" y="3618"/>
                  <a:pt x="652" y="3572"/>
                  <a:pt x="605" y="3524"/>
                </a:cubicBezTo>
                <a:cubicBezTo>
                  <a:pt x="557" y="3477"/>
                  <a:pt x="511" y="3427"/>
                  <a:pt x="469" y="3374"/>
                </a:cubicBezTo>
                <a:cubicBezTo>
                  <a:pt x="426" y="3322"/>
                  <a:pt x="385" y="3268"/>
                  <a:pt x="348" y="3212"/>
                </a:cubicBezTo>
                <a:cubicBezTo>
                  <a:pt x="310" y="3155"/>
                  <a:pt x="276" y="3098"/>
                  <a:pt x="244" y="3038"/>
                </a:cubicBezTo>
                <a:cubicBezTo>
                  <a:pt x="212" y="2978"/>
                  <a:pt x="183" y="2917"/>
                  <a:pt x="157" y="2855"/>
                </a:cubicBezTo>
                <a:cubicBezTo>
                  <a:pt x="131" y="2792"/>
                  <a:pt x="109" y="2729"/>
                  <a:pt x="89" y="2664"/>
                </a:cubicBezTo>
                <a:cubicBezTo>
                  <a:pt x="69" y="2600"/>
                  <a:pt x="53" y="2534"/>
                  <a:pt x="40" y="2468"/>
                </a:cubicBezTo>
                <a:cubicBezTo>
                  <a:pt x="27" y="2401"/>
                  <a:pt x="17" y="2335"/>
                  <a:pt x="10" y="2267"/>
                </a:cubicBezTo>
                <a:cubicBezTo>
                  <a:pt x="3" y="2200"/>
                  <a:pt x="0" y="2133"/>
                  <a:pt x="0" y="2065"/>
                </a:cubicBezTo>
                <a:cubicBezTo>
                  <a:pt x="0" y="1998"/>
                  <a:pt x="3" y="1929"/>
                  <a:pt x="10" y="1862"/>
                </a:cubicBezTo>
                <a:cubicBezTo>
                  <a:pt x="17" y="1795"/>
                  <a:pt x="27" y="1728"/>
                  <a:pt x="40" y="1662"/>
                </a:cubicBezTo>
                <a:cubicBezTo>
                  <a:pt x="53" y="1595"/>
                  <a:pt x="69" y="1530"/>
                  <a:pt x="89" y="1465"/>
                </a:cubicBezTo>
                <a:cubicBezTo>
                  <a:pt x="109" y="1400"/>
                  <a:pt x="131" y="1337"/>
                  <a:pt x="157" y="1274"/>
                </a:cubicBezTo>
                <a:cubicBezTo>
                  <a:pt x="183" y="1212"/>
                  <a:pt x="212" y="1151"/>
                  <a:pt x="244" y="1091"/>
                </a:cubicBezTo>
                <a:cubicBezTo>
                  <a:pt x="276" y="1032"/>
                  <a:pt x="310" y="974"/>
                  <a:pt x="348" y="918"/>
                </a:cubicBezTo>
                <a:cubicBezTo>
                  <a:pt x="385" y="861"/>
                  <a:pt x="426" y="807"/>
                  <a:pt x="469" y="755"/>
                </a:cubicBezTo>
                <a:cubicBezTo>
                  <a:pt x="511" y="703"/>
                  <a:pt x="557" y="653"/>
                  <a:pt x="605" y="605"/>
                </a:cubicBezTo>
                <a:cubicBezTo>
                  <a:pt x="652" y="557"/>
                  <a:pt x="702" y="512"/>
                  <a:pt x="755" y="469"/>
                </a:cubicBezTo>
                <a:cubicBezTo>
                  <a:pt x="807" y="426"/>
                  <a:pt x="861" y="386"/>
                  <a:pt x="917" y="348"/>
                </a:cubicBezTo>
                <a:cubicBezTo>
                  <a:pt x="973" y="311"/>
                  <a:pt x="1031" y="276"/>
                  <a:pt x="1091" y="244"/>
                </a:cubicBezTo>
                <a:cubicBezTo>
                  <a:pt x="1151" y="212"/>
                  <a:pt x="1212" y="183"/>
                  <a:pt x="1274" y="157"/>
                </a:cubicBezTo>
                <a:cubicBezTo>
                  <a:pt x="1337" y="132"/>
                  <a:pt x="1400" y="109"/>
                  <a:pt x="1465" y="89"/>
                </a:cubicBezTo>
                <a:cubicBezTo>
                  <a:pt x="1529" y="70"/>
                  <a:pt x="1595" y="53"/>
                  <a:pt x="1661" y="40"/>
                </a:cubicBezTo>
                <a:cubicBezTo>
                  <a:pt x="1728" y="27"/>
                  <a:pt x="1794" y="17"/>
                  <a:pt x="1862" y="10"/>
                </a:cubicBezTo>
                <a:cubicBezTo>
                  <a:pt x="1929" y="4"/>
                  <a:pt x="1996" y="0"/>
                  <a:pt x="2064" y="0"/>
                </a:cubicBezTo>
                <a:cubicBezTo>
                  <a:pt x="2131" y="0"/>
                  <a:pt x="2199" y="4"/>
                  <a:pt x="2266" y="10"/>
                </a:cubicBezTo>
                <a:cubicBezTo>
                  <a:pt x="2333" y="17"/>
                  <a:pt x="2400" y="27"/>
                  <a:pt x="2466" y="40"/>
                </a:cubicBezTo>
                <a:cubicBezTo>
                  <a:pt x="2533" y="53"/>
                  <a:pt x="2598" y="70"/>
                  <a:pt x="2663" y="89"/>
                </a:cubicBezTo>
                <a:cubicBezTo>
                  <a:pt x="2728" y="109"/>
                  <a:pt x="2791" y="132"/>
                  <a:pt x="2854" y="157"/>
                </a:cubicBezTo>
                <a:cubicBezTo>
                  <a:pt x="2916" y="183"/>
                  <a:pt x="2977" y="212"/>
                  <a:pt x="3037" y="244"/>
                </a:cubicBezTo>
                <a:cubicBezTo>
                  <a:pt x="3096" y="276"/>
                  <a:pt x="3154" y="311"/>
                  <a:pt x="3210" y="348"/>
                </a:cubicBezTo>
                <a:cubicBezTo>
                  <a:pt x="3267" y="386"/>
                  <a:pt x="3321" y="426"/>
                  <a:pt x="3373" y="469"/>
                </a:cubicBezTo>
                <a:cubicBezTo>
                  <a:pt x="3425" y="512"/>
                  <a:pt x="3475" y="557"/>
                  <a:pt x="3523" y="605"/>
                </a:cubicBezTo>
                <a:cubicBezTo>
                  <a:pt x="3571" y="653"/>
                  <a:pt x="3616" y="703"/>
                  <a:pt x="3659" y="755"/>
                </a:cubicBezTo>
                <a:cubicBezTo>
                  <a:pt x="3702" y="807"/>
                  <a:pt x="3743" y="861"/>
                  <a:pt x="3781" y="918"/>
                </a:cubicBezTo>
                <a:cubicBezTo>
                  <a:pt x="3818" y="974"/>
                  <a:pt x="3853" y="1032"/>
                  <a:pt x="3885" y="1091"/>
                </a:cubicBezTo>
                <a:cubicBezTo>
                  <a:pt x="3917" y="1151"/>
                  <a:pt x="3946" y="1212"/>
                  <a:pt x="3971" y="1274"/>
                </a:cubicBezTo>
                <a:cubicBezTo>
                  <a:pt x="3997" y="1337"/>
                  <a:pt x="4020" y="1400"/>
                  <a:pt x="4040" y="1465"/>
                </a:cubicBezTo>
                <a:cubicBezTo>
                  <a:pt x="4059" y="1530"/>
                  <a:pt x="4076" y="1595"/>
                  <a:pt x="4089" y="1662"/>
                </a:cubicBezTo>
                <a:cubicBezTo>
                  <a:pt x="4102" y="1728"/>
                  <a:pt x="4112" y="1795"/>
                  <a:pt x="4119" y="1862"/>
                </a:cubicBezTo>
                <a:cubicBezTo>
                  <a:pt x="4125" y="1929"/>
                  <a:pt x="4129" y="1998"/>
                  <a:pt x="4129" y="2065"/>
                </a:cubicBezTo>
              </a:path>
            </a:pathLst>
          </a:custGeom>
          <a:ln w="37800">
            <a:solidFill>
              <a:srgbClr val="ffffff"/>
            </a:solidFill>
            <a:miter/>
          </a:ln>
        </p:spPr>
        <p:txBody>
          <a:bodyPr lIns="18720" rIns="18720" tIns="18720" bIns="1872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25" name="" descr=""/>
          <p:cNvPicPr/>
          <p:nvPr/>
        </p:nvPicPr>
        <p:blipFill>
          <a:blip r:embed="rId5"/>
          <a:stretch/>
        </p:blipFill>
        <p:spPr>
          <a:xfrm>
            <a:off x="5371920" y="153360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7" name=""/>
          <p:cNvSpPr txBox="1"/>
          <p:nvPr/>
        </p:nvSpPr>
        <p:spPr>
          <a:xfrm>
            <a:off x="5558040" y="1567080"/>
            <a:ext cx="313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MoE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 txBox="1"/>
          <p:nvPr/>
        </p:nvSpPr>
        <p:spPr>
          <a:xfrm>
            <a:off x="5871600" y="156348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系统中进⾏数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 txBox="1"/>
          <p:nvPr/>
        </p:nvSpPr>
        <p:spPr>
          <a:xfrm>
            <a:off x="5638680" y="181116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据检索的节点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4552920" y="3705120"/>
            <a:ext cx="1267200" cy="162360"/>
          </a:xfrm>
          <a:custGeom>
            <a:avLst/>
            <a:gdLst/>
            <a:ahLst/>
            <a:rect l="0" t="0" r="r" b="b"/>
            <a:pathLst>
              <a:path w="3520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3414" y="0"/>
                </a:lnTo>
                <a:cubicBezTo>
                  <a:pt x="3428" y="0"/>
                  <a:pt x="3441" y="2"/>
                  <a:pt x="3454" y="8"/>
                </a:cubicBezTo>
                <a:cubicBezTo>
                  <a:pt x="3467" y="13"/>
                  <a:pt x="3479" y="21"/>
                  <a:pt x="3489" y="31"/>
                </a:cubicBezTo>
                <a:cubicBezTo>
                  <a:pt x="3498" y="41"/>
                  <a:pt x="3506" y="52"/>
                  <a:pt x="3511" y="65"/>
                </a:cubicBezTo>
                <a:cubicBezTo>
                  <a:pt x="3517" y="78"/>
                  <a:pt x="3520" y="92"/>
                  <a:pt x="3520" y="106"/>
                </a:cubicBezTo>
                <a:lnTo>
                  <a:pt x="3520" y="345"/>
                </a:lnTo>
                <a:cubicBezTo>
                  <a:pt x="3520" y="359"/>
                  <a:pt x="3517" y="372"/>
                  <a:pt x="3511" y="385"/>
                </a:cubicBezTo>
                <a:cubicBezTo>
                  <a:pt x="3506" y="398"/>
                  <a:pt x="3498" y="410"/>
                  <a:pt x="3489" y="420"/>
                </a:cubicBezTo>
                <a:cubicBezTo>
                  <a:pt x="3479" y="430"/>
                  <a:pt x="3467" y="437"/>
                  <a:pt x="3454" y="443"/>
                </a:cubicBezTo>
                <a:cubicBezTo>
                  <a:pt x="3441" y="448"/>
                  <a:pt x="3428" y="451"/>
                  <a:pt x="3414" y="451"/>
                </a:cubicBezTo>
                <a:lnTo>
                  <a:pt x="105" y="451"/>
                </a:lnTo>
                <a:cubicBezTo>
                  <a:pt x="91" y="451"/>
                  <a:pt x="78" y="448"/>
                  <a:pt x="65" y="443"/>
                </a:cubicBezTo>
                <a:cubicBezTo>
                  <a:pt x="52" y="437"/>
                  <a:pt x="41" y="430"/>
                  <a:pt x="31" y="420"/>
                </a:cubicBezTo>
                <a:cubicBezTo>
                  <a:pt x="21" y="410"/>
                  <a:pt x="13" y="398"/>
                  <a:pt x="8" y="385"/>
                </a:cubicBezTo>
                <a:cubicBezTo>
                  <a:pt x="2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 txBox="1"/>
          <p:nvPr/>
        </p:nvSpPr>
        <p:spPr>
          <a:xfrm>
            <a:off x="5715000" y="3271320"/>
            <a:ext cx="9220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核心机制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 txBox="1"/>
          <p:nvPr/>
        </p:nvSpPr>
        <p:spPr>
          <a:xfrm>
            <a:off x="4594320" y="3697200"/>
            <a:ext cx="31526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Expert Map Store : 记录历史逐层专家路由概</a:t>
            </a:r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 :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4552920" y="4190760"/>
            <a:ext cx="1629000" cy="162360"/>
          </a:xfrm>
          <a:custGeom>
            <a:avLst/>
            <a:gdLst/>
            <a:ahLst/>
            <a:rect l="0" t="0" r="r" b="b"/>
            <a:pathLst>
              <a:path w="4525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4419" y="0"/>
                </a:lnTo>
                <a:cubicBezTo>
                  <a:pt x="4433" y="0"/>
                  <a:pt x="4447" y="3"/>
                  <a:pt x="4460" y="8"/>
                </a:cubicBezTo>
                <a:cubicBezTo>
                  <a:pt x="4473" y="14"/>
                  <a:pt x="4484" y="21"/>
                  <a:pt x="4494" y="31"/>
                </a:cubicBezTo>
                <a:cubicBezTo>
                  <a:pt x="4504" y="41"/>
                  <a:pt x="4512" y="53"/>
                  <a:pt x="4517" y="65"/>
                </a:cubicBezTo>
                <a:cubicBezTo>
                  <a:pt x="4522" y="78"/>
                  <a:pt x="4525" y="92"/>
                  <a:pt x="4525" y="106"/>
                </a:cubicBezTo>
                <a:lnTo>
                  <a:pt x="4525" y="345"/>
                </a:lnTo>
                <a:cubicBezTo>
                  <a:pt x="4525" y="359"/>
                  <a:pt x="4522" y="373"/>
                  <a:pt x="4517" y="386"/>
                </a:cubicBezTo>
                <a:cubicBezTo>
                  <a:pt x="4512" y="399"/>
                  <a:pt x="4504" y="410"/>
                  <a:pt x="4494" y="420"/>
                </a:cubicBezTo>
                <a:cubicBezTo>
                  <a:pt x="4484" y="430"/>
                  <a:pt x="4473" y="438"/>
                  <a:pt x="4460" y="443"/>
                </a:cubicBezTo>
                <a:cubicBezTo>
                  <a:pt x="4447" y="448"/>
                  <a:pt x="4433" y="451"/>
                  <a:pt x="4419" y="451"/>
                </a:cubicBezTo>
                <a:lnTo>
                  <a:pt x="105" y="451"/>
                </a:lnTo>
                <a:cubicBezTo>
                  <a:pt x="91" y="451"/>
                  <a:pt x="78" y="448"/>
                  <a:pt x="65" y="443"/>
                </a:cubicBezTo>
                <a:cubicBezTo>
                  <a:pt x="52" y="438"/>
                  <a:pt x="41" y="430"/>
                  <a:pt x="31" y="420"/>
                </a:cubicBezTo>
                <a:cubicBezTo>
                  <a:pt x="21" y="410"/>
                  <a:pt x="13" y="399"/>
                  <a:pt x="8" y="386"/>
                </a:cubicBezTo>
                <a:cubicBezTo>
                  <a:pt x="2" y="373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 txBox="1"/>
          <p:nvPr/>
        </p:nvSpPr>
        <p:spPr>
          <a:xfrm>
            <a:off x="4556160" y="3944880"/>
            <a:ext cx="502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率分布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 txBox="1"/>
          <p:nvPr/>
        </p:nvSpPr>
        <p:spPr>
          <a:xfrm>
            <a:off x="4594320" y="4182840"/>
            <a:ext cx="335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语义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 txBox="1"/>
          <p:nvPr/>
        </p:nvSpPr>
        <p:spPr>
          <a:xfrm>
            <a:off x="4898880" y="4186440"/>
            <a:ext cx="174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+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 txBox="1"/>
          <p:nvPr/>
        </p:nvSpPr>
        <p:spPr>
          <a:xfrm>
            <a:off x="5072760" y="4182840"/>
            <a:ext cx="24003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轨迹相似度检索:找最相似map预取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4552920" y="4438440"/>
            <a:ext cx="1019520" cy="162360"/>
          </a:xfrm>
          <a:custGeom>
            <a:avLst/>
            <a:gdLst/>
            <a:ahLst/>
            <a:rect l="0" t="0" r="r" b="b"/>
            <a:pathLst>
              <a:path w="2832" h="451">
                <a:moveTo>
                  <a:pt x="0" y="345"/>
                </a:moveTo>
                <a:lnTo>
                  <a:pt x="0" y="107"/>
                </a:ln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2" y="14"/>
                  <a:pt x="65" y="8"/>
                </a:cubicBezTo>
                <a:cubicBezTo>
                  <a:pt x="78" y="3"/>
                  <a:pt x="91" y="0"/>
                  <a:pt x="106" y="0"/>
                </a:cubicBezTo>
                <a:lnTo>
                  <a:pt x="2726" y="0"/>
                </a:lnTo>
                <a:cubicBezTo>
                  <a:pt x="2740" y="0"/>
                  <a:pt x="2753" y="3"/>
                  <a:pt x="2766" y="8"/>
                </a:cubicBezTo>
                <a:cubicBezTo>
                  <a:pt x="2779" y="14"/>
                  <a:pt x="2791" y="22"/>
                  <a:pt x="2801" y="32"/>
                </a:cubicBezTo>
                <a:cubicBezTo>
                  <a:pt x="2811" y="42"/>
                  <a:pt x="2818" y="53"/>
                  <a:pt x="2824" y="66"/>
                </a:cubicBezTo>
                <a:cubicBezTo>
                  <a:pt x="2829" y="79"/>
                  <a:pt x="2832" y="93"/>
                  <a:pt x="2832" y="107"/>
                </a:cubicBezTo>
                <a:lnTo>
                  <a:pt x="2832" y="345"/>
                </a:lnTo>
                <a:cubicBezTo>
                  <a:pt x="2832" y="359"/>
                  <a:pt x="2829" y="373"/>
                  <a:pt x="2824" y="386"/>
                </a:cubicBezTo>
                <a:cubicBezTo>
                  <a:pt x="2818" y="399"/>
                  <a:pt x="2811" y="410"/>
                  <a:pt x="2801" y="420"/>
                </a:cubicBezTo>
                <a:cubicBezTo>
                  <a:pt x="2791" y="430"/>
                  <a:pt x="2779" y="437"/>
                  <a:pt x="2766" y="443"/>
                </a:cubicBezTo>
                <a:cubicBezTo>
                  <a:pt x="2753" y="448"/>
                  <a:pt x="2740" y="451"/>
                  <a:pt x="2726" y="451"/>
                </a:cubicBezTo>
                <a:lnTo>
                  <a:pt x="106" y="451"/>
                </a:lnTo>
                <a:cubicBezTo>
                  <a:pt x="91" y="451"/>
                  <a:pt x="78" y="448"/>
                  <a:pt x="65" y="443"/>
                </a:cubicBezTo>
                <a:cubicBezTo>
                  <a:pt x="52" y="437"/>
                  <a:pt x="41" y="430"/>
                  <a:pt x="31" y="420"/>
                </a:cubicBezTo>
                <a:cubicBezTo>
                  <a:pt x="21" y="410"/>
                  <a:pt x="13" y="399"/>
                  <a:pt x="8" y="386"/>
                </a:cubicBezTo>
                <a:cubicBezTo>
                  <a:pt x="2" y="373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 txBox="1"/>
          <p:nvPr/>
        </p:nvSpPr>
        <p:spPr>
          <a:xfrm>
            <a:off x="4594320" y="4430520"/>
            <a:ext cx="2184273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LFU变体驱逐:论文明确拒绝LRU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249" name=""/>
          <ns0:cNvSpPr/>
          <ns0:nvPr/>
        </ns0:nvSpPr>
        <ns0:spPr>
          <ns1:xfrm>
            <ns1:off x="0" y="0"/>
            <ns1:ext cx="12192120" cy="6858000"/>
          </ns1:xfrm>
          <ns1:custGeom>
            <ns1:avLst/>
            <ns1:gdLst/>
            <ns1:ahLst/>
            <ns1:rect l="0" t="0" r="r" b="b"/>
            <ns1:pathLst>
              <ns1:path w="33867" h="19050">
                <ns1:moveTo>
                  <ns1:pt x="0" y="0"/>
                </ns1:moveTo>
                <ns1:lnTo>
                  <ns1:pt x="33867" y="0"/>
                </ns1:lnTo>
                <ns1:lnTo>
                  <ns1:pt x="33867" y="19050"/>
                </ns1:lnTo>
                <ns1:lnTo>
                  <ns1:pt x="0" y="1905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8f9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0" name=""/>
          <ns0:cNvSpPr/>
          <ns0:nvPr/>
        </ns0:nvSpPr>
        <ns0:spPr>
          <ns1:xfrm>
            <ns1:off x="4680" y="4680"/>
            <ns1:ext cx="12182760" cy="6848640"/>
          </ns1:xfrm>
          <ns1:custGeom>
            <ns1:avLst/>
            <ns1:gdLst/>
            <ns1:ahLst/>
            <ns1:rect l="0" t="0" r="r" b="b"/>
            <ns1:pathLst>
              <ns1:path fill="none" w="33841" h="19024">
                <ns1:moveTo>
                  <ns1:pt x="0" y="0"/>
                </ns1:moveTo>
                <ns1:lnTo>
                  <ns1:pt x="33841" y="0"/>
                </ns1:lnTo>
                <ns1:lnTo>
                  <ns1:pt x="33841" y="19024"/>
                </ns1:lnTo>
                <ns1:lnTo>
                  <ns1:pt x="0" y="19024"/>
                </ns1:lnTo>
                <ns1:lnTo>
                  <ns1:pt x="0" y="0"/>
                </ns1:lnTo>
              </ns1:path>
            </ns1:pathLst>
          </ns1:custGeom>
          <ns1:ln w="9360">
            <ns1:solidFill>
              <ns1:srgbClr val="c0c0c0"/>
            </ns1:solidFill>
            <ns1:miter/>
          </ns1:ln>
        </ns0:spPr>
        <ns0:txBody>
          <ns1:bodyPr lIns="4680" rIns="4680" tIns="4680" bIns="468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1" name=""/>
          <ns0:cNvSpPr/>
          <ns0:nvPr/>
        </ns0:nvSpPr>
        <ns0:spPr>
          <ns1:xfrm>
            <ns1:off x="9753480" y="0"/>
            <ns1:ext cx="2438640" cy="2438640"/>
          </ns1:xfrm>
          <ns1:custGeom>
            <ns1:avLst/>
            <ns1:gdLst/>
            <ns1:ahLst/>
            <ns1:rect l="0" t="0" r="r" b="b"/>
            <ns1:pathLst>
              <ns1:path w="6774" h="6774">
                <ns1:moveTo>
                  <ns1:pt x="0" y="0"/>
                </ns1:moveTo>
                <ns1:lnTo>
                  <ns1:pt x="6774" y="0"/>
                </ns1:lnTo>
                <ns1:lnTo>
                  <ns1:pt x="6774" y="6774"/>
                </ns1:lnTo>
                <ns1:cubicBezTo>
                  <ns1:pt x="6663" y="6774"/>
                  <ns1:pt x="6553" y="6771"/>
                  <ns1:pt x="6442" y="6766"/>
                </ns1:cubicBezTo>
                <ns1:cubicBezTo>
                  <ns1:pt x="6331" y="6760"/>
                  <ns1:pt x="6221" y="6752"/>
                  <ns1:pt x="6110" y="6741"/>
                </ns1:cubicBezTo>
                <ns1:cubicBezTo>
                  <ns1:pt x="6000" y="6730"/>
                  <ns1:pt x="5890" y="6717"/>
                  <ns1:pt x="5780" y="6701"/>
                </ns1:cubicBezTo>
                <ns1:cubicBezTo>
                  <ns1:pt x="5671" y="6684"/>
                  <ns1:pt x="5561" y="6665"/>
                  <ns1:pt x="5453" y="6644"/>
                </ns1:cubicBezTo>
                <ns1:cubicBezTo>
                  <ns1:pt x="5344" y="6622"/>
                  <ns1:pt x="5236" y="6598"/>
                  <ns1:pt x="5128" y="6571"/>
                </ns1:cubicBezTo>
                <ns1:cubicBezTo>
                  <ns1:pt x="5021" y="6544"/>
                  <ns1:pt x="4914" y="6514"/>
                  <ns1:pt x="4808" y="6482"/>
                </ns1:cubicBezTo>
                <ns1:cubicBezTo>
                  <ns1:pt x="4702" y="6450"/>
                  <ns1:pt x="4597" y="6415"/>
                  <ns1:pt x="4492" y="6378"/>
                </ns1:cubicBezTo>
                <ns1:cubicBezTo>
                  <ns1:pt x="4388" y="6341"/>
                  <ns1:pt x="4285" y="6301"/>
                  <ns1:pt x="4182" y="6258"/>
                </ns1:cubicBezTo>
                <ns1:cubicBezTo>
                  <ns1:pt x="4080" y="6216"/>
                  <ns1:pt x="3978" y="6171"/>
                  <ns1:pt x="3878" y="6124"/>
                </ns1:cubicBezTo>
                <ns1:cubicBezTo>
                  <ns1:pt x="3778" y="6076"/>
                  <ns1:pt x="3679" y="6026"/>
                  <ns1:pt x="3581" y="5974"/>
                </ns1:cubicBezTo>
                <ns1:cubicBezTo>
                  <ns1:pt x="3483" y="5922"/>
                  <ns1:pt x="3387" y="5867"/>
                  <ns1:pt x="3291" y="5810"/>
                </ns1:cubicBezTo>
                <ns1:cubicBezTo>
                  <ns1:pt x="3196" y="5753"/>
                  <ns1:pt x="3102" y="5694"/>
                  <ns1:pt x="3010" y="5632"/>
                </ns1:cubicBezTo>
                <ns1:cubicBezTo>
                  <ns1:pt x="2918" y="5571"/>
                  <ns1:pt x="2827" y="5507"/>
                  <ns1:pt x="2738" y="5441"/>
                </ns1:cubicBezTo>
                <ns1:cubicBezTo>
                  <ns1:pt x="2649" y="5375"/>
                  <ns1:pt x="2562" y="5307"/>
                  <ns1:pt x="2476" y="5236"/>
                </ns1:cubicBezTo>
                <ns1:cubicBezTo>
                  <ns1:pt x="2391" y="5166"/>
                  <ns1:pt x="2307" y="5094"/>
                  <ns1:pt x="2224" y="5019"/>
                </ns1:cubicBezTo>
                <ns1:cubicBezTo>
                  <ns1:pt x="2142" y="4945"/>
                  <ns1:pt x="2062" y="4868"/>
                  <ns1:pt x="1984" y="4790"/>
                </ns1:cubicBezTo>
                <ns1:cubicBezTo>
                  <ns1:pt x="1905" y="4712"/>
                  <ns1:pt x="1829" y="4631"/>
                  <ns1:pt x="1754" y="4549"/>
                </ns1:cubicBezTo>
                <ns1:cubicBezTo>
                  <ns1:pt x="1680" y="4467"/>
                  <ns1:pt x="1608" y="4383"/>
                  <ns1:pt x="1537" y="4297"/>
                </ns1:cubicBezTo>
                <ns1:cubicBezTo>
                  <ns1:pt x="1467" y="4212"/>
                  <ns1:pt x="1399" y="4124"/>
                  <ns1:pt x="1333" y="4035"/>
                </ns1:cubicBezTo>
                <ns1:cubicBezTo>
                  <ns1:pt x="1267" y="3946"/>
                  <ns1:pt x="1203" y="3856"/>
                  <ns1:pt x="1141" y="3764"/>
                </ns1:cubicBezTo>
                <ns1:cubicBezTo>
                  <ns1:pt x="1080" y="3671"/>
                  <ns1:pt x="1020" y="3578"/>
                  <ns1:pt x="963" y="3483"/>
                </ns1:cubicBezTo>
                <ns1:cubicBezTo>
                  <ns1:pt x="906" y="3388"/>
                  <ns1:pt x="852" y="3290"/>
                  <ns1:pt x="800" y="3192"/>
                </ns1:cubicBezTo>
                <ns1:cubicBezTo>
                  <ns1:pt x="747" y="3095"/>
                  <ns1:pt x="698" y="2996"/>
                  <ns1:pt x="650" y="2895"/>
                </ns1:cubicBezTo>
                <ns1:cubicBezTo>
                  <ns1:pt x="603" y="2795"/>
                  <ns1:pt x="558" y="2694"/>
                  <ns1:pt x="515" y="2592"/>
                </ns1:cubicBezTo>
                <ns1:cubicBezTo>
                  <ns1:pt x="473" y="2489"/>
                  <ns1:pt x="433" y="2386"/>
                  <ns1:pt x="396" y="2281"/>
                </ns1:cubicBezTo>
                <ns1:cubicBezTo>
                  <ns1:pt x="358" y="2177"/>
                  <ns1:pt x="324" y="2072"/>
                  <ns1:pt x="291" y="1966"/>
                </ns1:cubicBezTo>
                <ns1:cubicBezTo>
                  <ns1:pt x="259" y="1860"/>
                  <ns1:pt x="230" y="1753"/>
                  <ns1:pt x="203" y="1645"/>
                </ns1:cubicBezTo>
                <ns1:cubicBezTo>
                  <ns1:pt x="176" y="1538"/>
                  <ns1:pt x="152" y="1430"/>
                  <ns1:pt x="130" y="1321"/>
                </ns1:cubicBezTo>
                <ns1:cubicBezTo>
                  <ns1:pt x="108" y="1212"/>
                  <ns1:pt x="89" y="1103"/>
                  <ns1:pt x="73" y="993"/>
                </ns1:cubicBezTo>
                <ns1:cubicBezTo>
                  <ns1:pt x="57" y="884"/>
                  <ns1:pt x="43" y="774"/>
                  <ns1:pt x="32" y="663"/>
                </ns1:cubicBezTo>
                <ns1:cubicBezTo>
                  <ns1:pt x="22" y="553"/>
                  <ns1:pt x="13" y="443"/>
                  <ns1:pt x="8" y="332"/>
                </ns1:cubicBezTo>
                <ns1:cubicBezTo>
                  <ns1:pt x="3" y="221"/>
                  <ns1:pt x="0" y="110"/>
                  <ns1:pt x="0" y="0"/>
                </ns1:cubicBezTo>
                <ns1:close/>
              </ns1:path>
            </ns1:pathLst>
          </ns1:custGeom>
          <ns1:solidFill>
            <ns1:srgbClr val="bfdbfe">
              <ns1:alpha val="50000"/>
            </ns1:srgbClr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2" name=""/>
          <ns0:cNvSpPr/>
          <ns0:nvPr/>
        </ns0:nvSpPr>
        <ns0:spPr>
          <ns1:xfrm>
            <ns1:off x="0" y="5028840"/>
            <ns1:ext cx="1828800" cy="617040"/>
          </ns1:xfrm>
          <ns1:custGeom>
            <ns1:avLst/>
            <ns1:gdLst/>
            <ns1:ahLst/>
            <ns1:rect l="0" t="0" r="r" b="b"/>
            <ns1:pathLst>
              <ns1:path w="5080" h="1714">
                <ns1:moveTo>
                  <ns1:pt x="2900" y="1303"/>
                </ns1:moveTo>
                <ns1:cubicBezTo>
                  <ns1:pt x="2735" y="1176"/>
                  <ns1:pt x="2562" y="1061"/>
                  <ns1:pt x="2381" y="957"/>
                </ns1:cubicBezTo>
                <ns1:cubicBezTo>
                  <ns1:pt x="2201" y="853"/>
                  <ns1:pt x="2014" y="761"/>
                  <ns1:pt x="1822" y="682"/>
                </ns1:cubicBezTo>
                <ns1:cubicBezTo>
                  <ns1:pt x="1630" y="602"/>
                  <ns1:pt x="1433" y="534"/>
                  <ns1:pt x="1232" y="480"/>
                </ns1:cubicBezTo>
                <ns1:cubicBezTo>
                  <ns1:pt x="1031" y="426"/>
                  <ns1:pt x="827" y="386"/>
                  <ns1:pt x="621" y="359"/>
                </ns1:cubicBezTo>
                <ns1:cubicBezTo>
                  <ns1:pt x="520" y="345"/>
                  <ns1:pt x="419" y="335"/>
                  <ns1:pt x="317" y="329"/>
                </ns1:cubicBezTo>
                <ns1:lnTo>
                  <ns1:pt x="317" y="318"/>
                </ns1:lnTo>
                <ns1:lnTo>
                  <ns1:pt x="0" y="0"/>
                </ns1:lnTo>
                <ns1:lnTo>
                  <ns1:pt x="5080" y="0"/>
                </ns1:lnTo>
                <ns1:lnTo>
                  <ns1:pt x="3368" y="1714"/>
                </ns1:lnTo>
                <ns1:cubicBezTo>
                  <ns1:pt x="3221" y="1567"/>
                  <ns1:pt x="3065" y="1430"/>
                  <ns1:pt x="2900" y="1303"/>
                </ns1:cubicBezTo>
                <ns1:close/>
              </ns1:path>
            </ns1:pathLst>
          </ns1:custGeom>
          <ns1:solidFill>
            <ns1:srgbClr val="60a5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3" name=""/>
          <ns0:cNvSpPr/>
          <ns0:nvPr/>
        </ns0:nvSpPr>
        <ns0:spPr>
          <ns1:xfrm>
            <ns1:off x="0" y="6743520"/>
            <ns1:ext cx="1828800" cy="114480"/>
          </ns1:xfrm>
          <ns1:custGeom>
            <ns1:avLst/>
            <ns1:gdLst/>
            <ns1:ahLst/>
            <ns1:rect l="0" t="0" r="r" b="b"/>
            <ns1:pathLst>
              <ns1:path w="5080" h="318">
                <ns1:moveTo>
                  <ns1:pt x="0" y="0"/>
                </ns1:moveTo>
                <ns1:lnTo>
                  <ns1:pt x="5080" y="0"/>
                </ns1:lnTo>
                <ns1:lnTo>
                  <ns1:pt x="5080" y="318"/>
                </ns1:lnTo>
                <ns1:lnTo>
                  <ns1:pt x="0" y="318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60a5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4" name=""/>
          <ns0:cNvSpPr/>
          <ns0:nvPr/>
        </ns0:nvSpPr>
        <ns0:spPr>
          <ns1:xfrm>
            <ns1:off x="1212120" y="5028840"/>
            <ns1:ext cx="616680" cy="1829160"/>
          </ns1:xfrm>
          <ns1:custGeom>
            <ns1:avLst/>
            <ns1:gdLst/>
            <ns1:ahLst/>
            <ns1:rect l="0" t="0" r="r" b="b"/>
            <ns1:pathLst>
              <ns1:path w="1713" h="5081">
                <ns1:moveTo>
                  <ns1:pt x="1355" y="4460"/>
                </ns1:moveTo>
                <ns1:cubicBezTo>
                  <ns1:pt x="1328" y="4254"/>
                  <ns1:pt x="1288" y="4050"/>
                  <ns1:pt x="1234" y="3849"/>
                </ns1:cubicBezTo>
                <ns1:cubicBezTo>
                  <ns1:pt x="1180" y="3647"/>
                  <ns1:pt x="1113" y="3450"/>
                  <ns1:pt x="1033" y="3258"/>
                </ns1:cubicBezTo>
                <ns1:cubicBezTo>
                  <ns1:pt x="954" y="3066"/>
                  <ns1:pt x="861" y="2879"/>
                  <ns1:pt x="757" y="2699"/>
                </ns1:cubicBezTo>
                <ns1:cubicBezTo>
                  <ns1:pt x="653" y="2519"/>
                  <ns1:pt x="538" y="2346"/>
                  <ns1:pt x="411" y="2181"/>
                </ns1:cubicBezTo>
                <ns1:cubicBezTo>
                  <ns1:pt x="284" y="2016"/>
                  <ns1:pt x="147" y="1860"/>
                  <ns1:pt x="0" y="1713"/>
                </ns1:cubicBezTo>
                <ns1:lnTo>
                  <ns1:pt x="1713" y="0"/>
                </ns1:lnTo>
                <ns1:lnTo>
                  <ns1:pt x="1713" y="5081"/>
                </ns1:lnTo>
                <ns1:lnTo>
                  <ns1:pt x="1396" y="4764"/>
                </ns1:lnTo>
                <ns1:lnTo>
                  <ns1:pt x="1385" y="4764"/>
                </ns1:lnTo>
                <ns1:cubicBezTo>
                  <ns1:pt x="1379" y="4662"/>
                  <ns1:pt x="1369" y="4561"/>
                  <ns1:pt x="1355" y="4460"/>
                </ns1:cubicBezTo>
                <ns1:close/>
              </ns1:path>
            </ns1:pathLst>
          </ns1:custGeom>
          <ns1:solidFill>
            <ns1:srgbClr val="60a5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5" name=""/>
          <ns0:cNvSpPr/>
          <ns0:nvPr/>
        </ns0:nvSpPr>
        <ns0:spPr>
          <ns1:xfrm>
            <ns1:off x="0" y="5028840"/>
            <ns1:ext cx="114480" cy="1829160"/>
          </ns1:xfrm>
          <ns1:custGeom>
            <ns1:avLst/>
            <ns1:gdLst/>
            <ns1:ahLst/>
            <ns1:rect l="0" t="0" r="r" b="b"/>
            <ns1:pathLst>
              <ns1:path w="318" h="5081">
                <ns1:moveTo>
                  <ns1:pt x="0" y="0"/>
                </ns1:moveTo>
                <ns1:lnTo>
                  <ns1:pt x="318" y="0"/>
                </ns1:lnTo>
                <ns1:lnTo>
                  <ns1:pt x="318" y="5081"/>
                </ns1:lnTo>
                <ns1:lnTo>
                  <ns1:pt x="0" y="5081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60a5fa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6" name=""/>
          <ns0:cNvSpPr/>
          <ns0:nvPr/>
        </ns0:nvSpPr>
        <ns0:spPr>
          <ns1:xfrm>
            <ns1:off x="456840" y="1066680"/>
            <ns1:ext cx="762480" cy="38520"/>
          </ns1:xfrm>
          <ns1:custGeom>
            <ns1:avLst/>
            <ns1:gdLst/>
            <ns1:ahLst/>
            <ns1:rect l="0" t="0" r="r" b="b"/>
            <ns1:pathLst>
              <ns1:path w="2118" h="107">
                <ns1:moveTo>
                  <ns1:pt x="0" y="54"/>
                </ns1:moveTo>
                <ns1:cubicBezTo>
                  <ns1:pt x="0" y="47"/>
                  <ns1:pt x="2" y="40"/>
                  <ns1:pt x="5" y="33"/>
                </ns1:cubicBezTo>
                <ns1:cubicBezTo>
                  <ns1:pt x="7" y="26"/>
                  <ns1:pt x="11" y="20"/>
                  <ns1:pt x="16" y="15"/>
                </ns1:cubicBezTo>
                <ns1:cubicBezTo>
                  <ns1:pt x="21" y="10"/>
                  <ns1:pt x="27" y="7"/>
                  <ns1:pt x="33" y="4"/>
                </ns1:cubicBezTo>
                <ns1:cubicBezTo>
                  <ns1:pt x="40" y="1"/>
                  <ns1:pt x="46" y="0"/>
                  <ns1:pt x="53" y="0"/>
                </ns1:cubicBezTo>
                <ns1:lnTo>
                  <ns1:pt x="2065" y="0"/>
                </ns1:lnTo>
                <ns1:cubicBezTo>
                  <ns1:pt x="2072" y="0"/>
                  <ns1:pt x="2079" y="1"/>
                  <ns1:pt x="2085" y="4"/>
                </ns1:cubicBezTo>
                <ns1:cubicBezTo>
                  <ns1:pt x="2092" y="7"/>
                  <ns1:pt x="2098" y="10"/>
                  <ns1:pt x="2103" y="15"/>
                </ns1:cubicBezTo>
                <ns1:cubicBezTo>
                  <ns1:pt x="2108" y="20"/>
                  <ns1:pt x="2111" y="26"/>
                  <ns1:pt x="2114" y="33"/>
                </ns1:cubicBezTo>
                <ns1:cubicBezTo>
                  <ns1:pt x="2117" y="40"/>
                  <ns1:pt x="2118" y="47"/>
                  <ns1:pt x="2118" y="54"/>
                </ns1:cubicBezTo>
                <ns1:cubicBezTo>
                  <ns1:pt x="2118" y="61"/>
                  <ns1:pt x="2117" y="68"/>
                  <ns1:pt x="2114" y="74"/>
                </ns1:cubicBezTo>
                <ns1:cubicBezTo>
                  <ns1:pt x="2111" y="80"/>
                  <ns1:pt x="2108" y="86"/>
                  <ns1:pt x="2103" y="91"/>
                </ns1:cubicBezTo>
                <ns1:cubicBezTo>
                  <ns1:pt x="2098" y="96"/>
                  <ns1:pt x="2092" y="100"/>
                  <ns1:pt x="2085" y="103"/>
                </ns1:cubicBezTo>
                <ns1:cubicBezTo>
                  <ns1:pt x="2079" y="105"/>
                  <ns1:pt x="2072" y="107"/>
                  <ns1:pt x="2065" y="107"/>
                </ns1:cubicBezTo>
                <ns1:lnTo>
                  <ns1:pt x="53" y="107"/>
                </ns1:lnTo>
                <ns1:cubicBezTo>
                  <ns1:pt x="46" y="107"/>
                  <ns1:pt x="40" y="105"/>
                  <ns1:pt x="33" y="103"/>
                </ns1:cubicBezTo>
                <ns1:cubicBezTo>
                  <ns1:pt x="27" y="100"/>
                  <ns1:pt x="21" y="96"/>
                  <ns1:pt x="16" y="91"/>
                </ns1:cubicBezTo>
                <ns1:cubicBezTo>
                  <ns1:pt x="11" y="86"/>
                  <ns1:pt x="7" y="80"/>
                  <ns1:pt x="5" y="74"/>
                </ns1:cubicBezTo>
                <ns1:cubicBezTo>
                  <ns1:pt x="2" y="68"/>
                  <ns1:pt x="0" y="61"/>
                  <ns1:pt x="0" y="54"/>
                </ns1:cubicBezTo>
                <ns1:close/>
              </ns1:path>
            </ns1:pathLst>
          </ns1:custGeom>
          <ns1:solidFill>
            <ns1:srgbClr val="3b82f6"/>
          </ns1:solidFill>
          <ns1:ln w="0">
            <ns1:noFill/>
          </ns1:ln>
        </ns0:spPr>
        <ns0:txBody>
          <ns1:bodyPr lIns="0" rIns="0" tIns="0" bIns="0" anchor="t">
            <ns1:noAutofit/>
          </ns1:bodyPr>
          <ns1:p>
            <ns1:endParaRPr b="0" lang="en-US" sz="2400" strike="noStrike" u="none">
              <ns1:solidFill>
                <ns1:srgbClr val="ffffff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7" name=""/>
          <ns0:cNvSpPr txBox="1"/>
          <ns0:nvPr/>
        </ns0:nvSpPr>
        <ns0:spPr>
          <ns1:xfrm>
            <ns1:off x="457200" y="465480"/>
            <ns1:ext cx="3840480" cy="4438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3000" strike="noStrike" u="none" i="0">
                <ns1:solidFill>
                  <ns1:srgbClr val="1f2937"/>
                </ns1:solidFill>
                <ns1:effectLst/>
                <ns1:uFillTx/>
                <ns1:latin typeface="Inter, sans-serif"/>
                <ns1:ea typeface="Inter, sans-serif"/>
              </ns1:rPr>
              <ns1:t>科学张力：LFU vs LRU</ns1:t>
            </ns1:r>
            <ns1:endParaRPr b="0" lang="en-US" sz="30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59" name=""/>
          <ns0:cNvSpPr txBox="1"/>
          <ns0:nvPr/>
        </ns0:nvSpPr>
        <ns0:spPr>
          <ns1:xfrm>
            <ns1:off x="457200" y="1457640"/>
            <ns1:ext cx="2982372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FineMoE消融（Fig 14b）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63" name=""/>
          <ns0:cNvSpPr txBox="1"/>
          <ns0:nvPr/>
        </ns0:nvSpPr>
        <ns0:spPr>
          <ns1:xfrm>
            <ns1:off x="457200" y="2020680"/>
            <ns1:ext cx="2432304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分布内（同任务）：LFU &gt; LRU →它选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66" name=""/>
          <ns0:cNvSpPr txBox="1"/>
          <ns0:nvPr/>
        </ns0:nvSpPr>
        <ns0:spPr>
          <ns1:xfrm>
            <ns1:off x="3061080" y="2024280"/>
            <ns1:ext cx="33084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LFU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67" name=""/>
          <ns0:cNvSpPr txBox="1"/>
          <ns0:nvPr/>
        </ns0:nvSpPr>
        <ns0:spPr>
          <ns1:xfrm>
            <ns1:off x="3391200" y="2020680"/>
            <ns1:ext cx="76200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、主动弃用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68" name=""/>
          <ns0:cNvSpPr txBox="1"/>
          <ns0:nvPr/>
        </ns0:nvSpPr>
        <ns0:spPr>
          <ns1:xfrm>
            <ns1:off x="4153320" y="2024280"/>
            <ns1:ext cx="34776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LRU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69" name=""/>
          <ns0:cNvSpPr txBox="1"/>
          <ns0:nvPr/>
        </ns0:nvSpPr>
        <ns0:spPr>
          <ns1:xfrm>
            <ns1:off x="457200" y="2505240"/>
            <ns1:ext cx="1624201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我们的EXP-B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71" name=""/>
          <ns0:cNvSpPr txBox="1"/>
          <ns0:nvPr/>
        </ns0:nvSpPr>
        <ns0:spPr>
          <ns1:xfrm>
            <ns1:off x="457200" y="3068640"/>
            <ns1:ext cx="5029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漂移下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72" name=""/>
          <ns0:cNvSpPr txBox="1"/>
          <ns0:nvPr/>
        </ns0:nvSpPr>
        <ns0:spPr>
          <ns1:xfrm>
            <ns1:off x="914400" y="3071880"/>
            <ns1:ext cx="37332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LFU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73" name=""/>
          <ns0:cNvSpPr txBox="1"/>
          <ns0:nvPr/>
        </ns0:nvSpPr>
        <ns0:spPr>
          <ns1:xfrm>
            <ns1:off x="1287000" y="3068640"/>
            <ns1:ext cx="107868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优势反转/缩小：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76" name=""/>
          <ns0:cNvSpPr txBox="1"/>
          <ns0:nvPr/>
        </ns0:nvSpPr>
        <ns0:spPr>
          <ns1:xfrm>
            <ns1:off x="457200" y="4276800"/>
            <ns1:ext cx="1484184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两个regime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78" name=""/>
          <ns0:cNvSpPr txBox="1"/>
          <ns0:nvPr/>
        </ns0:nvSpPr>
        <ns0:spPr>
          <ns1:xfrm>
            <ns1:off x="457200" y="5724720"/>
            <ns1:ext cx="1936242" cy="3099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2100" strike="noStrike" u="none" i="0">
                <ns1:solidFill>
                  <ns1:srgbClr val="3b82f6"/>
                </ns1:solidFill>
                <ns1:effectLst/>
                <ns1:uFillTx/>
                <ns1:latin typeface="Inter, sans-serif"/>
                <ns1:ea typeface="Inter, sans-serif"/>
              </ns1:rPr>
              <ns1:t>论文核心贡献</ns1:t>
            </ns1:r>
            <ns1:endParaRPr b="0" lang="en-US" sz="21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79" name=""/>
          <ns0:cNvSpPr txBox="1"/>
          <ns0:nvPr/>
        </ns0:nvSpPr>
        <ns0:spPr>
          <ns1:xfrm>
            <ns1:off x="457200" y="6288120"/>
            <ns1:ext cx="117348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最优缓存策略随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80" name=""/>
          <ns0:cNvSpPr txBox="1"/>
          <ns0:nvPr/>
        </ns0:nvSpPr>
        <ns0:spPr>
          <ns1:xfrm>
            <ns1:off x="1523880" y="6291360"/>
            <ns1:ext cx="603504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regime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81" name=""/>
          <ns0:cNvSpPr txBox="1"/>
          <ns0:nvPr/>
        </ns0:nvSpPr>
        <ns0:spPr>
          <ns1:xfrm>
            <ns1:off x="2074680" y="6288120"/>
            <ns1:ext cx="1768219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切换——FineMoE没测那个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84" name=""/>
          <ns0:cNvSpPr txBox="1"/>
          <ns0:nvPr/>
        </ns0:nvSpPr>
        <ns0:spPr>
          <ns1:xfrm>
            <ns1:off x="3945960" y="6291360"/>
            <ns1:ext cx="603504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regime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85" name=""/>
          <ns0:cNvSpPr txBox="1"/>
          <ns0:nvPr/>
        </ns0:nvSpPr>
        <ns0:spPr>
          <ns1:xfrm>
            <ns1:off x="4453920" y="6288120"/>
            <ns1:ext cx="59436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，也没有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86" name=""/>
          <ns0:cNvSpPr txBox="1"/>
          <ns0:nvPr/>
        </ns0:nvSpPr>
        <ns0:spPr>
          <ns1:xfrm>
            <ns1:off x="457200" y="6526080"/>
            <ns1:ext cx="67056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切换机制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88" name=""/>
          <ns0:cNvSpPr txBox="1"/>
          <ns0:nvPr/>
        </ns0:nvSpPr>
        <ns0:spPr>
          <ns1:xfrm>
            <ns1:off x="1651680" y="3392280"/>
            <ns1:ext cx="360045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：LRU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90" name=""/>
          <ns0:cNvSpPr txBox="1"/>
          <ns0:nvPr/>
        </ns0:nvSpPr>
        <ns0:spPr>
          <ns1:xfrm>
            <ns1:off x="2151000" y="3392280"/>
            <ns1:ext cx="13105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胜+20.4 pp（稳健）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93" name=""/>
          <ns0:cNvSpPr txBox="1"/>
          <ns0:nvPr/>
        </ns0:nvSpPr>
        <ns0:spPr>
          <ns1:xfrm>
            <ns1:off x="609480" y="3385440"/>
            <ns1:ext cx="896110" cy="1814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960" strike="noStrike" u="none">
                <ns1:solidFill>
                  <ns1:srgbClr val="3b82f6"/>
                </ns1:solidFill>
                <ns1:effectLst/>
                <ns1:uFillTx/>
                <ns1:latin typeface="Arial"/>
                <ns1:ea typeface="Arial"/>
              </ns1:rPr>
              <ns1:t>■top-1 Llama4</ns1:t>
            </ns1:r>
            <ns1:endParaRPr b="0" lang="en-US" sz="96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96" name=""/>
          <ns0:cNvSpPr txBox="1"/>
          <ns0:nvPr/>
        </ns0:nvSpPr>
        <ns0:spPr>
          <ns1:xfrm>
            <ns1:off x="1829160" y="3710160"/>
            <ns1:ext cx="34776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LRU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297" name=""/>
          <ns0:cNvSpPr txBox="1"/>
          <ns0:nvPr/>
        </ns0:nvSpPr>
        <ns0:spPr>
          <ns1:xfrm>
            <ns1:off x="2176200" y="3706560"/>
            <ns1:ext cx="2144268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显著胜（+0.90→+7.31 pp单调）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00" name=""/>
          <ns0:cNvSpPr txBox="1"/>
          <ns0:nvPr/>
        </ns0:nvSpPr>
        <ns0:spPr>
          <ns1:xfrm>
            <ns1:off x="609480" y="3699720"/>
            <ns1:ext cx="883309" cy="1857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960" strike="noStrike" u="none">
                <ns1:solidFill>
                  <ns1:srgbClr val="3b82f6"/>
                </ns1:solidFill>
                <ns1:effectLst/>
                <ns1:uFillTx/>
                <ns1:latin typeface="Arial"/>
                <ns1:ea typeface="Arial"/>
              </ns1:rPr>
              <ns1:t>■k=4 C&gt;k全区：</ns1:t>
            </ns1:r>
            <ns1:endParaRPr b="0" lang="en-US" sz="96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02" name=""/>
          <ns0:cNvSpPr txBox="1"/>
          <ns0:nvPr/>
        </ns0:nvSpPr>
        <ns0:spPr>
          <ns1:xfrm>
            <ns1:off x="1676520" y="4843800"/>
            <ns1:ext cx="33084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LFU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03" name=""/>
          <ns0:cNvSpPr txBox="1"/>
          <ns0:nvPr/>
        </ns0:nvSpPr>
        <ns0:spPr>
          <ns1:xfrm>
            <ns1:off x="2006640" y="4840200"/>
            <ns1:ext cx="201168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正确（频率统计稳定可信）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04" name=""/>
          <ns0:cNvSpPr txBox="1"/>
          <ns0:nvPr/>
        </ns0:nvSpPr>
        <ns0:spPr>
          <ns1:xfrm>
            <ns1:off x="609480" y="4833000"/>
            <ns1:ext cx="793698" cy="1861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960" strike="noStrike" u="none">
                <ns1:solidFill>
                  <ns1:srgbClr val="3b82f6"/>
                </ns1:solidFill>
                <ns1:effectLst/>
                <ns1:uFillTx/>
                <ns1:latin typeface="Arial"/>
                <ns1:ea typeface="Arial"/>
              </ns1:rPr>
              <ns1:t>■准平稳负载：</ns1:t>
            </ns1:r>
            <ns1:endParaRPr b="0" lang="en-US" sz="96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06" name=""/>
          <ns0:cNvSpPr txBox="1"/>
          <ns0:nvPr/>
        </ns0:nvSpPr>
        <ns0:spPr>
          <ns1:xfrm>
            <ns1:off x="1371600" y="5158080"/>
            <ns1:ext cx="33084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LFU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07" name=""/>
          <ns0:cNvSpPr txBox="1"/>
          <ns0:nvPr/>
        </ns0:nvSpPr>
        <ns0:spPr>
          <ns1:xfrm>
            <ns1:off x="1701720" y="5154480"/>
            <ns1:ext cx="184404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 i="0">
                <ns1:solidFill>
                  <ns1:srgbClr val="4b5563"/>
                </ns1:solidFill>
                <ns1:effectLst/>
                <ns1:uFillTx/>
                <ns1:latin typeface="Inter, sans-serif"/>
                <ns1:ea typeface="Inter, sans-serif"/>
              </ns1:rPr>
              <ns1:t>反噬（频率统计变负债）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pic>
        <ns0:nvPicPr>
          <ns0:cNvPr id="1308" name="" descr=""/>
          <ns0:cNvPicPr/>
          <ns0:nvPr/>
        </ns0:nvPicPr>
        <ns0:blipFill>
          <ns1:blip ns2:embed="rId1">
            <ns1:alphaModFix amt="50000"/>
          </ns1:blip>
          <ns1:stretch/>
        </ns0:blipFill>
        <ns0:spPr>
          <ns1:xfrm>
            <ns1:off x="5457960" y="1409760"/>
            <ns1:ext cx="151920" cy="151920"/>
          </ns1:xfrm>
          <ns1:prstGeom prst="rect">
            <ns1:avLst/>
          </ns1:prstGeom>
          <ns1:noFill/>
          <ns1:ln w="0">
            <ns1:noFill/>
          </ns1:ln>
        </ns0:spPr>
      </ns0:pic>
      <ns0:sp>
        <ns0:nvSpPr>
          <ns0:cNvPr id="1309" name=""/>
          <ns0:cNvSpPr txBox="1"/>
          <ns0:nvPr/>
        </ns0:nvSpPr>
        <ns0:spPr>
          <ns1:xfrm>
            <ns1:off x="609480" y="5147640"/>
            <ns1:ext cx="537667" cy="18576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en-US" sz="960" strike="noStrike" u="none">
                <ns1:solidFill>
                  <ns1:srgbClr val="3b82f6"/>
                </ns1:solidFill>
                <ns1:effectLst/>
                <ns1:uFillTx/>
                <ns1:latin typeface="Arial"/>
                <ns1:ea typeface="Arial"/>
              </ns1:rPr>
              <ns1:t>■漂移下：</ns1:t>
            </ns1:r>
            <ns1:endParaRPr b="0" lang="en-US" sz="96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1" name=""/>
          <ns0:cNvSpPr txBox="1"/>
          <ns0:nvPr/>
        </ns0:nvSpPr>
        <ns0:spPr>
          <ns1:xfrm>
            <ns1:off x="8966160" y="1443240"/>
            <ns1:ext cx="301752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1f2937"/>
                </ns1:solidFill>
                <ns1:effectLst/>
                <ns1:uFillTx/>
                <ns1:latin typeface="Inter, sans-serif"/>
                <ns1:ea typeface="Inter, sans-serif"/>
              </ns1:rPr>
              <ns1:t>LFU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2" name=""/>
          <ns0:cNvSpPr txBox="1"/>
          <ns0:nvPr/>
        </ns0:nvSpPr>
        <ns0:spPr>
          <ns1:xfrm>
            <ns1:off x="9254160" y="1439640"/>
            <ns1:ext cx="1519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>
                <ns1:solidFill>
                  <ns1:srgbClr val="1f2937"/>
                </ns1:solidFill>
                <ns1:effectLst/>
                <ns1:uFillTx/>
                <ns1:latin typeface="NotoSansCJKsc"/>
                <ns1:ea typeface="NotoSansCJKsc"/>
              </ns1:rPr>
              <ns1:t>和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3" name=""/>
          <ns0:cNvSpPr txBox="1"/>
          <ns0:nvPr/>
        </ns0:nvSpPr>
        <ns0:spPr>
          <ns1:xfrm>
            <ns1:off x="9406440" y="1443240"/>
            <ns1:ext cx="30564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1f2937"/>
                </ns1:solidFill>
                <ns1:effectLst/>
                <ns1:uFillTx/>
                <ns1:latin typeface="Inter, sans-serif"/>
                <ns1:ea typeface="Inter, sans-serif"/>
              </ns1:rPr>
              <ns1:t>LRU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4" name=""/>
          <ns0:cNvSpPr txBox="1"/>
          <ns0:nvPr/>
        </ns0:nvSpPr>
        <ns0:spPr>
          <ns1:xfrm>
            <ns1:off x="9711360" y="1439640"/>
            <ns1:ext cx="118980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>
                <ns1:solidFill>
                  <ns1:srgbClr val="1f2937"/>
                </ns1:solidFill>
                <ns1:effectLst/>
                <ns1:uFillTx/>
                <ns1:latin typeface="NotoSansCJKsc"/>
                <ns1:ea typeface="NotoSansCJKsc"/>
              </ns1:rPr>
              <ns1:t>，左侧表现准平稳负载场景下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5" name=""/>
          <ns0:cNvSpPr txBox="1"/>
          <ns0:nvPr/>
        </ns0:nvSpPr>
        <ns0:spPr>
          <ns1:xfrm>
            <ns1:off x="5460840" y="1690920"/>
            <ns1:ext cx="301752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1f2937"/>
                </ns1:solidFill>
                <ns1:effectLst/>
                <ns1:uFillTx/>
                <ns1:latin typeface="Inter, sans-serif"/>
                <ns1:ea typeface="Inter, sans-serif"/>
              </ns1:rPr>
              <ns1:t>LFU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6" name=""/>
          <ns0:cNvSpPr txBox="1"/>
          <ns0:nvPr/>
        </ns0:nvSpPr>
        <ns0:spPr>
          <ns1:xfrm>
            <ns1:off x="5748840" y="1687320"/>
            <ns1:ext cx="146412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>
                <ns1:solidFill>
                  <ns1:srgbClr val="1f2937"/>
                </ns1:solidFill>
                <ns1:effectLst/>
                <ns1:uFillTx/>
                <ns1:latin typeface="NotoSansCJKsc"/>
                <ns1:ea typeface="NotoSansCJKsc"/>
              </ns1:rPr>
              <ns1:t>表现更优，右侧表现任务漂移场景下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7" name=""/>
          <ns0:cNvSpPr txBox="1"/>
          <ns0:nvPr/>
        </ns0:nvSpPr>
        <ns0:spPr>
          <ns1:xfrm>
            <ns1:off x="8187120" y="1690920"/>
            <ns1:ext cx="305640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1f2937"/>
                </ns1:solidFill>
                <ns1:effectLst/>
                <ns1:uFillTx/>
                <ns1:latin typeface="Inter, sans-serif"/>
                <ns1:ea typeface="Inter, sans-serif"/>
              </ns1:rPr>
              <ns1:t>LRU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8" name=""/>
          <ns0:cNvSpPr txBox="1"/>
          <ns0:nvPr/>
        </ns0:nvSpPr>
        <ns0:spPr>
          <ns1:xfrm>
            <ns1:off x="8492040" y="1687320"/>
            <ns1:ext cx="366480" cy="17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0" lang="zh-CN" sz="1200" strike="noStrike" u="none">
                <ns1:solidFill>
                  <ns1:srgbClr val="1f2937"/>
                </ns1:solidFill>
                <ns1:effectLst/>
                <ns1:uFillTx/>
                <ns1:latin typeface="NotoSansCJKsc"/>
                <ns1:ea typeface="NotoSansCJKsc"/>
              </ns1:rPr>
              <ns1:t>表现反超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  <ns0:sp>
        <ns0:nvSpPr>
          <ns0:cNvPr id="1319" name=""/>
          <ns0:cNvSpPr txBox="1"/>
          <ns0:nvPr/>
        </ns0:nvSpPr>
        <ns0:spPr>
          <ns1:xfrm>
            <ns1:off x="9101880" y="1690920"/>
            <ns1:ext cx="301752" cy="17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rIns="0" tIns="0" bIns="0" anchor="t">
            <ns1:spAutoFit/>
          </ns1:bodyPr>
          <ns1:p>
            <ns1:r>
              <ns1:rPr b="1" lang="en-US" sz="1200" strike="noStrike" u="none" i="0">
                <ns1:solidFill>
                  <ns1:srgbClr val="1f2937"/>
                </ns1:solidFill>
                <ns1:effectLst/>
                <ns1:uFillTx/>
                <ns1:latin typeface="Inter, sans-serif"/>
                <ns1:ea typeface="Inter, sans-serif"/>
              </ns1:rPr>
              <ns1:t>LFU</ns1:t>
            </ns1:r>
            <ns1:endParaRPr b="0" lang="en-US" sz="1200" strike="noStrike" u="none">
              <ns1:solidFill>
                <ns1:srgbClr val="000000"/>
              </ns1:solidFill>
              <ns1:effectLst/>
              <ns1:uFillTx/>
              <ns1:latin typeface="Times New Roman"/>
            </ns1:endParaRPr>
          </ns1:p>
        </ns0:txBody>
      </ns0:sp>
    </ns0:spTree>
  </ns0:cSld>
  <ns3:AlternateContent>
    <ns3:Choice Requires="p14">
      <ns0:transition spd="slow" ns4:dur="2000"/>
    </ns3:Choice>
    <ns3:Fallback>
      <ns0:transition spd="slow"/>
    </ns3:Fallback>
  </ns3:AlternateContent>
</ns0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tile tx="0" ty="0" sx="133330" sy="-19050000" algn="ctr"/>
          </a:blip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 txBox="1"/>
          <p:nvPr/>
        </p:nvSpPr>
        <p:spPr>
          <a:xfrm>
            <a:off x="457200" y="465480"/>
            <a:ext cx="4500562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创新：漂移感知控制器DAC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461880" y="1490400"/>
            <a:ext cx="5477040" cy="2296080"/>
          </a:xfrm>
          <a:custGeom>
            <a:avLst/>
            <a:gdLst/>
            <a:ahLst/>
            <a:rect l="0" t="0" r="r" b="b"/>
            <a:pathLst>
              <a:path w="15214" h="6378">
                <a:moveTo>
                  <a:pt x="0" y="61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2"/>
                  <a:pt x="15055" y="4"/>
                </a:cubicBezTo>
                <a:cubicBezTo>
                  <a:pt x="15067" y="7"/>
                  <a:pt x="15080" y="10"/>
                  <a:pt x="15092" y="15"/>
                </a:cubicBezTo>
                <a:cubicBezTo>
                  <a:pt x="15104" y="20"/>
                  <a:pt x="15115" y="26"/>
                  <a:pt x="15126" y="34"/>
                </a:cubicBezTo>
                <a:cubicBezTo>
                  <a:pt x="15137" y="41"/>
                  <a:pt x="15147" y="49"/>
                  <a:pt x="15156" y="58"/>
                </a:cubicBezTo>
                <a:cubicBezTo>
                  <a:pt x="15165" y="68"/>
                  <a:pt x="15174" y="78"/>
                  <a:pt x="15181" y="88"/>
                </a:cubicBezTo>
                <a:cubicBezTo>
                  <a:pt x="15188" y="99"/>
                  <a:pt x="15194" y="111"/>
                  <a:pt x="15199" y="123"/>
                </a:cubicBezTo>
                <a:cubicBezTo>
                  <a:pt x="15204" y="135"/>
                  <a:pt x="15208" y="147"/>
                  <a:pt x="15210" y="160"/>
                </a:cubicBezTo>
                <a:cubicBezTo>
                  <a:pt x="15213" y="173"/>
                  <a:pt x="15214" y="186"/>
                  <a:pt x="15214" y="199"/>
                </a:cubicBezTo>
                <a:lnTo>
                  <a:pt x="15214" y="6179"/>
                </a:lnTo>
                <a:cubicBezTo>
                  <a:pt x="15214" y="6192"/>
                  <a:pt x="15213" y="6205"/>
                  <a:pt x="15210" y="6218"/>
                </a:cubicBezTo>
                <a:cubicBezTo>
                  <a:pt x="15208" y="6231"/>
                  <a:pt x="15204" y="6243"/>
                  <a:pt x="15199" y="6255"/>
                </a:cubicBezTo>
                <a:cubicBezTo>
                  <a:pt x="15194" y="6267"/>
                  <a:pt x="15188" y="6279"/>
                  <a:pt x="15181" y="6289"/>
                </a:cubicBezTo>
                <a:cubicBezTo>
                  <a:pt x="15174" y="6300"/>
                  <a:pt x="15165" y="6310"/>
                  <a:pt x="15156" y="6320"/>
                </a:cubicBezTo>
                <a:cubicBezTo>
                  <a:pt x="15147" y="6329"/>
                  <a:pt x="15137" y="6337"/>
                  <a:pt x="15126" y="6344"/>
                </a:cubicBezTo>
                <a:cubicBezTo>
                  <a:pt x="15115" y="6351"/>
                  <a:pt x="15104" y="6358"/>
                  <a:pt x="15092" y="6363"/>
                </a:cubicBezTo>
                <a:cubicBezTo>
                  <a:pt x="15080" y="6368"/>
                  <a:pt x="15067" y="6371"/>
                  <a:pt x="15055" y="6374"/>
                </a:cubicBezTo>
                <a:cubicBezTo>
                  <a:pt x="15042" y="6376"/>
                  <a:pt x="15029" y="6378"/>
                  <a:pt x="15016" y="6378"/>
                </a:cubicBezTo>
                <a:lnTo>
                  <a:pt x="198" y="6378"/>
                </a:lnTo>
                <a:cubicBezTo>
                  <a:pt x="185" y="6378"/>
                  <a:pt x="172" y="6376"/>
                  <a:pt x="159" y="6374"/>
                </a:cubicBezTo>
                <a:cubicBezTo>
                  <a:pt x="147" y="6371"/>
                  <a:pt x="134" y="6368"/>
                  <a:pt x="122" y="6363"/>
                </a:cubicBezTo>
                <a:cubicBezTo>
                  <a:pt x="110" y="6358"/>
                  <a:pt x="99" y="6351"/>
                  <a:pt x="88" y="6344"/>
                </a:cubicBezTo>
                <a:cubicBezTo>
                  <a:pt x="77" y="6337"/>
                  <a:pt x="67" y="6329"/>
                  <a:pt x="58" y="6320"/>
                </a:cubicBezTo>
                <a:cubicBezTo>
                  <a:pt x="49" y="6310"/>
                  <a:pt x="40" y="6300"/>
                  <a:pt x="33" y="6289"/>
                </a:cubicBezTo>
                <a:cubicBezTo>
                  <a:pt x="26" y="6279"/>
                  <a:pt x="20" y="6267"/>
                  <a:pt x="15" y="6255"/>
                </a:cubicBezTo>
                <a:cubicBezTo>
                  <a:pt x="10" y="6243"/>
                  <a:pt x="6" y="6231"/>
                  <a:pt x="4" y="6218"/>
                </a:cubicBezTo>
                <a:cubicBezTo>
                  <a:pt x="1" y="6205"/>
                  <a:pt x="0" y="6192"/>
                  <a:pt x="0" y="61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461880" y="1490400"/>
            <a:ext cx="5477040" cy="2296080"/>
          </a:xfrm>
          <a:custGeom>
            <a:avLst/>
            <a:gdLst/>
            <a:ahLst/>
            <a:rect l="0" t="0" r="r" b="b"/>
            <a:pathLst>
              <a:path fill="none" w="15214" h="6378">
                <a:moveTo>
                  <a:pt x="0" y="61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2"/>
                  <a:pt x="15055" y="4"/>
                </a:cubicBezTo>
                <a:cubicBezTo>
                  <a:pt x="15067" y="7"/>
                  <a:pt x="15080" y="10"/>
                  <a:pt x="15092" y="15"/>
                </a:cubicBezTo>
                <a:cubicBezTo>
                  <a:pt x="15104" y="20"/>
                  <a:pt x="15115" y="26"/>
                  <a:pt x="15126" y="34"/>
                </a:cubicBezTo>
                <a:cubicBezTo>
                  <a:pt x="15137" y="41"/>
                  <a:pt x="15147" y="49"/>
                  <a:pt x="15156" y="58"/>
                </a:cubicBezTo>
                <a:cubicBezTo>
                  <a:pt x="15165" y="68"/>
                  <a:pt x="15174" y="78"/>
                  <a:pt x="15181" y="88"/>
                </a:cubicBezTo>
                <a:cubicBezTo>
                  <a:pt x="15188" y="99"/>
                  <a:pt x="15194" y="111"/>
                  <a:pt x="15199" y="123"/>
                </a:cubicBezTo>
                <a:cubicBezTo>
                  <a:pt x="15204" y="135"/>
                  <a:pt x="15208" y="147"/>
                  <a:pt x="15210" y="160"/>
                </a:cubicBezTo>
                <a:cubicBezTo>
                  <a:pt x="15213" y="173"/>
                  <a:pt x="15214" y="186"/>
                  <a:pt x="15214" y="199"/>
                </a:cubicBezTo>
                <a:lnTo>
                  <a:pt x="15214" y="6179"/>
                </a:lnTo>
                <a:cubicBezTo>
                  <a:pt x="15214" y="6192"/>
                  <a:pt x="15213" y="6205"/>
                  <a:pt x="15210" y="6218"/>
                </a:cubicBezTo>
                <a:cubicBezTo>
                  <a:pt x="15208" y="6231"/>
                  <a:pt x="15204" y="6243"/>
                  <a:pt x="15199" y="6255"/>
                </a:cubicBezTo>
                <a:cubicBezTo>
                  <a:pt x="15194" y="6267"/>
                  <a:pt x="15188" y="6279"/>
                  <a:pt x="15181" y="6289"/>
                </a:cubicBezTo>
                <a:cubicBezTo>
                  <a:pt x="15174" y="6300"/>
                  <a:pt x="15165" y="6310"/>
                  <a:pt x="15156" y="6320"/>
                </a:cubicBezTo>
                <a:cubicBezTo>
                  <a:pt x="15147" y="6329"/>
                  <a:pt x="15137" y="6337"/>
                  <a:pt x="15126" y="6344"/>
                </a:cubicBezTo>
                <a:cubicBezTo>
                  <a:pt x="15115" y="6351"/>
                  <a:pt x="15104" y="6358"/>
                  <a:pt x="15092" y="6363"/>
                </a:cubicBezTo>
                <a:cubicBezTo>
                  <a:pt x="15080" y="6368"/>
                  <a:pt x="15067" y="6371"/>
                  <a:pt x="15055" y="6374"/>
                </a:cubicBezTo>
                <a:cubicBezTo>
                  <a:pt x="15042" y="6376"/>
                  <a:pt x="15029" y="6378"/>
                  <a:pt x="15016" y="6378"/>
                </a:cubicBezTo>
                <a:lnTo>
                  <a:pt x="198" y="6378"/>
                </a:lnTo>
                <a:cubicBezTo>
                  <a:pt x="185" y="6378"/>
                  <a:pt x="172" y="6376"/>
                  <a:pt x="159" y="6374"/>
                </a:cubicBezTo>
                <a:cubicBezTo>
                  <a:pt x="147" y="6371"/>
                  <a:pt x="134" y="6368"/>
                  <a:pt x="122" y="6363"/>
                </a:cubicBezTo>
                <a:cubicBezTo>
                  <a:pt x="110" y="6358"/>
                  <a:pt x="99" y="6351"/>
                  <a:pt x="88" y="6344"/>
                </a:cubicBezTo>
                <a:cubicBezTo>
                  <a:pt x="77" y="6337"/>
                  <a:pt x="67" y="6329"/>
                  <a:pt x="58" y="6320"/>
                </a:cubicBezTo>
                <a:cubicBezTo>
                  <a:pt x="49" y="6310"/>
                  <a:pt x="40" y="6300"/>
                  <a:pt x="33" y="6289"/>
                </a:cubicBezTo>
                <a:cubicBezTo>
                  <a:pt x="26" y="6279"/>
                  <a:pt x="20" y="6267"/>
                  <a:pt x="15" y="6255"/>
                </a:cubicBezTo>
                <a:cubicBezTo>
                  <a:pt x="10" y="6243"/>
                  <a:pt x="6" y="6231"/>
                  <a:pt x="4" y="6218"/>
                </a:cubicBezTo>
                <a:cubicBezTo>
                  <a:pt x="1" y="6205"/>
                  <a:pt x="0" y="6192"/>
                  <a:pt x="0" y="6179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695160" y="2152800"/>
            <a:ext cx="1176145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核心idea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695160" y="2716200"/>
            <a:ext cx="49606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FineMoE每次推理已计算相似度分数score（语义+轨迹），但只用来设预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 txBox="1"/>
          <p:nvPr/>
        </p:nvSpPr>
        <p:spPr>
          <a:xfrm>
            <a:off x="695160" y="2954160"/>
            <a:ext cx="340042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取阈值。我们扩展为在线漂移信号d = 1 − score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3019320" y="2962080"/>
            <a:ext cx="972000" cy="162360"/>
          </a:xfrm>
          <a:custGeom>
            <a:avLst/>
            <a:gdLst/>
            <a:ahLst/>
            <a:rect l="0" t="0" r="r" b="b"/>
            <a:pathLst>
              <a:path w="2700" h="451">
                <a:moveTo>
                  <a:pt x="0" y="345"/>
                </a:moveTo>
                <a:lnTo>
                  <a:pt x="0" y="107"/>
                </a:ln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594" y="0"/>
                </a:lnTo>
                <a:cubicBezTo>
                  <a:pt x="2608" y="0"/>
                  <a:pt x="2621" y="3"/>
                  <a:pt x="2634" y="8"/>
                </a:cubicBezTo>
                <a:cubicBezTo>
                  <a:pt x="2647" y="13"/>
                  <a:pt x="2659" y="21"/>
                  <a:pt x="2669" y="31"/>
                </a:cubicBezTo>
                <a:cubicBezTo>
                  <a:pt x="2678" y="41"/>
                  <a:pt x="2686" y="52"/>
                  <a:pt x="2691" y="65"/>
                </a:cubicBezTo>
                <a:cubicBezTo>
                  <a:pt x="2697" y="78"/>
                  <a:pt x="2700" y="93"/>
                  <a:pt x="2700" y="107"/>
                </a:cubicBezTo>
                <a:lnTo>
                  <a:pt x="2700" y="345"/>
                </a:lnTo>
                <a:cubicBezTo>
                  <a:pt x="2700" y="359"/>
                  <a:pt x="2697" y="373"/>
                  <a:pt x="2691" y="385"/>
                </a:cubicBezTo>
                <a:cubicBezTo>
                  <a:pt x="2686" y="398"/>
                  <a:pt x="2678" y="410"/>
                  <a:pt x="2669" y="420"/>
                </a:cubicBezTo>
                <a:cubicBezTo>
                  <a:pt x="2659" y="430"/>
                  <a:pt x="2647" y="437"/>
                  <a:pt x="2634" y="443"/>
                </a:cubicBezTo>
                <a:cubicBezTo>
                  <a:pt x="2621" y="448"/>
                  <a:pt x="2608" y="451"/>
                  <a:pt x="2594" y="451"/>
                </a:cubicBezTo>
                <a:lnTo>
                  <a:pt x="106" y="451"/>
                </a:lnTo>
                <a:cubicBezTo>
                  <a:pt x="92" y="451"/>
                  <a:pt x="78" y="448"/>
                  <a:pt x="65" y="443"/>
                </a:cubicBezTo>
                <a:cubicBezTo>
                  <a:pt x="52" y="437"/>
                  <a:pt x="41" y="430"/>
                  <a:pt x="31" y="420"/>
                </a:cubicBezTo>
                <a:cubicBezTo>
                  <a:pt x="21" y="410"/>
                  <a:pt x="13" y="398"/>
                  <a:pt x="8" y="385"/>
                </a:cubicBezTo>
                <a:cubicBezTo>
                  <a:pt x="2" y="373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461880" y="4100400"/>
            <a:ext cx="5477040" cy="2295720"/>
          </a:xfrm>
          <a:custGeom>
            <a:avLst/>
            <a:gdLst/>
            <a:ahLst/>
            <a:rect l="0" t="0" r="r" b="b"/>
            <a:pathLst>
              <a:path w="15214" h="6377">
                <a:moveTo>
                  <a:pt x="0" y="6179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4"/>
                </a:cubicBezTo>
                <a:cubicBezTo>
                  <a:pt x="15067" y="6"/>
                  <a:pt x="15080" y="10"/>
                  <a:pt x="15092" y="15"/>
                </a:cubicBezTo>
                <a:cubicBezTo>
                  <a:pt x="15104" y="20"/>
                  <a:pt x="15115" y="26"/>
                  <a:pt x="15126" y="33"/>
                </a:cubicBezTo>
                <a:cubicBezTo>
                  <a:pt x="15137" y="40"/>
                  <a:pt x="15147" y="49"/>
                  <a:pt x="15156" y="58"/>
                </a:cubicBezTo>
                <a:cubicBezTo>
                  <a:pt x="15165" y="67"/>
                  <a:pt x="15174" y="77"/>
                  <a:pt x="15181" y="88"/>
                </a:cubicBezTo>
                <a:cubicBezTo>
                  <a:pt x="15188" y="99"/>
                  <a:pt x="15194" y="110"/>
                  <a:pt x="15199" y="122"/>
                </a:cubicBezTo>
                <a:cubicBezTo>
                  <a:pt x="15204" y="134"/>
                  <a:pt x="15208" y="147"/>
                  <a:pt x="15210" y="160"/>
                </a:cubicBezTo>
                <a:cubicBezTo>
                  <a:pt x="15213" y="172"/>
                  <a:pt x="15214" y="185"/>
                  <a:pt x="15214" y="198"/>
                </a:cubicBezTo>
                <a:lnTo>
                  <a:pt x="15214" y="6179"/>
                </a:lnTo>
                <a:cubicBezTo>
                  <a:pt x="15214" y="6192"/>
                  <a:pt x="15213" y="6205"/>
                  <a:pt x="15210" y="6218"/>
                </a:cubicBezTo>
                <a:cubicBezTo>
                  <a:pt x="15208" y="6230"/>
                  <a:pt x="15204" y="6243"/>
                  <a:pt x="15199" y="6255"/>
                </a:cubicBezTo>
                <a:cubicBezTo>
                  <a:pt x="15194" y="6267"/>
                  <a:pt x="15188" y="6278"/>
                  <a:pt x="15181" y="6289"/>
                </a:cubicBezTo>
                <a:cubicBezTo>
                  <a:pt x="15174" y="6300"/>
                  <a:pt x="15165" y="6310"/>
                  <a:pt x="15156" y="6319"/>
                </a:cubicBezTo>
                <a:cubicBezTo>
                  <a:pt x="15147" y="6328"/>
                  <a:pt x="15137" y="6337"/>
                  <a:pt x="15126" y="6344"/>
                </a:cubicBezTo>
                <a:cubicBezTo>
                  <a:pt x="15115" y="6351"/>
                  <a:pt x="15104" y="6357"/>
                  <a:pt x="15092" y="6362"/>
                </a:cubicBezTo>
                <a:cubicBezTo>
                  <a:pt x="15080" y="6367"/>
                  <a:pt x="15067" y="6371"/>
                  <a:pt x="15055" y="6373"/>
                </a:cubicBezTo>
                <a:cubicBezTo>
                  <a:pt x="15042" y="6376"/>
                  <a:pt x="15029" y="6377"/>
                  <a:pt x="15016" y="6377"/>
                </a:cubicBezTo>
                <a:lnTo>
                  <a:pt x="198" y="6377"/>
                </a:lnTo>
                <a:cubicBezTo>
                  <a:pt x="185" y="6377"/>
                  <a:pt x="172" y="6376"/>
                  <a:pt x="159" y="6373"/>
                </a:cubicBezTo>
                <a:cubicBezTo>
                  <a:pt x="147" y="6371"/>
                  <a:pt x="134" y="6367"/>
                  <a:pt x="122" y="6362"/>
                </a:cubicBezTo>
                <a:cubicBezTo>
                  <a:pt x="110" y="6357"/>
                  <a:pt x="99" y="6351"/>
                  <a:pt x="88" y="6344"/>
                </a:cubicBezTo>
                <a:cubicBezTo>
                  <a:pt x="77" y="6337"/>
                  <a:pt x="67" y="6328"/>
                  <a:pt x="58" y="6319"/>
                </a:cubicBezTo>
                <a:cubicBezTo>
                  <a:pt x="49" y="6310"/>
                  <a:pt x="40" y="6300"/>
                  <a:pt x="33" y="6289"/>
                </a:cubicBezTo>
                <a:cubicBezTo>
                  <a:pt x="26" y="6278"/>
                  <a:pt x="20" y="6267"/>
                  <a:pt x="15" y="6255"/>
                </a:cubicBezTo>
                <a:cubicBezTo>
                  <a:pt x="10" y="6243"/>
                  <a:pt x="6" y="6230"/>
                  <a:pt x="4" y="6218"/>
                </a:cubicBezTo>
                <a:cubicBezTo>
                  <a:pt x="1" y="6205"/>
                  <a:pt x="0" y="6192"/>
                  <a:pt x="0" y="61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461880" y="4100400"/>
            <a:ext cx="5477040" cy="2295720"/>
          </a:xfrm>
          <a:custGeom>
            <a:avLst/>
            <a:gdLst/>
            <a:ahLst/>
            <a:rect l="0" t="0" r="r" b="b"/>
            <a:pathLst>
              <a:path fill="none" w="15214" h="6377">
                <a:moveTo>
                  <a:pt x="0" y="6179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4"/>
                </a:cubicBezTo>
                <a:cubicBezTo>
                  <a:pt x="15067" y="6"/>
                  <a:pt x="15080" y="10"/>
                  <a:pt x="15092" y="15"/>
                </a:cubicBezTo>
                <a:cubicBezTo>
                  <a:pt x="15104" y="20"/>
                  <a:pt x="15115" y="26"/>
                  <a:pt x="15126" y="33"/>
                </a:cubicBezTo>
                <a:cubicBezTo>
                  <a:pt x="15137" y="40"/>
                  <a:pt x="15147" y="49"/>
                  <a:pt x="15156" y="58"/>
                </a:cubicBezTo>
                <a:cubicBezTo>
                  <a:pt x="15165" y="67"/>
                  <a:pt x="15174" y="77"/>
                  <a:pt x="15181" y="88"/>
                </a:cubicBezTo>
                <a:cubicBezTo>
                  <a:pt x="15188" y="99"/>
                  <a:pt x="15194" y="110"/>
                  <a:pt x="15199" y="122"/>
                </a:cubicBezTo>
                <a:cubicBezTo>
                  <a:pt x="15204" y="134"/>
                  <a:pt x="15208" y="147"/>
                  <a:pt x="15210" y="160"/>
                </a:cubicBezTo>
                <a:cubicBezTo>
                  <a:pt x="15213" y="172"/>
                  <a:pt x="15214" y="185"/>
                  <a:pt x="15214" y="198"/>
                </a:cubicBezTo>
                <a:lnTo>
                  <a:pt x="15214" y="6179"/>
                </a:lnTo>
                <a:cubicBezTo>
                  <a:pt x="15214" y="6192"/>
                  <a:pt x="15213" y="6205"/>
                  <a:pt x="15210" y="6218"/>
                </a:cubicBezTo>
                <a:cubicBezTo>
                  <a:pt x="15208" y="6230"/>
                  <a:pt x="15204" y="6243"/>
                  <a:pt x="15199" y="6255"/>
                </a:cubicBezTo>
                <a:cubicBezTo>
                  <a:pt x="15194" y="6267"/>
                  <a:pt x="15188" y="6278"/>
                  <a:pt x="15181" y="6289"/>
                </a:cubicBezTo>
                <a:cubicBezTo>
                  <a:pt x="15174" y="6300"/>
                  <a:pt x="15165" y="6310"/>
                  <a:pt x="15156" y="6319"/>
                </a:cubicBezTo>
                <a:cubicBezTo>
                  <a:pt x="15147" y="6328"/>
                  <a:pt x="15137" y="6337"/>
                  <a:pt x="15126" y="6344"/>
                </a:cubicBezTo>
                <a:cubicBezTo>
                  <a:pt x="15115" y="6351"/>
                  <a:pt x="15104" y="6357"/>
                  <a:pt x="15092" y="6362"/>
                </a:cubicBezTo>
                <a:cubicBezTo>
                  <a:pt x="15080" y="6367"/>
                  <a:pt x="15067" y="6371"/>
                  <a:pt x="15055" y="6373"/>
                </a:cubicBezTo>
                <a:cubicBezTo>
                  <a:pt x="15042" y="6376"/>
                  <a:pt x="15029" y="6377"/>
                  <a:pt x="15016" y="6377"/>
                </a:cubicBezTo>
                <a:lnTo>
                  <a:pt x="198" y="6377"/>
                </a:lnTo>
                <a:cubicBezTo>
                  <a:pt x="185" y="6377"/>
                  <a:pt x="172" y="6376"/>
                  <a:pt x="159" y="6373"/>
                </a:cubicBezTo>
                <a:cubicBezTo>
                  <a:pt x="147" y="6371"/>
                  <a:pt x="134" y="6367"/>
                  <a:pt x="122" y="6362"/>
                </a:cubicBezTo>
                <a:cubicBezTo>
                  <a:pt x="110" y="6357"/>
                  <a:pt x="99" y="6351"/>
                  <a:pt x="88" y="6344"/>
                </a:cubicBezTo>
                <a:cubicBezTo>
                  <a:pt x="77" y="6337"/>
                  <a:pt x="67" y="6328"/>
                  <a:pt x="58" y="6319"/>
                </a:cubicBezTo>
                <a:cubicBezTo>
                  <a:pt x="49" y="6310"/>
                  <a:pt x="40" y="6300"/>
                  <a:pt x="33" y="6289"/>
                </a:cubicBezTo>
                <a:cubicBezTo>
                  <a:pt x="26" y="6278"/>
                  <a:pt x="20" y="6267"/>
                  <a:pt x="15" y="6255"/>
                </a:cubicBezTo>
                <a:cubicBezTo>
                  <a:pt x="10" y="6243"/>
                  <a:pt x="6" y="6230"/>
                  <a:pt x="4" y="6218"/>
                </a:cubicBezTo>
                <a:cubicBezTo>
                  <a:pt x="1" y="6205"/>
                  <a:pt x="0" y="6192"/>
                  <a:pt x="0" y="6179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695160" y="4762800"/>
            <a:ext cx="2258949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零计算额外开销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695160" y="5325840"/>
            <a:ext cx="49606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复用已算出的score，只做标量重加权（微秒级）；recency时间戳字段已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 txBox="1"/>
          <p:nvPr/>
        </p:nvSpPr>
        <p:spPr>
          <a:xfrm>
            <a:off x="695160" y="5564160"/>
            <a:ext cx="2696337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存在于C++基座（last_access_time）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6252840" y="1490400"/>
            <a:ext cx="5477400" cy="4905720"/>
          </a:xfrm>
          <a:custGeom>
            <a:avLst/>
            <a:gdLst/>
            <a:ahLst/>
            <a:rect l="0" t="0" r="r" b="b"/>
            <a:pathLst>
              <a:path w="15215" h="13627">
                <a:moveTo>
                  <a:pt x="0" y="13429"/>
                </a:move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7"/>
                  <a:pt x="11" y="135"/>
                  <a:pt x="15" y="123"/>
                </a:cubicBezTo>
                <a:cubicBezTo>
                  <a:pt x="20" y="111"/>
                  <a:pt x="27" y="99"/>
                  <a:pt x="34" y="88"/>
                </a:cubicBezTo>
                <a:cubicBezTo>
                  <a:pt x="41" y="78"/>
                  <a:pt x="49" y="68"/>
                  <a:pt x="59" y="58"/>
                </a:cubicBezTo>
                <a:cubicBezTo>
                  <a:pt x="68" y="49"/>
                  <a:pt x="78" y="41"/>
                  <a:pt x="89" y="34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15016" y="0"/>
                </a:lnTo>
                <a:cubicBezTo>
                  <a:pt x="15030" y="0"/>
                  <a:pt x="15042" y="2"/>
                  <a:pt x="15055" y="4"/>
                </a:cubicBezTo>
                <a:cubicBezTo>
                  <a:pt x="15068" y="7"/>
                  <a:pt x="15080" y="10"/>
                  <a:pt x="15092" y="15"/>
                </a:cubicBezTo>
                <a:cubicBezTo>
                  <a:pt x="15104" y="20"/>
                  <a:pt x="15116" y="26"/>
                  <a:pt x="15127" y="34"/>
                </a:cubicBezTo>
                <a:cubicBezTo>
                  <a:pt x="15138" y="41"/>
                  <a:pt x="15148" y="49"/>
                  <a:pt x="15157" y="58"/>
                </a:cubicBezTo>
                <a:cubicBezTo>
                  <a:pt x="15166" y="68"/>
                  <a:pt x="15174" y="78"/>
                  <a:pt x="15181" y="88"/>
                </a:cubicBezTo>
                <a:cubicBezTo>
                  <a:pt x="15189" y="99"/>
                  <a:pt x="15195" y="111"/>
                  <a:pt x="15200" y="123"/>
                </a:cubicBezTo>
                <a:cubicBezTo>
                  <a:pt x="15205" y="135"/>
                  <a:pt x="15209" y="147"/>
                  <a:pt x="15211" y="160"/>
                </a:cubicBezTo>
                <a:cubicBezTo>
                  <a:pt x="15214" y="173"/>
                  <a:pt x="15215" y="186"/>
                  <a:pt x="15215" y="199"/>
                </a:cubicBezTo>
                <a:lnTo>
                  <a:pt x="15215" y="13429"/>
                </a:lnTo>
                <a:cubicBezTo>
                  <a:pt x="15215" y="13442"/>
                  <a:pt x="15214" y="13455"/>
                  <a:pt x="15211" y="13468"/>
                </a:cubicBezTo>
                <a:cubicBezTo>
                  <a:pt x="15209" y="13480"/>
                  <a:pt x="15205" y="13493"/>
                  <a:pt x="15200" y="13505"/>
                </a:cubicBezTo>
                <a:cubicBezTo>
                  <a:pt x="15195" y="13517"/>
                  <a:pt x="15189" y="13528"/>
                  <a:pt x="15181" y="13539"/>
                </a:cubicBezTo>
                <a:cubicBezTo>
                  <a:pt x="15174" y="13550"/>
                  <a:pt x="15166" y="13560"/>
                  <a:pt x="15157" y="13569"/>
                </a:cubicBezTo>
                <a:cubicBezTo>
                  <a:pt x="15148" y="13578"/>
                  <a:pt x="15138" y="13587"/>
                  <a:pt x="15127" y="13594"/>
                </a:cubicBezTo>
                <a:cubicBezTo>
                  <a:pt x="15116" y="13601"/>
                  <a:pt x="15104" y="13607"/>
                  <a:pt x="15092" y="13612"/>
                </a:cubicBezTo>
                <a:cubicBezTo>
                  <a:pt x="15080" y="13617"/>
                  <a:pt x="15068" y="13621"/>
                  <a:pt x="15055" y="13623"/>
                </a:cubicBezTo>
                <a:cubicBezTo>
                  <a:pt x="15042" y="13626"/>
                  <a:pt x="15030" y="13627"/>
                  <a:pt x="15016" y="13627"/>
                </a:cubicBezTo>
                <a:lnTo>
                  <a:pt x="199" y="13627"/>
                </a:lnTo>
                <a:cubicBezTo>
                  <a:pt x="186" y="13627"/>
                  <a:pt x="173" y="13626"/>
                  <a:pt x="160" y="13623"/>
                </a:cubicBezTo>
                <a:cubicBezTo>
                  <a:pt x="147" y="13621"/>
                  <a:pt x="135" y="13617"/>
                  <a:pt x="123" y="13612"/>
                </a:cubicBezTo>
                <a:cubicBezTo>
                  <a:pt x="111" y="13607"/>
                  <a:pt x="99" y="13601"/>
                  <a:pt x="89" y="13594"/>
                </a:cubicBezTo>
                <a:cubicBezTo>
                  <a:pt x="78" y="13587"/>
                  <a:pt x="68" y="13578"/>
                  <a:pt x="59" y="13569"/>
                </a:cubicBezTo>
                <a:cubicBezTo>
                  <a:pt x="49" y="13560"/>
                  <a:pt x="41" y="13550"/>
                  <a:pt x="34" y="13539"/>
                </a:cubicBezTo>
                <a:cubicBezTo>
                  <a:pt x="27" y="13528"/>
                  <a:pt x="20" y="13517"/>
                  <a:pt x="15" y="13505"/>
                </a:cubicBezTo>
                <a:cubicBezTo>
                  <a:pt x="11" y="13493"/>
                  <a:pt x="7" y="13480"/>
                  <a:pt x="4" y="13468"/>
                </a:cubicBezTo>
                <a:cubicBezTo>
                  <a:pt x="2" y="13455"/>
                  <a:pt x="0" y="13442"/>
                  <a:pt x="0" y="1342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blurRad="76200" dist="50800" dir="5400000" algn="tl" rotWithShape="0">
              <a:prstClr val="black">
                <a:alpha val="100000"/>
              </a:prstClr>
            </a:outerShdw>
          </a:effectLst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6252840" y="1490400"/>
            <a:ext cx="5477400" cy="4905720"/>
          </a:xfrm>
          <a:custGeom>
            <a:avLst/>
            <a:gdLst/>
            <a:ahLst/>
            <a:rect l="0" t="0" r="r" b="b"/>
            <a:pathLst>
              <a:path fill="none" w="15215" h="13627">
                <a:moveTo>
                  <a:pt x="0" y="13429"/>
                </a:move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7"/>
                  <a:pt x="11" y="135"/>
                  <a:pt x="15" y="123"/>
                </a:cubicBezTo>
                <a:cubicBezTo>
                  <a:pt x="20" y="111"/>
                  <a:pt x="27" y="99"/>
                  <a:pt x="34" y="88"/>
                </a:cubicBezTo>
                <a:cubicBezTo>
                  <a:pt x="41" y="78"/>
                  <a:pt x="49" y="68"/>
                  <a:pt x="59" y="58"/>
                </a:cubicBezTo>
                <a:cubicBezTo>
                  <a:pt x="68" y="49"/>
                  <a:pt x="78" y="41"/>
                  <a:pt x="89" y="34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15016" y="0"/>
                </a:lnTo>
                <a:cubicBezTo>
                  <a:pt x="15030" y="0"/>
                  <a:pt x="15042" y="2"/>
                  <a:pt x="15055" y="4"/>
                </a:cubicBezTo>
                <a:cubicBezTo>
                  <a:pt x="15068" y="7"/>
                  <a:pt x="15080" y="10"/>
                  <a:pt x="15092" y="15"/>
                </a:cubicBezTo>
                <a:cubicBezTo>
                  <a:pt x="15104" y="20"/>
                  <a:pt x="15116" y="26"/>
                  <a:pt x="15127" y="34"/>
                </a:cubicBezTo>
                <a:cubicBezTo>
                  <a:pt x="15138" y="41"/>
                  <a:pt x="15148" y="49"/>
                  <a:pt x="15157" y="58"/>
                </a:cubicBezTo>
                <a:cubicBezTo>
                  <a:pt x="15166" y="68"/>
                  <a:pt x="15174" y="78"/>
                  <a:pt x="15181" y="88"/>
                </a:cubicBezTo>
                <a:cubicBezTo>
                  <a:pt x="15189" y="99"/>
                  <a:pt x="15195" y="111"/>
                  <a:pt x="15200" y="123"/>
                </a:cubicBezTo>
                <a:cubicBezTo>
                  <a:pt x="15205" y="135"/>
                  <a:pt x="15209" y="147"/>
                  <a:pt x="15211" y="160"/>
                </a:cubicBezTo>
                <a:cubicBezTo>
                  <a:pt x="15214" y="173"/>
                  <a:pt x="15215" y="186"/>
                  <a:pt x="15215" y="199"/>
                </a:cubicBezTo>
                <a:lnTo>
                  <a:pt x="15215" y="13429"/>
                </a:lnTo>
                <a:cubicBezTo>
                  <a:pt x="15215" y="13442"/>
                  <a:pt x="15214" y="13455"/>
                  <a:pt x="15211" y="13468"/>
                </a:cubicBezTo>
                <a:cubicBezTo>
                  <a:pt x="15209" y="13480"/>
                  <a:pt x="15205" y="13493"/>
                  <a:pt x="15200" y="13505"/>
                </a:cubicBezTo>
                <a:cubicBezTo>
                  <a:pt x="15195" y="13517"/>
                  <a:pt x="15189" y="13528"/>
                  <a:pt x="15181" y="13539"/>
                </a:cubicBezTo>
                <a:cubicBezTo>
                  <a:pt x="15174" y="13550"/>
                  <a:pt x="15166" y="13560"/>
                  <a:pt x="15157" y="13569"/>
                </a:cubicBezTo>
                <a:cubicBezTo>
                  <a:pt x="15148" y="13578"/>
                  <a:pt x="15138" y="13587"/>
                  <a:pt x="15127" y="13594"/>
                </a:cubicBezTo>
                <a:cubicBezTo>
                  <a:pt x="15116" y="13601"/>
                  <a:pt x="15104" y="13607"/>
                  <a:pt x="15092" y="13612"/>
                </a:cubicBezTo>
                <a:cubicBezTo>
                  <a:pt x="15080" y="13617"/>
                  <a:pt x="15068" y="13621"/>
                  <a:pt x="15055" y="13623"/>
                </a:cubicBezTo>
                <a:cubicBezTo>
                  <a:pt x="15042" y="13626"/>
                  <a:pt x="15030" y="13627"/>
                  <a:pt x="15016" y="13627"/>
                </a:cubicBezTo>
                <a:lnTo>
                  <a:pt x="199" y="13627"/>
                </a:lnTo>
                <a:cubicBezTo>
                  <a:pt x="186" y="13627"/>
                  <a:pt x="173" y="13626"/>
                  <a:pt x="160" y="13623"/>
                </a:cubicBezTo>
                <a:cubicBezTo>
                  <a:pt x="147" y="13621"/>
                  <a:pt x="135" y="13617"/>
                  <a:pt x="123" y="13612"/>
                </a:cubicBezTo>
                <a:cubicBezTo>
                  <a:pt x="111" y="13607"/>
                  <a:pt x="99" y="13601"/>
                  <a:pt x="89" y="13594"/>
                </a:cubicBezTo>
                <a:cubicBezTo>
                  <a:pt x="78" y="13587"/>
                  <a:pt x="68" y="13578"/>
                  <a:pt x="59" y="13569"/>
                </a:cubicBezTo>
                <a:cubicBezTo>
                  <a:pt x="49" y="13560"/>
                  <a:pt x="41" y="13550"/>
                  <a:pt x="34" y="13539"/>
                </a:cubicBezTo>
                <a:cubicBezTo>
                  <a:pt x="27" y="13528"/>
                  <a:pt x="20" y="13517"/>
                  <a:pt x="15" y="13505"/>
                </a:cubicBezTo>
                <a:cubicBezTo>
                  <a:pt x="11" y="13493"/>
                  <a:pt x="7" y="13480"/>
                  <a:pt x="4" y="13468"/>
                </a:cubicBezTo>
                <a:cubicBezTo>
                  <a:pt x="2" y="13455"/>
                  <a:pt x="0" y="13442"/>
                  <a:pt x="0" y="13429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 txBox="1"/>
          <p:nvPr/>
        </p:nvSpPr>
        <p:spPr>
          <a:xfrm>
            <a:off x="6486480" y="3019680"/>
            <a:ext cx="4578571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三个控制点（随d连续切换，非硬切换）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6486480" y="3582720"/>
            <a:ext cx="1592197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1. Recency 混合驱逐：</a:t>
            </a:r>
            <a:r>
              <a:rPr b="1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Recency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8087400" y="358632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 txBox="1"/>
          <p:nvPr/>
        </p:nvSpPr>
        <p:spPr>
          <a:xfrm>
            <a:off x="8214480" y="3582720"/>
            <a:ext cx="616077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低→LFU；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8959680" y="358632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9086760" y="3582720"/>
            <a:ext cx="52006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高→LRU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6486480" y="3944880"/>
            <a:ext cx="21512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2. Prefetch/bypass 预算门控：</a:t>
            </a:r>
            <a:r>
              <a:rPr b="1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Prefetch/bypass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8637840" y="394848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 txBox="1"/>
          <p:nvPr/>
        </p:nvSpPr>
        <p:spPr>
          <a:xfrm>
            <a:off x="8764920" y="3944880"/>
            <a:ext cx="2528316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高+带宽紧→停止预取，退on-demand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6486480" y="4297320"/>
            <a:ext cx="468058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3. Store 时效刷新：持续高超W步→加速写入当前map，逐出陈旧条目</a:t>
            </a:r>
            <a:r>
              <a:rPr b="1" lang="en-US" sz="1200" strike="noStrike" u="non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Store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 txBox="1"/>
          <p:nvPr/>
        </p:nvSpPr>
        <p:spPr>
          <a:xfrm>
            <a:off x="8307360" y="4300560"/>
            <a:ext cx="170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6486480" y="4705200"/>
            <a:ext cx="723960" cy="162360"/>
          </a:xfrm>
          <a:custGeom>
            <a:avLst/>
            <a:gdLst/>
            <a:ahLst/>
            <a:rect l="0" t="0" r="r" b="b"/>
            <a:pathLst>
              <a:path w="2011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906" y="0"/>
                </a:lnTo>
                <a:cubicBezTo>
                  <a:pt x="1920" y="0"/>
                  <a:pt x="1933" y="3"/>
                  <a:pt x="1946" y="8"/>
                </a:cubicBezTo>
                <a:cubicBezTo>
                  <a:pt x="1959" y="13"/>
                  <a:pt x="1971" y="21"/>
                  <a:pt x="1980" y="31"/>
                </a:cubicBezTo>
                <a:cubicBezTo>
                  <a:pt x="1990" y="41"/>
                  <a:pt x="1998" y="52"/>
                  <a:pt x="2003" y="65"/>
                </a:cubicBezTo>
                <a:cubicBezTo>
                  <a:pt x="2009" y="78"/>
                  <a:pt x="2011" y="92"/>
                  <a:pt x="2011" y="106"/>
                </a:cubicBezTo>
                <a:lnTo>
                  <a:pt x="2011" y="345"/>
                </a:lnTo>
                <a:cubicBezTo>
                  <a:pt x="2011" y="359"/>
                  <a:pt x="2009" y="372"/>
                  <a:pt x="2003" y="385"/>
                </a:cubicBezTo>
                <a:cubicBezTo>
                  <a:pt x="1998" y="398"/>
                  <a:pt x="1990" y="410"/>
                  <a:pt x="1980" y="420"/>
                </a:cubicBezTo>
                <a:cubicBezTo>
                  <a:pt x="1971" y="430"/>
                  <a:pt x="1959" y="437"/>
                  <a:pt x="1946" y="443"/>
                </a:cubicBezTo>
                <a:cubicBezTo>
                  <a:pt x="1933" y="448"/>
                  <a:pt x="1920" y="451"/>
                  <a:pt x="1906" y="451"/>
                </a:cubicBezTo>
                <a:lnTo>
                  <a:pt x="105" y="451"/>
                </a:lnTo>
                <a:cubicBezTo>
                  <a:pt x="91" y="451"/>
                  <a:pt x="78" y="448"/>
                  <a:pt x="65" y="443"/>
                </a:cubicBezTo>
                <a:cubicBezTo>
                  <a:pt x="52" y="437"/>
                  <a:pt x="41" y="430"/>
                  <a:pt x="31" y="420"/>
                </a:cubicBezTo>
                <a:cubicBezTo>
                  <a:pt x="21" y="410"/>
                  <a:pt x="13" y="398"/>
                  <a:pt x="8" y="385"/>
                </a:cubicBezTo>
                <a:cubicBezTo>
                  <a:pt x="2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6524640" y="4697280"/>
            <a:ext cx="420052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关键洞察不是「换成LRU」，是随漂移度连续滑动的元控制器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 txBox="1"/>
          <p:nvPr/>
        </p:nvSpPr>
        <p:spPr>
          <a:xfrm>
            <a:off x="7134120" y="470088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:</a:t>
            </a:r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/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0" y="0"/>
            <a:ext cx="57240" cy="6858000"/>
          </a:xfrm>
          <a:custGeom>
            <a:avLst/>
            <a:gdLst/>
            <a:ahLst/>
            <a:rect l="0" t="0" r="r" b="b"/>
            <a:pathLst>
              <a:path w="159" h="19050">
                <a:moveTo>
                  <a:pt x="0" y="0"/>
                </a:moveTo>
                <a:lnTo>
                  <a:pt x="159" y="0"/>
                </a:lnTo>
                <a:lnTo>
                  <a:pt x="15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10362960" y="0"/>
            <a:ext cx="1762560" cy="121320"/>
          </a:xfrm>
          <a:custGeom>
            <a:avLst/>
            <a:gdLst/>
            <a:ahLst/>
            <a:rect l="0" t="0" r="r" b="b"/>
            <a:pathLst>
              <a:path w="4896" h="337">
                <a:moveTo>
                  <a:pt x="4747" y="337"/>
                </a:moveTo>
                <a:cubicBezTo>
                  <a:pt x="4746" y="337"/>
                  <a:pt x="4746" y="337"/>
                  <a:pt x="4746" y="336"/>
                </a:cubicBezTo>
                <a:cubicBezTo>
                  <a:pt x="4706" y="296"/>
                  <a:pt x="4660" y="266"/>
                  <a:pt x="4608" y="244"/>
                </a:cubicBezTo>
                <a:cubicBezTo>
                  <a:pt x="4556" y="223"/>
                  <a:pt x="4502" y="212"/>
                  <a:pt x="4446" y="212"/>
                </a:cubicBezTo>
                <a:lnTo>
                  <a:pt x="0" y="212"/>
                </a:lnTo>
                <a:lnTo>
                  <a:pt x="0" y="0"/>
                </a:lnTo>
                <a:lnTo>
                  <a:pt x="4446" y="0"/>
                </a:lnTo>
                <a:cubicBezTo>
                  <a:pt x="4488" y="0"/>
                  <a:pt x="4529" y="4"/>
                  <a:pt x="4570" y="12"/>
                </a:cubicBezTo>
                <a:cubicBezTo>
                  <a:pt x="4611" y="20"/>
                  <a:pt x="4651" y="32"/>
                  <a:pt x="4689" y="48"/>
                </a:cubicBezTo>
                <a:cubicBezTo>
                  <a:pt x="4728" y="64"/>
                  <a:pt x="4764" y="83"/>
                  <a:pt x="4799" y="107"/>
                </a:cubicBezTo>
                <a:cubicBezTo>
                  <a:pt x="4834" y="130"/>
                  <a:pt x="4866" y="156"/>
                  <a:pt x="4895" y="186"/>
                </a:cubicBezTo>
                <a:cubicBezTo>
                  <a:pt x="4896" y="187"/>
                  <a:pt x="4896" y="187"/>
                  <a:pt x="4896" y="188"/>
                </a:cubicBezTo>
                <a:lnTo>
                  <a:pt x="4747" y="337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12070440" y="66240"/>
            <a:ext cx="121680" cy="1762560"/>
          </a:xfrm>
          <a:custGeom>
            <a:avLst/>
            <a:gdLst/>
            <a:ahLst/>
            <a:rect l="0" t="0" r="r" b="b"/>
            <a:pathLst>
              <a:path w="338" h="4896">
                <a:moveTo>
                  <a:pt x="150" y="0"/>
                </a:moveTo>
                <a:cubicBezTo>
                  <a:pt x="150" y="1"/>
                  <a:pt x="151" y="1"/>
                  <a:pt x="151" y="1"/>
                </a:cubicBezTo>
                <a:cubicBezTo>
                  <a:pt x="181" y="31"/>
                  <a:pt x="207" y="63"/>
                  <a:pt x="230" y="98"/>
                </a:cubicBezTo>
                <a:cubicBezTo>
                  <a:pt x="254" y="132"/>
                  <a:pt x="274" y="169"/>
                  <a:pt x="290" y="207"/>
                </a:cubicBezTo>
                <a:cubicBezTo>
                  <a:pt x="306" y="246"/>
                  <a:pt x="318" y="286"/>
                  <a:pt x="326" y="327"/>
                </a:cubicBezTo>
                <a:cubicBezTo>
                  <a:pt x="334" y="368"/>
                  <a:pt x="338" y="409"/>
                  <a:pt x="338" y="450"/>
                </a:cubicBezTo>
                <a:lnTo>
                  <a:pt x="338" y="4896"/>
                </a:lnTo>
                <a:lnTo>
                  <a:pt x="125" y="4896"/>
                </a:lnTo>
                <a:lnTo>
                  <a:pt x="125" y="450"/>
                </a:lnTo>
                <a:cubicBezTo>
                  <a:pt x="125" y="394"/>
                  <a:pt x="115" y="340"/>
                  <a:pt x="93" y="288"/>
                </a:cubicBezTo>
                <a:cubicBezTo>
                  <a:pt x="72" y="237"/>
                  <a:pt x="41" y="191"/>
                  <a:pt x="2" y="151"/>
                </a:cubicBezTo>
                <a:cubicBezTo>
                  <a:pt x="1" y="151"/>
                  <a:pt x="1" y="150"/>
                  <a:pt x="0" y="150"/>
                </a:cubicBezTo>
                <a:lnTo>
                  <a:pt x="150" y="0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 txBox="1"/>
          <p:nvPr/>
        </p:nvSpPr>
        <p:spPr>
          <a:xfrm>
            <a:off x="457200" y="465480"/>
            <a:ext cx="3060382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DAC三控制点详解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461880" y="1566720"/>
            <a:ext cx="3543480" cy="4829400"/>
          </a:xfrm>
          <a:custGeom>
            <a:avLst/>
            <a:gdLst/>
            <a:ahLst/>
            <a:rect l="0" t="0" r="r" b="b"/>
            <a:pathLst>
              <a:path w="9843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9645" y="0"/>
                </a:lnTo>
                <a:cubicBezTo>
                  <a:pt x="9658" y="0"/>
                  <a:pt x="9671" y="1"/>
                  <a:pt x="9684" y="4"/>
                </a:cubicBezTo>
                <a:cubicBezTo>
                  <a:pt x="9696" y="6"/>
                  <a:pt x="9709" y="10"/>
                  <a:pt x="9721" y="15"/>
                </a:cubicBezTo>
                <a:cubicBezTo>
                  <a:pt x="9733" y="20"/>
                  <a:pt x="9744" y="26"/>
                  <a:pt x="9755" y="33"/>
                </a:cubicBezTo>
                <a:cubicBezTo>
                  <a:pt x="9766" y="41"/>
                  <a:pt x="9776" y="49"/>
                  <a:pt x="9785" y="58"/>
                </a:cubicBezTo>
                <a:cubicBezTo>
                  <a:pt x="9794" y="67"/>
                  <a:pt x="9803" y="77"/>
                  <a:pt x="9810" y="88"/>
                </a:cubicBezTo>
                <a:cubicBezTo>
                  <a:pt x="9817" y="99"/>
                  <a:pt x="9823" y="110"/>
                  <a:pt x="9828" y="122"/>
                </a:cubicBezTo>
                <a:cubicBezTo>
                  <a:pt x="9833" y="134"/>
                  <a:pt x="9837" y="147"/>
                  <a:pt x="9839" y="160"/>
                </a:cubicBezTo>
                <a:cubicBezTo>
                  <a:pt x="9842" y="172"/>
                  <a:pt x="9843" y="185"/>
                  <a:pt x="9843" y="198"/>
                </a:cubicBezTo>
                <a:lnTo>
                  <a:pt x="9843" y="13217"/>
                </a:lnTo>
                <a:cubicBezTo>
                  <a:pt x="9843" y="13230"/>
                  <a:pt x="9842" y="13243"/>
                  <a:pt x="9839" y="13256"/>
                </a:cubicBezTo>
                <a:cubicBezTo>
                  <a:pt x="9837" y="13268"/>
                  <a:pt x="9833" y="13281"/>
                  <a:pt x="9828" y="13293"/>
                </a:cubicBezTo>
                <a:cubicBezTo>
                  <a:pt x="9823" y="13305"/>
                  <a:pt x="9817" y="13316"/>
                  <a:pt x="9810" y="13327"/>
                </a:cubicBezTo>
                <a:cubicBezTo>
                  <a:pt x="9803" y="13338"/>
                  <a:pt x="9794" y="13348"/>
                  <a:pt x="9785" y="13357"/>
                </a:cubicBezTo>
                <a:cubicBezTo>
                  <a:pt x="9776" y="13366"/>
                  <a:pt x="9766" y="13375"/>
                  <a:pt x="9755" y="13382"/>
                </a:cubicBezTo>
                <a:cubicBezTo>
                  <a:pt x="9744" y="13389"/>
                  <a:pt x="9733" y="13395"/>
                  <a:pt x="9721" y="13400"/>
                </a:cubicBezTo>
                <a:cubicBezTo>
                  <a:pt x="9709" y="13405"/>
                  <a:pt x="9696" y="13409"/>
                  <a:pt x="9684" y="13411"/>
                </a:cubicBezTo>
                <a:cubicBezTo>
                  <a:pt x="9671" y="13414"/>
                  <a:pt x="9658" y="13415"/>
                  <a:pt x="9645" y="13415"/>
                </a:cubicBezTo>
                <a:lnTo>
                  <a:pt x="198" y="13415"/>
                </a:lnTo>
                <a:cubicBezTo>
                  <a:pt x="185" y="13415"/>
                  <a:pt x="172" y="13414"/>
                  <a:pt x="159" y="13411"/>
                </a:cubicBezTo>
                <a:cubicBezTo>
                  <a:pt x="147" y="13409"/>
                  <a:pt x="134" y="13405"/>
                  <a:pt x="122" y="13400"/>
                </a:cubicBezTo>
                <a:cubicBezTo>
                  <a:pt x="110" y="13395"/>
                  <a:pt x="99" y="13389"/>
                  <a:pt x="88" y="13382"/>
                </a:cubicBezTo>
                <a:cubicBezTo>
                  <a:pt x="77" y="13375"/>
                  <a:pt x="67" y="13366"/>
                  <a:pt x="58" y="13357"/>
                </a:cubicBezTo>
                <a:cubicBezTo>
                  <a:pt x="49" y="13348"/>
                  <a:pt x="40" y="13338"/>
                  <a:pt x="33" y="13327"/>
                </a:cubicBezTo>
                <a:cubicBezTo>
                  <a:pt x="26" y="13316"/>
                  <a:pt x="20" y="13305"/>
                  <a:pt x="15" y="13293"/>
                </a:cubicBezTo>
                <a:cubicBezTo>
                  <a:pt x="10" y="13281"/>
                  <a:pt x="6" y="13268"/>
                  <a:pt x="4" y="13256"/>
                </a:cubicBezTo>
                <a:cubicBezTo>
                  <a:pt x="1" y="13243"/>
                  <a:pt x="0" y="13230"/>
                  <a:pt x="0" y="132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461880" y="1566720"/>
            <a:ext cx="3543480" cy="4829400"/>
          </a:xfrm>
          <a:custGeom>
            <a:avLst/>
            <a:gdLst/>
            <a:ahLst/>
            <a:rect l="0" t="0" r="r" b="b"/>
            <a:pathLst>
              <a:path fill="none" w="9843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9645" y="0"/>
                </a:lnTo>
                <a:cubicBezTo>
                  <a:pt x="9658" y="0"/>
                  <a:pt x="9671" y="1"/>
                  <a:pt x="9684" y="4"/>
                </a:cubicBezTo>
                <a:cubicBezTo>
                  <a:pt x="9696" y="6"/>
                  <a:pt x="9709" y="10"/>
                  <a:pt x="9721" y="15"/>
                </a:cubicBezTo>
                <a:cubicBezTo>
                  <a:pt x="9733" y="20"/>
                  <a:pt x="9744" y="26"/>
                  <a:pt x="9755" y="33"/>
                </a:cubicBezTo>
                <a:cubicBezTo>
                  <a:pt x="9766" y="41"/>
                  <a:pt x="9776" y="49"/>
                  <a:pt x="9785" y="58"/>
                </a:cubicBezTo>
                <a:cubicBezTo>
                  <a:pt x="9794" y="67"/>
                  <a:pt x="9803" y="77"/>
                  <a:pt x="9810" y="88"/>
                </a:cubicBezTo>
                <a:cubicBezTo>
                  <a:pt x="9817" y="99"/>
                  <a:pt x="9823" y="110"/>
                  <a:pt x="9828" y="122"/>
                </a:cubicBezTo>
                <a:cubicBezTo>
                  <a:pt x="9833" y="134"/>
                  <a:pt x="9837" y="147"/>
                  <a:pt x="9839" y="160"/>
                </a:cubicBezTo>
                <a:cubicBezTo>
                  <a:pt x="9842" y="172"/>
                  <a:pt x="9843" y="185"/>
                  <a:pt x="9843" y="198"/>
                </a:cubicBezTo>
                <a:lnTo>
                  <a:pt x="9843" y="13217"/>
                </a:lnTo>
                <a:cubicBezTo>
                  <a:pt x="9843" y="13230"/>
                  <a:pt x="9842" y="13243"/>
                  <a:pt x="9839" y="13256"/>
                </a:cubicBezTo>
                <a:cubicBezTo>
                  <a:pt x="9837" y="13268"/>
                  <a:pt x="9833" y="13281"/>
                  <a:pt x="9828" y="13293"/>
                </a:cubicBezTo>
                <a:cubicBezTo>
                  <a:pt x="9823" y="13305"/>
                  <a:pt x="9817" y="13316"/>
                  <a:pt x="9810" y="13327"/>
                </a:cubicBezTo>
                <a:cubicBezTo>
                  <a:pt x="9803" y="13338"/>
                  <a:pt x="9794" y="13348"/>
                  <a:pt x="9785" y="13357"/>
                </a:cubicBezTo>
                <a:cubicBezTo>
                  <a:pt x="9776" y="13366"/>
                  <a:pt x="9766" y="13375"/>
                  <a:pt x="9755" y="13382"/>
                </a:cubicBezTo>
                <a:cubicBezTo>
                  <a:pt x="9744" y="13389"/>
                  <a:pt x="9733" y="13395"/>
                  <a:pt x="9721" y="13400"/>
                </a:cubicBezTo>
                <a:cubicBezTo>
                  <a:pt x="9709" y="13405"/>
                  <a:pt x="9696" y="13409"/>
                  <a:pt x="9684" y="13411"/>
                </a:cubicBezTo>
                <a:cubicBezTo>
                  <a:pt x="9671" y="13414"/>
                  <a:pt x="9658" y="13415"/>
                  <a:pt x="9645" y="13415"/>
                </a:cubicBezTo>
                <a:lnTo>
                  <a:pt x="198" y="13415"/>
                </a:lnTo>
                <a:cubicBezTo>
                  <a:pt x="185" y="13415"/>
                  <a:pt x="172" y="13414"/>
                  <a:pt x="159" y="13411"/>
                </a:cubicBezTo>
                <a:cubicBezTo>
                  <a:pt x="147" y="13409"/>
                  <a:pt x="134" y="13405"/>
                  <a:pt x="122" y="13400"/>
                </a:cubicBezTo>
                <a:cubicBezTo>
                  <a:pt x="110" y="13395"/>
                  <a:pt x="99" y="13389"/>
                  <a:pt x="88" y="13382"/>
                </a:cubicBezTo>
                <a:cubicBezTo>
                  <a:pt x="77" y="13375"/>
                  <a:pt x="67" y="13366"/>
                  <a:pt x="58" y="13357"/>
                </a:cubicBezTo>
                <a:cubicBezTo>
                  <a:pt x="49" y="13348"/>
                  <a:pt x="40" y="13338"/>
                  <a:pt x="33" y="13327"/>
                </a:cubicBezTo>
                <a:cubicBezTo>
                  <a:pt x="26" y="13316"/>
                  <a:pt x="20" y="13305"/>
                  <a:pt x="15" y="13293"/>
                </a:cubicBezTo>
                <a:cubicBezTo>
                  <a:pt x="10" y="13281"/>
                  <a:pt x="6" y="13268"/>
                  <a:pt x="4" y="13256"/>
                </a:cubicBezTo>
                <a:cubicBezTo>
                  <a:pt x="1" y="13243"/>
                  <a:pt x="0" y="13230"/>
                  <a:pt x="0" y="13217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 txBox="1"/>
          <p:nvPr/>
        </p:nvSpPr>
        <p:spPr>
          <a:xfrm>
            <a:off x="695160" y="1847880"/>
            <a:ext cx="2716339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CP1 — Recency混合驱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695160" y="2276640"/>
            <a:ext cx="322707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逐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699840" y="4071600"/>
            <a:ext cx="2991240" cy="429120"/>
          </a:xfrm>
          <a:custGeom>
            <a:avLst/>
            <a:gdLst/>
            <a:ahLst/>
            <a:rect l="0" t="0" r="r" b="b"/>
            <a:pathLst>
              <a:path w="8309" h="1192">
                <a:moveTo>
                  <a:pt x="0" y="1046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8164" y="0"/>
                </a:lnTo>
                <a:cubicBezTo>
                  <a:pt x="8173" y="0"/>
                  <a:pt x="8183" y="1"/>
                  <a:pt x="8192" y="3"/>
                </a:cubicBezTo>
                <a:cubicBezTo>
                  <a:pt x="8201" y="5"/>
                  <a:pt x="8210" y="8"/>
                  <a:pt x="8219" y="12"/>
                </a:cubicBezTo>
                <a:cubicBezTo>
                  <a:pt x="8228" y="15"/>
                  <a:pt x="8236" y="20"/>
                  <a:pt x="8244" y="25"/>
                </a:cubicBezTo>
                <a:cubicBezTo>
                  <a:pt x="8252" y="30"/>
                  <a:pt x="8260" y="36"/>
                  <a:pt x="8266" y="43"/>
                </a:cubicBezTo>
                <a:cubicBezTo>
                  <a:pt x="8273" y="50"/>
                  <a:pt x="8279" y="57"/>
                  <a:pt x="8285" y="65"/>
                </a:cubicBezTo>
                <a:cubicBezTo>
                  <a:pt x="8290" y="73"/>
                  <a:pt x="8294" y="81"/>
                  <a:pt x="8298" y="90"/>
                </a:cubicBezTo>
                <a:cubicBezTo>
                  <a:pt x="8302" y="99"/>
                  <a:pt x="8304" y="108"/>
                  <a:pt x="8306" y="118"/>
                </a:cubicBezTo>
                <a:cubicBezTo>
                  <a:pt x="8308" y="127"/>
                  <a:pt x="8309" y="136"/>
                  <a:pt x="8309" y="146"/>
                </a:cubicBezTo>
                <a:lnTo>
                  <a:pt x="8309" y="1046"/>
                </a:lnTo>
                <a:cubicBezTo>
                  <a:pt x="8309" y="1055"/>
                  <a:pt x="8308" y="1065"/>
                  <a:pt x="8306" y="1074"/>
                </a:cubicBezTo>
                <a:cubicBezTo>
                  <a:pt x="8304" y="1083"/>
                  <a:pt x="8302" y="1092"/>
                  <a:pt x="8298" y="1101"/>
                </a:cubicBezTo>
                <a:cubicBezTo>
                  <a:pt x="8294" y="1110"/>
                  <a:pt x="8290" y="1118"/>
                  <a:pt x="8285" y="1126"/>
                </a:cubicBezTo>
                <a:cubicBezTo>
                  <a:pt x="8279" y="1134"/>
                  <a:pt x="8273" y="1142"/>
                  <a:pt x="8266" y="1148"/>
                </a:cubicBezTo>
                <a:cubicBezTo>
                  <a:pt x="8260" y="1155"/>
                  <a:pt x="8252" y="1161"/>
                  <a:pt x="8244" y="1167"/>
                </a:cubicBezTo>
                <a:cubicBezTo>
                  <a:pt x="8236" y="1172"/>
                  <a:pt x="8228" y="1176"/>
                  <a:pt x="8219" y="1180"/>
                </a:cubicBezTo>
                <a:cubicBezTo>
                  <a:pt x="8210" y="1184"/>
                  <a:pt x="8201" y="1187"/>
                  <a:pt x="8192" y="1189"/>
                </a:cubicBezTo>
                <a:cubicBezTo>
                  <a:pt x="8183" y="1191"/>
                  <a:pt x="8173" y="1192"/>
                  <a:pt x="8164" y="1192"/>
                </a:cubicBezTo>
                <a:lnTo>
                  <a:pt x="146" y="1192"/>
                </a:lnTo>
                <a:cubicBezTo>
                  <a:pt x="136" y="1192"/>
                  <a:pt x="127" y="1191"/>
                  <a:pt x="117" y="1189"/>
                </a:cubicBezTo>
                <a:cubicBezTo>
                  <a:pt x="108" y="1187"/>
                  <a:pt x="99" y="1184"/>
                  <a:pt x="90" y="1180"/>
                </a:cubicBezTo>
                <a:cubicBezTo>
                  <a:pt x="81" y="1176"/>
                  <a:pt x="73" y="1172"/>
                  <a:pt x="65" y="1167"/>
                </a:cubicBezTo>
                <a:cubicBezTo>
                  <a:pt x="57" y="1161"/>
                  <a:pt x="50" y="1155"/>
                  <a:pt x="43" y="1148"/>
                </a:cubicBezTo>
                <a:cubicBezTo>
                  <a:pt x="36" y="1142"/>
                  <a:pt x="30" y="1134"/>
                  <a:pt x="25" y="1126"/>
                </a:cubicBezTo>
                <a:cubicBezTo>
                  <a:pt x="19" y="1118"/>
                  <a:pt x="15" y="1110"/>
                  <a:pt x="11" y="1101"/>
                </a:cubicBezTo>
                <a:cubicBezTo>
                  <a:pt x="8" y="1092"/>
                  <a:pt x="5" y="1083"/>
                  <a:pt x="3" y="1074"/>
                </a:cubicBezTo>
                <a:cubicBezTo>
                  <a:pt x="1" y="1065"/>
                  <a:pt x="0" y="1055"/>
                  <a:pt x="0" y="1046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699840" y="4071600"/>
            <a:ext cx="2991240" cy="429120"/>
          </a:xfrm>
          <a:custGeom>
            <a:avLst/>
            <a:gdLst/>
            <a:ahLst/>
            <a:rect l="0" t="0" r="r" b="b"/>
            <a:pathLst>
              <a:path fill="none" w="8309" h="1192">
                <a:moveTo>
                  <a:pt x="0" y="1046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8164" y="0"/>
                </a:lnTo>
                <a:cubicBezTo>
                  <a:pt x="8173" y="0"/>
                  <a:pt x="8183" y="1"/>
                  <a:pt x="8192" y="3"/>
                </a:cubicBezTo>
                <a:cubicBezTo>
                  <a:pt x="8201" y="5"/>
                  <a:pt x="8210" y="8"/>
                  <a:pt x="8219" y="12"/>
                </a:cubicBezTo>
                <a:cubicBezTo>
                  <a:pt x="8228" y="15"/>
                  <a:pt x="8236" y="20"/>
                  <a:pt x="8244" y="25"/>
                </a:cubicBezTo>
                <a:cubicBezTo>
                  <a:pt x="8252" y="30"/>
                  <a:pt x="8260" y="36"/>
                  <a:pt x="8266" y="43"/>
                </a:cubicBezTo>
                <a:cubicBezTo>
                  <a:pt x="8273" y="50"/>
                  <a:pt x="8279" y="57"/>
                  <a:pt x="8285" y="65"/>
                </a:cubicBezTo>
                <a:cubicBezTo>
                  <a:pt x="8290" y="73"/>
                  <a:pt x="8294" y="81"/>
                  <a:pt x="8298" y="90"/>
                </a:cubicBezTo>
                <a:cubicBezTo>
                  <a:pt x="8302" y="99"/>
                  <a:pt x="8304" y="108"/>
                  <a:pt x="8306" y="118"/>
                </a:cubicBezTo>
                <a:cubicBezTo>
                  <a:pt x="8308" y="127"/>
                  <a:pt x="8309" y="136"/>
                  <a:pt x="8309" y="146"/>
                </a:cubicBezTo>
                <a:lnTo>
                  <a:pt x="8309" y="1046"/>
                </a:lnTo>
                <a:cubicBezTo>
                  <a:pt x="8309" y="1055"/>
                  <a:pt x="8308" y="1065"/>
                  <a:pt x="8306" y="1074"/>
                </a:cubicBezTo>
                <a:cubicBezTo>
                  <a:pt x="8304" y="1083"/>
                  <a:pt x="8302" y="1092"/>
                  <a:pt x="8298" y="1101"/>
                </a:cubicBezTo>
                <a:cubicBezTo>
                  <a:pt x="8294" y="1110"/>
                  <a:pt x="8290" y="1118"/>
                  <a:pt x="8285" y="1126"/>
                </a:cubicBezTo>
                <a:cubicBezTo>
                  <a:pt x="8279" y="1134"/>
                  <a:pt x="8273" y="1142"/>
                  <a:pt x="8266" y="1148"/>
                </a:cubicBezTo>
                <a:cubicBezTo>
                  <a:pt x="8260" y="1155"/>
                  <a:pt x="8252" y="1161"/>
                  <a:pt x="8244" y="1167"/>
                </a:cubicBezTo>
                <a:cubicBezTo>
                  <a:pt x="8236" y="1172"/>
                  <a:pt x="8228" y="1176"/>
                  <a:pt x="8219" y="1180"/>
                </a:cubicBezTo>
                <a:cubicBezTo>
                  <a:pt x="8210" y="1184"/>
                  <a:pt x="8201" y="1187"/>
                  <a:pt x="8192" y="1189"/>
                </a:cubicBezTo>
                <a:cubicBezTo>
                  <a:pt x="8183" y="1191"/>
                  <a:pt x="8173" y="1192"/>
                  <a:pt x="8164" y="1192"/>
                </a:cubicBezTo>
                <a:lnTo>
                  <a:pt x="146" y="1192"/>
                </a:lnTo>
                <a:cubicBezTo>
                  <a:pt x="136" y="1192"/>
                  <a:pt x="127" y="1191"/>
                  <a:pt x="117" y="1189"/>
                </a:cubicBezTo>
                <a:cubicBezTo>
                  <a:pt x="108" y="1187"/>
                  <a:pt x="99" y="1184"/>
                  <a:pt x="90" y="1180"/>
                </a:cubicBezTo>
                <a:cubicBezTo>
                  <a:pt x="81" y="1176"/>
                  <a:pt x="73" y="1172"/>
                  <a:pt x="65" y="1167"/>
                </a:cubicBezTo>
                <a:cubicBezTo>
                  <a:pt x="57" y="1161"/>
                  <a:pt x="50" y="1155"/>
                  <a:pt x="43" y="1148"/>
                </a:cubicBezTo>
                <a:cubicBezTo>
                  <a:pt x="36" y="1142"/>
                  <a:pt x="30" y="1134"/>
                  <a:pt x="25" y="1126"/>
                </a:cubicBezTo>
                <a:cubicBezTo>
                  <a:pt x="19" y="1118"/>
                  <a:pt x="15" y="1110"/>
                  <a:pt x="11" y="1101"/>
                </a:cubicBezTo>
                <a:cubicBezTo>
                  <a:pt x="8" y="1092"/>
                  <a:pt x="5" y="1083"/>
                  <a:pt x="3" y="1074"/>
                </a:cubicBezTo>
                <a:cubicBezTo>
                  <a:pt x="1" y="1065"/>
                  <a:pt x="0" y="1055"/>
                  <a:pt x="0" y="1046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 txBox="1"/>
          <p:nvPr/>
        </p:nvSpPr>
        <p:spPr>
          <a:xfrm>
            <a:off x="695160" y="2841120"/>
            <a:ext cx="133731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（解决缓存污染）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 txBox="1"/>
          <p:nvPr/>
        </p:nvSpPr>
        <p:spPr>
          <a:xfrm>
            <a:off x="695160" y="3259080"/>
            <a:ext cx="1672209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按rank归一化：LFU键和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 txBox="1"/>
          <p:nvPr/>
        </p:nvSpPr>
        <p:spPr>
          <a:xfrm>
            <a:off x="2473560" y="3262680"/>
            <a:ext cx="704088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recency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 txBox="1"/>
          <p:nvPr/>
        </p:nvSpPr>
        <p:spPr>
          <a:xfrm>
            <a:off x="3091680" y="3259080"/>
            <a:ext cx="502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时间戳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 txBox="1"/>
          <p:nvPr/>
        </p:nvSpPr>
        <p:spPr>
          <a:xfrm>
            <a:off x="695160" y="3497040"/>
            <a:ext cx="254431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分别排分位，再用加权混合；d→0退回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 txBox="1"/>
          <p:nvPr/>
        </p:nvSpPr>
        <p:spPr>
          <a:xfrm>
            <a:off x="1914480" y="3500640"/>
            <a:ext cx="170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 txBox="1"/>
          <p:nvPr/>
        </p:nvSpPr>
        <p:spPr>
          <a:xfrm>
            <a:off x="695160" y="3744720"/>
            <a:ext cx="1056132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LFU，d→1走LRU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 txBox="1"/>
          <p:nvPr/>
        </p:nvSpPr>
        <p:spPr>
          <a:xfrm>
            <a:off x="819000" y="4200480"/>
            <a:ext cx="2156269" cy="162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 i="0">
                <a:solidFill>
                  <a:srgbClr val="3b82f6"/>
                </a:solidFill>
                <a:effectLst/>
                <a:uFillTx/>
                <a:latin typeface="ui-monospace, SFMono-Regular, Menlo, Monaco, Consolas, &quot;Liberation Mono&quot;, &quot;Courier New&quot;, monospace"/>
                <a:ea typeface="ui-monospace, SFMono-Regular, Menlo, Monaco, Consolas, &quot;Liberation Mono&quot;, &quot;Courier New&quot;, monospace"/>
              </a:rPr>
              <a:t>注入点: task_scheduler.cpp:296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4319280" y="1566720"/>
            <a:ext cx="3553200" cy="4829400"/>
          </a:xfrm>
          <a:custGeom>
            <a:avLst/>
            <a:gdLst/>
            <a:ahLst/>
            <a:rect l="0" t="0" r="r" b="b"/>
            <a:pathLst>
              <a:path w="9870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0" y="134"/>
                  <a:pt x="15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9672" y="0"/>
                </a:lnTo>
                <a:cubicBezTo>
                  <a:pt x="9685" y="0"/>
                  <a:pt x="9698" y="1"/>
                  <a:pt x="9711" y="4"/>
                </a:cubicBezTo>
                <a:cubicBezTo>
                  <a:pt x="9723" y="6"/>
                  <a:pt x="9736" y="10"/>
                  <a:pt x="9748" y="15"/>
                </a:cubicBezTo>
                <a:cubicBezTo>
                  <a:pt x="9760" y="20"/>
                  <a:pt x="9771" y="26"/>
                  <a:pt x="9782" y="33"/>
                </a:cubicBezTo>
                <a:cubicBezTo>
                  <a:pt x="9793" y="41"/>
                  <a:pt x="9803" y="49"/>
                  <a:pt x="9812" y="58"/>
                </a:cubicBezTo>
                <a:cubicBezTo>
                  <a:pt x="9821" y="67"/>
                  <a:pt x="9830" y="77"/>
                  <a:pt x="9837" y="88"/>
                </a:cubicBezTo>
                <a:cubicBezTo>
                  <a:pt x="9844" y="99"/>
                  <a:pt x="9850" y="110"/>
                  <a:pt x="9855" y="122"/>
                </a:cubicBezTo>
                <a:cubicBezTo>
                  <a:pt x="9860" y="134"/>
                  <a:pt x="9864" y="147"/>
                  <a:pt x="9866" y="160"/>
                </a:cubicBezTo>
                <a:cubicBezTo>
                  <a:pt x="9869" y="172"/>
                  <a:pt x="9870" y="185"/>
                  <a:pt x="9870" y="198"/>
                </a:cubicBezTo>
                <a:lnTo>
                  <a:pt x="9870" y="13217"/>
                </a:lnTo>
                <a:cubicBezTo>
                  <a:pt x="9870" y="13230"/>
                  <a:pt x="9869" y="13243"/>
                  <a:pt x="9866" y="13256"/>
                </a:cubicBezTo>
                <a:cubicBezTo>
                  <a:pt x="9864" y="13268"/>
                  <a:pt x="9860" y="13281"/>
                  <a:pt x="9855" y="13293"/>
                </a:cubicBezTo>
                <a:cubicBezTo>
                  <a:pt x="9850" y="13305"/>
                  <a:pt x="9844" y="13316"/>
                  <a:pt x="9837" y="13327"/>
                </a:cubicBezTo>
                <a:cubicBezTo>
                  <a:pt x="9830" y="13338"/>
                  <a:pt x="9821" y="13348"/>
                  <a:pt x="9812" y="13357"/>
                </a:cubicBezTo>
                <a:cubicBezTo>
                  <a:pt x="9803" y="13366"/>
                  <a:pt x="9793" y="13375"/>
                  <a:pt x="9782" y="13382"/>
                </a:cubicBezTo>
                <a:cubicBezTo>
                  <a:pt x="9771" y="13389"/>
                  <a:pt x="9760" y="13395"/>
                  <a:pt x="9748" y="13400"/>
                </a:cubicBezTo>
                <a:cubicBezTo>
                  <a:pt x="9736" y="13405"/>
                  <a:pt x="9723" y="13409"/>
                  <a:pt x="9711" y="13411"/>
                </a:cubicBezTo>
                <a:cubicBezTo>
                  <a:pt x="9698" y="13414"/>
                  <a:pt x="9685" y="13415"/>
                  <a:pt x="9672" y="13415"/>
                </a:cubicBezTo>
                <a:lnTo>
                  <a:pt x="199" y="13415"/>
                </a:lnTo>
                <a:cubicBezTo>
                  <a:pt x="186" y="13415"/>
                  <a:pt x="173" y="13414"/>
                  <a:pt x="160" y="13411"/>
                </a:cubicBezTo>
                <a:cubicBezTo>
                  <a:pt x="147" y="13409"/>
                  <a:pt x="135" y="13405"/>
                  <a:pt x="123" y="13400"/>
                </a:cubicBezTo>
                <a:cubicBezTo>
                  <a:pt x="111" y="13395"/>
                  <a:pt x="99" y="13389"/>
                  <a:pt x="89" y="13382"/>
                </a:cubicBezTo>
                <a:cubicBezTo>
                  <a:pt x="78" y="13375"/>
                  <a:pt x="68" y="13366"/>
                  <a:pt x="58" y="13357"/>
                </a:cubicBezTo>
                <a:cubicBezTo>
                  <a:pt x="49" y="13348"/>
                  <a:pt x="41" y="13338"/>
                  <a:pt x="34" y="13327"/>
                </a:cubicBezTo>
                <a:cubicBezTo>
                  <a:pt x="27" y="13316"/>
                  <a:pt x="20" y="13305"/>
                  <a:pt x="15" y="13293"/>
                </a:cubicBezTo>
                <a:cubicBezTo>
                  <a:pt x="10" y="13281"/>
                  <a:pt x="7" y="13268"/>
                  <a:pt x="4" y="13256"/>
                </a:cubicBezTo>
                <a:cubicBezTo>
                  <a:pt x="2" y="13243"/>
                  <a:pt x="0" y="13230"/>
                  <a:pt x="0" y="132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4319280" y="1566720"/>
            <a:ext cx="3553200" cy="4829400"/>
          </a:xfrm>
          <a:custGeom>
            <a:avLst/>
            <a:gdLst/>
            <a:ahLst/>
            <a:rect l="0" t="0" r="r" b="b"/>
            <a:pathLst>
              <a:path fill="none" w="9870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0" y="134"/>
                  <a:pt x="15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9672" y="0"/>
                </a:lnTo>
                <a:cubicBezTo>
                  <a:pt x="9685" y="0"/>
                  <a:pt x="9698" y="1"/>
                  <a:pt x="9711" y="4"/>
                </a:cubicBezTo>
                <a:cubicBezTo>
                  <a:pt x="9723" y="6"/>
                  <a:pt x="9736" y="10"/>
                  <a:pt x="9748" y="15"/>
                </a:cubicBezTo>
                <a:cubicBezTo>
                  <a:pt x="9760" y="20"/>
                  <a:pt x="9771" y="26"/>
                  <a:pt x="9782" y="33"/>
                </a:cubicBezTo>
                <a:cubicBezTo>
                  <a:pt x="9793" y="41"/>
                  <a:pt x="9803" y="49"/>
                  <a:pt x="9812" y="58"/>
                </a:cubicBezTo>
                <a:cubicBezTo>
                  <a:pt x="9821" y="67"/>
                  <a:pt x="9830" y="77"/>
                  <a:pt x="9837" y="88"/>
                </a:cubicBezTo>
                <a:cubicBezTo>
                  <a:pt x="9844" y="99"/>
                  <a:pt x="9850" y="110"/>
                  <a:pt x="9855" y="122"/>
                </a:cubicBezTo>
                <a:cubicBezTo>
                  <a:pt x="9860" y="134"/>
                  <a:pt x="9864" y="147"/>
                  <a:pt x="9866" y="160"/>
                </a:cubicBezTo>
                <a:cubicBezTo>
                  <a:pt x="9869" y="172"/>
                  <a:pt x="9870" y="185"/>
                  <a:pt x="9870" y="198"/>
                </a:cubicBezTo>
                <a:lnTo>
                  <a:pt x="9870" y="13217"/>
                </a:lnTo>
                <a:cubicBezTo>
                  <a:pt x="9870" y="13230"/>
                  <a:pt x="9869" y="13243"/>
                  <a:pt x="9866" y="13256"/>
                </a:cubicBezTo>
                <a:cubicBezTo>
                  <a:pt x="9864" y="13268"/>
                  <a:pt x="9860" y="13281"/>
                  <a:pt x="9855" y="13293"/>
                </a:cubicBezTo>
                <a:cubicBezTo>
                  <a:pt x="9850" y="13305"/>
                  <a:pt x="9844" y="13316"/>
                  <a:pt x="9837" y="13327"/>
                </a:cubicBezTo>
                <a:cubicBezTo>
                  <a:pt x="9830" y="13338"/>
                  <a:pt x="9821" y="13348"/>
                  <a:pt x="9812" y="13357"/>
                </a:cubicBezTo>
                <a:cubicBezTo>
                  <a:pt x="9803" y="13366"/>
                  <a:pt x="9793" y="13375"/>
                  <a:pt x="9782" y="13382"/>
                </a:cubicBezTo>
                <a:cubicBezTo>
                  <a:pt x="9771" y="13389"/>
                  <a:pt x="9760" y="13395"/>
                  <a:pt x="9748" y="13400"/>
                </a:cubicBezTo>
                <a:cubicBezTo>
                  <a:pt x="9736" y="13405"/>
                  <a:pt x="9723" y="13409"/>
                  <a:pt x="9711" y="13411"/>
                </a:cubicBezTo>
                <a:cubicBezTo>
                  <a:pt x="9698" y="13414"/>
                  <a:pt x="9685" y="13415"/>
                  <a:pt x="9672" y="13415"/>
                </a:cubicBezTo>
                <a:lnTo>
                  <a:pt x="199" y="13415"/>
                </a:lnTo>
                <a:cubicBezTo>
                  <a:pt x="186" y="13415"/>
                  <a:pt x="173" y="13414"/>
                  <a:pt x="160" y="13411"/>
                </a:cubicBezTo>
                <a:cubicBezTo>
                  <a:pt x="147" y="13409"/>
                  <a:pt x="135" y="13405"/>
                  <a:pt x="123" y="13400"/>
                </a:cubicBezTo>
                <a:cubicBezTo>
                  <a:pt x="111" y="13395"/>
                  <a:pt x="99" y="13389"/>
                  <a:pt x="89" y="13382"/>
                </a:cubicBezTo>
                <a:cubicBezTo>
                  <a:pt x="78" y="13375"/>
                  <a:pt x="68" y="13366"/>
                  <a:pt x="58" y="13357"/>
                </a:cubicBezTo>
                <a:cubicBezTo>
                  <a:pt x="49" y="13348"/>
                  <a:pt x="41" y="13338"/>
                  <a:pt x="34" y="13327"/>
                </a:cubicBezTo>
                <a:cubicBezTo>
                  <a:pt x="27" y="13316"/>
                  <a:pt x="20" y="13305"/>
                  <a:pt x="15" y="13293"/>
                </a:cubicBezTo>
                <a:cubicBezTo>
                  <a:pt x="10" y="13281"/>
                  <a:pt x="7" y="13268"/>
                  <a:pt x="4" y="13256"/>
                </a:cubicBezTo>
                <a:cubicBezTo>
                  <a:pt x="2" y="13243"/>
                  <a:pt x="0" y="13230"/>
                  <a:pt x="0" y="13217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 txBox="1"/>
          <p:nvPr/>
        </p:nvSpPr>
        <p:spPr>
          <a:xfrm>
            <a:off x="4556160" y="1854000"/>
            <a:ext cx="3696462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CP2 — Prefetch/bypass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 txBox="1"/>
          <p:nvPr/>
        </p:nvSpPr>
        <p:spPr>
          <a:xfrm>
            <a:off x="4556160" y="2276640"/>
            <a:ext cx="1290828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预算门控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4557600" y="4071600"/>
            <a:ext cx="3000600" cy="429120"/>
          </a:xfrm>
          <a:custGeom>
            <a:avLst/>
            <a:gdLst/>
            <a:ahLst/>
            <a:rect l="0" t="0" r="r" b="b"/>
            <a:pathLst>
              <a:path w="8335" h="1192">
                <a:moveTo>
                  <a:pt x="0" y="1046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4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2" y="43"/>
                </a:cubicBezTo>
                <a:cubicBezTo>
                  <a:pt x="49" y="36"/>
                  <a:pt x="57" y="30"/>
                  <a:pt x="64" y="25"/>
                </a:cubicBezTo>
                <a:cubicBezTo>
                  <a:pt x="72" y="20"/>
                  <a:pt x="81" y="15"/>
                  <a:pt x="90" y="12"/>
                </a:cubicBezTo>
                <a:cubicBezTo>
                  <a:pt x="98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8190" y="0"/>
                </a:lnTo>
                <a:cubicBezTo>
                  <a:pt x="8199" y="0"/>
                  <a:pt x="8209" y="1"/>
                  <a:pt x="8218" y="3"/>
                </a:cubicBezTo>
                <a:cubicBezTo>
                  <a:pt x="8227" y="5"/>
                  <a:pt x="8237" y="8"/>
                  <a:pt x="8245" y="12"/>
                </a:cubicBezTo>
                <a:cubicBezTo>
                  <a:pt x="8254" y="15"/>
                  <a:pt x="8263" y="20"/>
                  <a:pt x="8271" y="25"/>
                </a:cubicBezTo>
                <a:cubicBezTo>
                  <a:pt x="8278" y="30"/>
                  <a:pt x="8286" y="36"/>
                  <a:pt x="8293" y="43"/>
                </a:cubicBezTo>
                <a:cubicBezTo>
                  <a:pt x="8299" y="50"/>
                  <a:pt x="8305" y="57"/>
                  <a:pt x="8311" y="65"/>
                </a:cubicBezTo>
                <a:cubicBezTo>
                  <a:pt x="8316" y="73"/>
                  <a:pt x="8320" y="81"/>
                  <a:pt x="8324" y="90"/>
                </a:cubicBezTo>
                <a:cubicBezTo>
                  <a:pt x="8328" y="99"/>
                  <a:pt x="8331" y="108"/>
                  <a:pt x="8332" y="118"/>
                </a:cubicBezTo>
                <a:cubicBezTo>
                  <a:pt x="8334" y="127"/>
                  <a:pt x="8335" y="136"/>
                  <a:pt x="8335" y="146"/>
                </a:cubicBezTo>
                <a:lnTo>
                  <a:pt x="8335" y="1046"/>
                </a:lnTo>
                <a:cubicBezTo>
                  <a:pt x="8335" y="1055"/>
                  <a:pt x="8334" y="1065"/>
                  <a:pt x="8332" y="1074"/>
                </a:cubicBezTo>
                <a:cubicBezTo>
                  <a:pt x="8331" y="1083"/>
                  <a:pt x="8328" y="1092"/>
                  <a:pt x="8324" y="1101"/>
                </a:cubicBezTo>
                <a:cubicBezTo>
                  <a:pt x="8320" y="1110"/>
                  <a:pt x="8316" y="1118"/>
                  <a:pt x="8311" y="1126"/>
                </a:cubicBezTo>
                <a:cubicBezTo>
                  <a:pt x="8305" y="1134"/>
                  <a:pt x="8299" y="1142"/>
                  <a:pt x="8293" y="1148"/>
                </a:cubicBezTo>
                <a:cubicBezTo>
                  <a:pt x="8286" y="1155"/>
                  <a:pt x="8278" y="1161"/>
                  <a:pt x="8271" y="1167"/>
                </a:cubicBezTo>
                <a:cubicBezTo>
                  <a:pt x="8263" y="1172"/>
                  <a:pt x="8254" y="1176"/>
                  <a:pt x="8245" y="1180"/>
                </a:cubicBezTo>
                <a:cubicBezTo>
                  <a:pt x="8237" y="1184"/>
                  <a:pt x="8227" y="1187"/>
                  <a:pt x="8218" y="1189"/>
                </a:cubicBezTo>
                <a:cubicBezTo>
                  <a:pt x="8209" y="1191"/>
                  <a:pt x="8199" y="1192"/>
                  <a:pt x="8190" y="1192"/>
                </a:cubicBezTo>
                <a:lnTo>
                  <a:pt x="145" y="1192"/>
                </a:lnTo>
                <a:cubicBezTo>
                  <a:pt x="136" y="1192"/>
                  <a:pt x="126" y="1191"/>
                  <a:pt x="117" y="1189"/>
                </a:cubicBezTo>
                <a:cubicBezTo>
                  <a:pt x="108" y="1187"/>
                  <a:pt x="98" y="1184"/>
                  <a:pt x="90" y="1180"/>
                </a:cubicBezTo>
                <a:cubicBezTo>
                  <a:pt x="81" y="1176"/>
                  <a:pt x="72" y="1172"/>
                  <a:pt x="64" y="1167"/>
                </a:cubicBezTo>
                <a:cubicBezTo>
                  <a:pt x="57" y="1161"/>
                  <a:pt x="49" y="1155"/>
                  <a:pt x="42" y="1148"/>
                </a:cubicBezTo>
                <a:cubicBezTo>
                  <a:pt x="36" y="1142"/>
                  <a:pt x="30" y="1134"/>
                  <a:pt x="24" y="1126"/>
                </a:cubicBezTo>
                <a:cubicBezTo>
                  <a:pt x="19" y="1118"/>
                  <a:pt x="15" y="1110"/>
                  <a:pt x="11" y="1101"/>
                </a:cubicBezTo>
                <a:cubicBezTo>
                  <a:pt x="7" y="1092"/>
                  <a:pt x="4" y="1083"/>
                  <a:pt x="3" y="1074"/>
                </a:cubicBezTo>
                <a:cubicBezTo>
                  <a:pt x="1" y="1065"/>
                  <a:pt x="0" y="1055"/>
                  <a:pt x="0" y="1046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4557600" y="4071600"/>
            <a:ext cx="3000600" cy="429120"/>
          </a:xfrm>
          <a:custGeom>
            <a:avLst/>
            <a:gdLst/>
            <a:ahLst/>
            <a:rect l="0" t="0" r="r" b="b"/>
            <a:pathLst>
              <a:path fill="none" w="8335" h="1192">
                <a:moveTo>
                  <a:pt x="0" y="1046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4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2" y="43"/>
                </a:cubicBezTo>
                <a:cubicBezTo>
                  <a:pt x="49" y="36"/>
                  <a:pt x="57" y="30"/>
                  <a:pt x="64" y="25"/>
                </a:cubicBezTo>
                <a:cubicBezTo>
                  <a:pt x="72" y="20"/>
                  <a:pt x="81" y="15"/>
                  <a:pt x="90" y="12"/>
                </a:cubicBezTo>
                <a:cubicBezTo>
                  <a:pt x="98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8190" y="0"/>
                </a:lnTo>
                <a:cubicBezTo>
                  <a:pt x="8199" y="0"/>
                  <a:pt x="8209" y="1"/>
                  <a:pt x="8218" y="3"/>
                </a:cubicBezTo>
                <a:cubicBezTo>
                  <a:pt x="8227" y="5"/>
                  <a:pt x="8237" y="8"/>
                  <a:pt x="8245" y="12"/>
                </a:cubicBezTo>
                <a:cubicBezTo>
                  <a:pt x="8254" y="15"/>
                  <a:pt x="8263" y="20"/>
                  <a:pt x="8271" y="25"/>
                </a:cubicBezTo>
                <a:cubicBezTo>
                  <a:pt x="8278" y="30"/>
                  <a:pt x="8286" y="36"/>
                  <a:pt x="8293" y="43"/>
                </a:cubicBezTo>
                <a:cubicBezTo>
                  <a:pt x="8299" y="50"/>
                  <a:pt x="8305" y="57"/>
                  <a:pt x="8311" y="65"/>
                </a:cubicBezTo>
                <a:cubicBezTo>
                  <a:pt x="8316" y="73"/>
                  <a:pt x="8320" y="81"/>
                  <a:pt x="8324" y="90"/>
                </a:cubicBezTo>
                <a:cubicBezTo>
                  <a:pt x="8328" y="99"/>
                  <a:pt x="8331" y="108"/>
                  <a:pt x="8332" y="118"/>
                </a:cubicBezTo>
                <a:cubicBezTo>
                  <a:pt x="8334" y="127"/>
                  <a:pt x="8335" y="136"/>
                  <a:pt x="8335" y="146"/>
                </a:cubicBezTo>
                <a:lnTo>
                  <a:pt x="8335" y="1046"/>
                </a:lnTo>
                <a:cubicBezTo>
                  <a:pt x="8335" y="1055"/>
                  <a:pt x="8334" y="1065"/>
                  <a:pt x="8332" y="1074"/>
                </a:cubicBezTo>
                <a:cubicBezTo>
                  <a:pt x="8331" y="1083"/>
                  <a:pt x="8328" y="1092"/>
                  <a:pt x="8324" y="1101"/>
                </a:cubicBezTo>
                <a:cubicBezTo>
                  <a:pt x="8320" y="1110"/>
                  <a:pt x="8316" y="1118"/>
                  <a:pt x="8311" y="1126"/>
                </a:cubicBezTo>
                <a:cubicBezTo>
                  <a:pt x="8305" y="1134"/>
                  <a:pt x="8299" y="1142"/>
                  <a:pt x="8293" y="1148"/>
                </a:cubicBezTo>
                <a:cubicBezTo>
                  <a:pt x="8286" y="1155"/>
                  <a:pt x="8278" y="1161"/>
                  <a:pt x="8271" y="1167"/>
                </a:cubicBezTo>
                <a:cubicBezTo>
                  <a:pt x="8263" y="1172"/>
                  <a:pt x="8254" y="1176"/>
                  <a:pt x="8245" y="1180"/>
                </a:cubicBezTo>
                <a:cubicBezTo>
                  <a:pt x="8237" y="1184"/>
                  <a:pt x="8227" y="1187"/>
                  <a:pt x="8218" y="1189"/>
                </a:cubicBezTo>
                <a:cubicBezTo>
                  <a:pt x="8209" y="1191"/>
                  <a:pt x="8199" y="1192"/>
                  <a:pt x="8190" y="1192"/>
                </a:cubicBezTo>
                <a:lnTo>
                  <a:pt x="145" y="1192"/>
                </a:lnTo>
                <a:cubicBezTo>
                  <a:pt x="136" y="1192"/>
                  <a:pt x="126" y="1191"/>
                  <a:pt x="117" y="1189"/>
                </a:cubicBezTo>
                <a:cubicBezTo>
                  <a:pt x="108" y="1187"/>
                  <a:pt x="98" y="1184"/>
                  <a:pt x="90" y="1180"/>
                </a:cubicBezTo>
                <a:cubicBezTo>
                  <a:pt x="81" y="1176"/>
                  <a:pt x="72" y="1172"/>
                  <a:pt x="64" y="1167"/>
                </a:cubicBezTo>
                <a:cubicBezTo>
                  <a:pt x="57" y="1161"/>
                  <a:pt x="49" y="1155"/>
                  <a:pt x="42" y="1148"/>
                </a:cubicBezTo>
                <a:cubicBezTo>
                  <a:pt x="36" y="1142"/>
                  <a:pt x="30" y="1134"/>
                  <a:pt x="24" y="1126"/>
                </a:cubicBezTo>
                <a:cubicBezTo>
                  <a:pt x="19" y="1118"/>
                  <a:pt x="15" y="1110"/>
                  <a:pt x="11" y="1101"/>
                </a:cubicBezTo>
                <a:cubicBezTo>
                  <a:pt x="7" y="1092"/>
                  <a:pt x="4" y="1083"/>
                  <a:pt x="3" y="1074"/>
                </a:cubicBezTo>
                <a:cubicBezTo>
                  <a:pt x="1" y="1065"/>
                  <a:pt x="0" y="1055"/>
                  <a:pt x="0" y="1046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 txBox="1"/>
          <p:nvPr/>
        </p:nvSpPr>
        <p:spPr>
          <a:xfrm>
            <a:off x="4556160" y="2841120"/>
            <a:ext cx="133731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（解决预取误判）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 txBox="1"/>
          <p:nvPr/>
        </p:nvSpPr>
        <p:spPr>
          <a:xfrm>
            <a:off x="4556160" y="3259080"/>
            <a:ext cx="2937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FineMoE低相似度时「预取更多」对冲；我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 txBox="1"/>
          <p:nvPr/>
        </p:nvSpPr>
        <p:spPr>
          <a:xfrm>
            <a:off x="4556160" y="3497040"/>
            <a:ext cx="3008374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们主张：低相似度+带宽紧→预取越多越烧带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 txBox="1"/>
          <p:nvPr/>
        </p:nvSpPr>
        <p:spPr>
          <a:xfrm>
            <a:off x="4556160" y="3744720"/>
            <a:ext cx="1341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宽买坏预测，不如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 txBox="1"/>
          <p:nvPr/>
        </p:nvSpPr>
        <p:spPr>
          <a:xfrm>
            <a:off x="5775120" y="3748320"/>
            <a:ext cx="603504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bypass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 txBox="1"/>
          <p:nvPr/>
        </p:nvSpPr>
        <p:spPr>
          <a:xfrm>
            <a:off x="4680000" y="4200480"/>
            <a:ext cx="2317289" cy="162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 i="0">
                <a:solidFill>
                  <a:srgbClr val="3b82f6"/>
                </a:solidFill>
                <a:effectLst/>
                <a:uFillTx/>
                <a:latin typeface="ui-monospace, SFMono-Regular, Menlo, Monaco, Consolas, &quot;Liberation Mono&quot;, &quot;Courier New&quot;, monospace"/>
                <a:ea typeface="ui-monospace, SFMono-Regular, Menlo, Monaco, Consolas, &quot;Liberation Mono&quot;, &quot;Courier New&quot;, monospace"/>
              </a:rPr>
              <a:t>注入点: model_offload.py:237–252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8186400" y="1566720"/>
            <a:ext cx="3543840" cy="4829400"/>
          </a:xfrm>
          <a:custGeom>
            <a:avLst/>
            <a:gdLst/>
            <a:ahLst/>
            <a:rect l="0" t="0" r="r" b="b"/>
            <a:pathLst>
              <a:path w="9844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1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9645" y="0"/>
                </a:lnTo>
                <a:cubicBezTo>
                  <a:pt x="9659" y="0"/>
                  <a:pt x="9671" y="1"/>
                  <a:pt x="9684" y="4"/>
                </a:cubicBezTo>
                <a:cubicBezTo>
                  <a:pt x="9697" y="6"/>
                  <a:pt x="9709" y="10"/>
                  <a:pt x="9721" y="15"/>
                </a:cubicBezTo>
                <a:cubicBezTo>
                  <a:pt x="9733" y="20"/>
                  <a:pt x="9745" y="26"/>
                  <a:pt x="9756" y="33"/>
                </a:cubicBezTo>
                <a:cubicBezTo>
                  <a:pt x="9767" y="41"/>
                  <a:pt x="9777" y="49"/>
                  <a:pt x="9786" y="58"/>
                </a:cubicBezTo>
                <a:cubicBezTo>
                  <a:pt x="9795" y="67"/>
                  <a:pt x="9803" y="77"/>
                  <a:pt x="9810" y="88"/>
                </a:cubicBezTo>
                <a:cubicBezTo>
                  <a:pt x="9818" y="99"/>
                  <a:pt x="9824" y="110"/>
                  <a:pt x="9829" y="122"/>
                </a:cubicBezTo>
                <a:cubicBezTo>
                  <a:pt x="9834" y="134"/>
                  <a:pt x="9838" y="147"/>
                  <a:pt x="9840" y="160"/>
                </a:cubicBezTo>
                <a:cubicBezTo>
                  <a:pt x="9843" y="172"/>
                  <a:pt x="9844" y="185"/>
                  <a:pt x="9844" y="198"/>
                </a:cubicBezTo>
                <a:lnTo>
                  <a:pt x="9844" y="13217"/>
                </a:lnTo>
                <a:cubicBezTo>
                  <a:pt x="9844" y="13230"/>
                  <a:pt x="9843" y="13243"/>
                  <a:pt x="9840" y="13256"/>
                </a:cubicBezTo>
                <a:cubicBezTo>
                  <a:pt x="9838" y="13268"/>
                  <a:pt x="9834" y="13281"/>
                  <a:pt x="9829" y="13293"/>
                </a:cubicBezTo>
                <a:cubicBezTo>
                  <a:pt x="9824" y="13305"/>
                  <a:pt x="9818" y="13316"/>
                  <a:pt x="9810" y="13327"/>
                </a:cubicBezTo>
                <a:cubicBezTo>
                  <a:pt x="9803" y="13338"/>
                  <a:pt x="9795" y="13348"/>
                  <a:pt x="9786" y="13357"/>
                </a:cubicBezTo>
                <a:cubicBezTo>
                  <a:pt x="9777" y="13366"/>
                  <a:pt x="9767" y="13375"/>
                  <a:pt x="9756" y="13382"/>
                </a:cubicBezTo>
                <a:cubicBezTo>
                  <a:pt x="9745" y="13389"/>
                  <a:pt x="9733" y="13395"/>
                  <a:pt x="9721" y="13400"/>
                </a:cubicBezTo>
                <a:cubicBezTo>
                  <a:pt x="9709" y="13405"/>
                  <a:pt x="9697" y="13409"/>
                  <a:pt x="9684" y="13411"/>
                </a:cubicBezTo>
                <a:cubicBezTo>
                  <a:pt x="9671" y="13414"/>
                  <a:pt x="9659" y="13415"/>
                  <a:pt x="9645" y="13415"/>
                </a:cubicBezTo>
                <a:lnTo>
                  <a:pt x="199" y="13415"/>
                </a:lnTo>
                <a:cubicBezTo>
                  <a:pt x="186" y="13415"/>
                  <a:pt x="173" y="13414"/>
                  <a:pt x="160" y="13411"/>
                </a:cubicBezTo>
                <a:cubicBezTo>
                  <a:pt x="147" y="13409"/>
                  <a:pt x="135" y="13405"/>
                  <a:pt x="123" y="13400"/>
                </a:cubicBezTo>
                <a:cubicBezTo>
                  <a:pt x="111" y="13395"/>
                  <a:pt x="99" y="13389"/>
                  <a:pt x="89" y="13382"/>
                </a:cubicBezTo>
                <a:cubicBezTo>
                  <a:pt x="78" y="13375"/>
                  <a:pt x="68" y="13366"/>
                  <a:pt x="59" y="13357"/>
                </a:cubicBezTo>
                <a:cubicBezTo>
                  <a:pt x="49" y="13348"/>
                  <a:pt x="41" y="13338"/>
                  <a:pt x="34" y="13327"/>
                </a:cubicBezTo>
                <a:cubicBezTo>
                  <a:pt x="27" y="13316"/>
                  <a:pt x="21" y="13305"/>
                  <a:pt x="16" y="13293"/>
                </a:cubicBezTo>
                <a:cubicBezTo>
                  <a:pt x="11" y="13281"/>
                  <a:pt x="7" y="13268"/>
                  <a:pt x="4" y="13256"/>
                </a:cubicBezTo>
                <a:cubicBezTo>
                  <a:pt x="2" y="13243"/>
                  <a:pt x="0" y="13230"/>
                  <a:pt x="0" y="132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>
            <a:off x="8186400" y="1566720"/>
            <a:ext cx="3543840" cy="4829400"/>
          </a:xfrm>
          <a:custGeom>
            <a:avLst/>
            <a:gdLst/>
            <a:ahLst/>
            <a:rect l="0" t="0" r="r" b="b"/>
            <a:pathLst>
              <a:path fill="none" w="9844" h="13415">
                <a:moveTo>
                  <a:pt x="0" y="13217"/>
                </a:moveTo>
                <a:lnTo>
                  <a:pt x="0" y="198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1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9645" y="0"/>
                </a:lnTo>
                <a:cubicBezTo>
                  <a:pt x="9659" y="0"/>
                  <a:pt x="9671" y="1"/>
                  <a:pt x="9684" y="4"/>
                </a:cubicBezTo>
                <a:cubicBezTo>
                  <a:pt x="9697" y="6"/>
                  <a:pt x="9709" y="10"/>
                  <a:pt x="9721" y="15"/>
                </a:cubicBezTo>
                <a:cubicBezTo>
                  <a:pt x="9733" y="20"/>
                  <a:pt x="9745" y="26"/>
                  <a:pt x="9756" y="33"/>
                </a:cubicBezTo>
                <a:cubicBezTo>
                  <a:pt x="9767" y="41"/>
                  <a:pt x="9777" y="49"/>
                  <a:pt x="9786" y="58"/>
                </a:cubicBezTo>
                <a:cubicBezTo>
                  <a:pt x="9795" y="67"/>
                  <a:pt x="9803" y="77"/>
                  <a:pt x="9810" y="88"/>
                </a:cubicBezTo>
                <a:cubicBezTo>
                  <a:pt x="9818" y="99"/>
                  <a:pt x="9824" y="110"/>
                  <a:pt x="9829" y="122"/>
                </a:cubicBezTo>
                <a:cubicBezTo>
                  <a:pt x="9834" y="134"/>
                  <a:pt x="9838" y="147"/>
                  <a:pt x="9840" y="160"/>
                </a:cubicBezTo>
                <a:cubicBezTo>
                  <a:pt x="9843" y="172"/>
                  <a:pt x="9844" y="185"/>
                  <a:pt x="9844" y="198"/>
                </a:cubicBezTo>
                <a:lnTo>
                  <a:pt x="9844" y="13217"/>
                </a:lnTo>
                <a:cubicBezTo>
                  <a:pt x="9844" y="13230"/>
                  <a:pt x="9843" y="13243"/>
                  <a:pt x="9840" y="13256"/>
                </a:cubicBezTo>
                <a:cubicBezTo>
                  <a:pt x="9838" y="13268"/>
                  <a:pt x="9834" y="13281"/>
                  <a:pt x="9829" y="13293"/>
                </a:cubicBezTo>
                <a:cubicBezTo>
                  <a:pt x="9824" y="13305"/>
                  <a:pt x="9818" y="13316"/>
                  <a:pt x="9810" y="13327"/>
                </a:cubicBezTo>
                <a:cubicBezTo>
                  <a:pt x="9803" y="13338"/>
                  <a:pt x="9795" y="13348"/>
                  <a:pt x="9786" y="13357"/>
                </a:cubicBezTo>
                <a:cubicBezTo>
                  <a:pt x="9777" y="13366"/>
                  <a:pt x="9767" y="13375"/>
                  <a:pt x="9756" y="13382"/>
                </a:cubicBezTo>
                <a:cubicBezTo>
                  <a:pt x="9745" y="13389"/>
                  <a:pt x="9733" y="13395"/>
                  <a:pt x="9721" y="13400"/>
                </a:cubicBezTo>
                <a:cubicBezTo>
                  <a:pt x="9709" y="13405"/>
                  <a:pt x="9697" y="13409"/>
                  <a:pt x="9684" y="13411"/>
                </a:cubicBezTo>
                <a:cubicBezTo>
                  <a:pt x="9671" y="13414"/>
                  <a:pt x="9659" y="13415"/>
                  <a:pt x="9645" y="13415"/>
                </a:cubicBezTo>
                <a:lnTo>
                  <a:pt x="199" y="13415"/>
                </a:lnTo>
                <a:cubicBezTo>
                  <a:pt x="186" y="13415"/>
                  <a:pt x="173" y="13414"/>
                  <a:pt x="160" y="13411"/>
                </a:cubicBezTo>
                <a:cubicBezTo>
                  <a:pt x="147" y="13409"/>
                  <a:pt x="135" y="13405"/>
                  <a:pt x="123" y="13400"/>
                </a:cubicBezTo>
                <a:cubicBezTo>
                  <a:pt x="111" y="13395"/>
                  <a:pt x="99" y="13389"/>
                  <a:pt x="89" y="13382"/>
                </a:cubicBezTo>
                <a:cubicBezTo>
                  <a:pt x="78" y="13375"/>
                  <a:pt x="68" y="13366"/>
                  <a:pt x="59" y="13357"/>
                </a:cubicBezTo>
                <a:cubicBezTo>
                  <a:pt x="49" y="13348"/>
                  <a:pt x="41" y="13338"/>
                  <a:pt x="34" y="13327"/>
                </a:cubicBezTo>
                <a:cubicBezTo>
                  <a:pt x="27" y="13316"/>
                  <a:pt x="21" y="13305"/>
                  <a:pt x="16" y="13293"/>
                </a:cubicBezTo>
                <a:cubicBezTo>
                  <a:pt x="11" y="13281"/>
                  <a:pt x="7" y="13268"/>
                  <a:pt x="4" y="13256"/>
                </a:cubicBezTo>
                <a:cubicBezTo>
                  <a:pt x="2" y="13243"/>
                  <a:pt x="0" y="13230"/>
                  <a:pt x="0" y="13217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 txBox="1"/>
          <p:nvPr/>
        </p:nvSpPr>
        <p:spPr>
          <a:xfrm>
            <a:off x="8416800" y="1847880"/>
            <a:ext cx="2688336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CP3 — Store时效刷新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 txBox="1"/>
          <p:nvPr/>
        </p:nvSpPr>
        <p:spPr>
          <a:xfrm>
            <a:off x="8416800" y="2412720"/>
            <a:ext cx="1413176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（解决map缺代表）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8424720" y="3652560"/>
            <a:ext cx="2991240" cy="429120"/>
          </a:xfrm>
          <a:custGeom>
            <a:avLst/>
            <a:gdLst/>
            <a:ahLst/>
            <a:rect l="0" t="0" r="r" b="b"/>
            <a:pathLst>
              <a:path w="8309" h="1192">
                <a:moveTo>
                  <a:pt x="0" y="104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8163" y="0"/>
                </a:lnTo>
                <a:cubicBezTo>
                  <a:pt x="8173" y="0"/>
                  <a:pt x="8182" y="1"/>
                  <a:pt x="8192" y="3"/>
                </a:cubicBezTo>
                <a:cubicBezTo>
                  <a:pt x="8201" y="5"/>
                  <a:pt x="8210" y="8"/>
                  <a:pt x="8219" y="11"/>
                </a:cubicBezTo>
                <a:cubicBezTo>
                  <a:pt x="8228" y="15"/>
                  <a:pt x="8236" y="19"/>
                  <a:pt x="8244" y="25"/>
                </a:cubicBezTo>
                <a:cubicBezTo>
                  <a:pt x="8252" y="30"/>
                  <a:pt x="8259" y="36"/>
                  <a:pt x="8266" y="43"/>
                </a:cubicBezTo>
                <a:cubicBezTo>
                  <a:pt x="8273" y="50"/>
                  <a:pt x="8279" y="57"/>
                  <a:pt x="8284" y="65"/>
                </a:cubicBezTo>
                <a:cubicBezTo>
                  <a:pt x="8290" y="73"/>
                  <a:pt x="8294" y="81"/>
                  <a:pt x="8298" y="90"/>
                </a:cubicBezTo>
                <a:cubicBezTo>
                  <a:pt x="8301" y="99"/>
                  <a:pt x="8304" y="108"/>
                  <a:pt x="8306" y="117"/>
                </a:cubicBezTo>
                <a:cubicBezTo>
                  <a:pt x="8308" y="127"/>
                  <a:pt x="8309" y="136"/>
                  <a:pt x="8309" y="146"/>
                </a:cubicBezTo>
                <a:lnTo>
                  <a:pt x="8309" y="1045"/>
                </a:lnTo>
                <a:cubicBezTo>
                  <a:pt x="8309" y="1055"/>
                  <a:pt x="8308" y="1064"/>
                  <a:pt x="8306" y="1074"/>
                </a:cubicBezTo>
                <a:cubicBezTo>
                  <a:pt x="8304" y="1083"/>
                  <a:pt x="8301" y="1092"/>
                  <a:pt x="8298" y="1101"/>
                </a:cubicBezTo>
                <a:cubicBezTo>
                  <a:pt x="8294" y="1110"/>
                  <a:pt x="8290" y="1118"/>
                  <a:pt x="8284" y="1126"/>
                </a:cubicBezTo>
                <a:cubicBezTo>
                  <a:pt x="8279" y="1134"/>
                  <a:pt x="8273" y="1142"/>
                  <a:pt x="8266" y="1148"/>
                </a:cubicBezTo>
                <a:cubicBezTo>
                  <a:pt x="8259" y="1155"/>
                  <a:pt x="8252" y="1162"/>
                  <a:pt x="8244" y="1167"/>
                </a:cubicBezTo>
                <a:cubicBezTo>
                  <a:pt x="8236" y="1173"/>
                  <a:pt x="8228" y="1177"/>
                  <a:pt x="8219" y="1181"/>
                </a:cubicBezTo>
                <a:cubicBezTo>
                  <a:pt x="8210" y="1184"/>
                  <a:pt x="8201" y="1187"/>
                  <a:pt x="8192" y="1189"/>
                </a:cubicBezTo>
                <a:cubicBezTo>
                  <a:pt x="8182" y="1191"/>
                  <a:pt x="8173" y="1192"/>
                  <a:pt x="8163" y="1192"/>
                </a:cubicBezTo>
                <a:lnTo>
                  <a:pt x="145" y="1192"/>
                </a:lnTo>
                <a:cubicBezTo>
                  <a:pt x="136" y="1192"/>
                  <a:pt x="126" y="1191"/>
                  <a:pt x="117" y="1189"/>
                </a:cubicBezTo>
                <a:cubicBezTo>
                  <a:pt x="108" y="1187"/>
                  <a:pt x="99" y="1184"/>
                  <a:pt x="90" y="1181"/>
                </a:cubicBezTo>
                <a:cubicBezTo>
                  <a:pt x="81" y="1177"/>
                  <a:pt x="73" y="1173"/>
                  <a:pt x="65" y="1167"/>
                </a:cubicBezTo>
                <a:cubicBezTo>
                  <a:pt x="57" y="1162"/>
                  <a:pt x="49" y="1155"/>
                  <a:pt x="43" y="1148"/>
                </a:cubicBezTo>
                <a:cubicBezTo>
                  <a:pt x="36" y="1142"/>
                  <a:pt x="30" y="1134"/>
                  <a:pt x="24" y="1126"/>
                </a:cubicBezTo>
                <a:cubicBezTo>
                  <a:pt x="19" y="1118"/>
                  <a:pt x="15" y="1110"/>
                  <a:pt x="11" y="1101"/>
                </a:cubicBezTo>
                <a:cubicBezTo>
                  <a:pt x="7" y="1092"/>
                  <a:pt x="5" y="1083"/>
                  <a:pt x="3" y="1074"/>
                </a:cubicBezTo>
                <a:cubicBezTo>
                  <a:pt x="1" y="1064"/>
                  <a:pt x="0" y="1055"/>
                  <a:pt x="0" y="1045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8424720" y="3652560"/>
            <a:ext cx="2991240" cy="429120"/>
          </a:xfrm>
          <a:custGeom>
            <a:avLst/>
            <a:gdLst/>
            <a:ahLst/>
            <a:rect l="0" t="0" r="r" b="b"/>
            <a:pathLst>
              <a:path fill="none" w="8309" h="1192">
                <a:moveTo>
                  <a:pt x="0" y="104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8163" y="0"/>
                </a:lnTo>
                <a:cubicBezTo>
                  <a:pt x="8173" y="0"/>
                  <a:pt x="8182" y="1"/>
                  <a:pt x="8192" y="3"/>
                </a:cubicBezTo>
                <a:cubicBezTo>
                  <a:pt x="8201" y="5"/>
                  <a:pt x="8210" y="8"/>
                  <a:pt x="8219" y="11"/>
                </a:cubicBezTo>
                <a:cubicBezTo>
                  <a:pt x="8228" y="15"/>
                  <a:pt x="8236" y="19"/>
                  <a:pt x="8244" y="25"/>
                </a:cubicBezTo>
                <a:cubicBezTo>
                  <a:pt x="8252" y="30"/>
                  <a:pt x="8259" y="36"/>
                  <a:pt x="8266" y="43"/>
                </a:cubicBezTo>
                <a:cubicBezTo>
                  <a:pt x="8273" y="50"/>
                  <a:pt x="8279" y="57"/>
                  <a:pt x="8284" y="65"/>
                </a:cubicBezTo>
                <a:cubicBezTo>
                  <a:pt x="8290" y="73"/>
                  <a:pt x="8294" y="81"/>
                  <a:pt x="8298" y="90"/>
                </a:cubicBezTo>
                <a:cubicBezTo>
                  <a:pt x="8301" y="99"/>
                  <a:pt x="8304" y="108"/>
                  <a:pt x="8306" y="117"/>
                </a:cubicBezTo>
                <a:cubicBezTo>
                  <a:pt x="8308" y="127"/>
                  <a:pt x="8309" y="136"/>
                  <a:pt x="8309" y="146"/>
                </a:cubicBezTo>
                <a:lnTo>
                  <a:pt x="8309" y="1045"/>
                </a:lnTo>
                <a:cubicBezTo>
                  <a:pt x="8309" y="1055"/>
                  <a:pt x="8308" y="1064"/>
                  <a:pt x="8306" y="1074"/>
                </a:cubicBezTo>
                <a:cubicBezTo>
                  <a:pt x="8304" y="1083"/>
                  <a:pt x="8301" y="1092"/>
                  <a:pt x="8298" y="1101"/>
                </a:cubicBezTo>
                <a:cubicBezTo>
                  <a:pt x="8294" y="1110"/>
                  <a:pt x="8290" y="1118"/>
                  <a:pt x="8284" y="1126"/>
                </a:cubicBezTo>
                <a:cubicBezTo>
                  <a:pt x="8279" y="1134"/>
                  <a:pt x="8273" y="1142"/>
                  <a:pt x="8266" y="1148"/>
                </a:cubicBezTo>
                <a:cubicBezTo>
                  <a:pt x="8259" y="1155"/>
                  <a:pt x="8252" y="1162"/>
                  <a:pt x="8244" y="1167"/>
                </a:cubicBezTo>
                <a:cubicBezTo>
                  <a:pt x="8236" y="1173"/>
                  <a:pt x="8228" y="1177"/>
                  <a:pt x="8219" y="1181"/>
                </a:cubicBezTo>
                <a:cubicBezTo>
                  <a:pt x="8210" y="1184"/>
                  <a:pt x="8201" y="1187"/>
                  <a:pt x="8192" y="1189"/>
                </a:cubicBezTo>
                <a:cubicBezTo>
                  <a:pt x="8182" y="1191"/>
                  <a:pt x="8173" y="1192"/>
                  <a:pt x="8163" y="1192"/>
                </a:cubicBezTo>
                <a:lnTo>
                  <a:pt x="145" y="1192"/>
                </a:lnTo>
                <a:cubicBezTo>
                  <a:pt x="136" y="1192"/>
                  <a:pt x="126" y="1191"/>
                  <a:pt x="117" y="1189"/>
                </a:cubicBezTo>
                <a:cubicBezTo>
                  <a:pt x="108" y="1187"/>
                  <a:pt x="99" y="1184"/>
                  <a:pt x="90" y="1181"/>
                </a:cubicBezTo>
                <a:cubicBezTo>
                  <a:pt x="81" y="1177"/>
                  <a:pt x="73" y="1173"/>
                  <a:pt x="65" y="1167"/>
                </a:cubicBezTo>
                <a:cubicBezTo>
                  <a:pt x="57" y="1162"/>
                  <a:pt x="49" y="1155"/>
                  <a:pt x="43" y="1148"/>
                </a:cubicBezTo>
                <a:cubicBezTo>
                  <a:pt x="36" y="1142"/>
                  <a:pt x="30" y="1134"/>
                  <a:pt x="24" y="1126"/>
                </a:cubicBezTo>
                <a:cubicBezTo>
                  <a:pt x="19" y="1118"/>
                  <a:pt x="15" y="1110"/>
                  <a:pt x="11" y="1101"/>
                </a:cubicBezTo>
                <a:cubicBezTo>
                  <a:pt x="7" y="1092"/>
                  <a:pt x="5" y="1083"/>
                  <a:pt x="3" y="1074"/>
                </a:cubicBezTo>
                <a:cubicBezTo>
                  <a:pt x="1" y="1064"/>
                  <a:pt x="0" y="1055"/>
                  <a:pt x="0" y="1045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 txBox="1"/>
          <p:nvPr/>
        </p:nvSpPr>
        <p:spPr>
          <a:xfrm>
            <a:off x="8416800" y="2830320"/>
            <a:ext cx="2296287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持续高（连续W步）才触发，防离群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 txBox="1"/>
          <p:nvPr/>
        </p:nvSpPr>
        <p:spPr>
          <a:xfrm>
            <a:off x="8874000" y="283392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 txBox="1"/>
          <p:nvPr/>
        </p:nvSpPr>
        <p:spPr>
          <a:xfrm>
            <a:off x="8416800" y="3068640"/>
            <a:ext cx="292036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prompt污染；加速admit当前轨迹，驱逐键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 txBox="1"/>
          <p:nvPr/>
        </p:nvSpPr>
        <p:spPr>
          <a:xfrm>
            <a:off x="8416800" y="3316320"/>
            <a:ext cx="1216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加staleness权重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 txBox="1"/>
          <p:nvPr/>
        </p:nvSpPr>
        <p:spPr>
          <a:xfrm>
            <a:off x="8540640" y="3781440"/>
            <a:ext cx="2317289" cy="162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 i="0">
                <a:solidFill>
                  <a:srgbClr val="3b82f6"/>
                </a:solidFill>
                <a:effectLst/>
                <a:uFillTx/>
                <a:latin typeface="ui-monospace, SFMono-Regular, Menlo, Monaco, Consolas, &quot;Liberation Mono&quot;, &quot;Courier New&quot;, monospace"/>
                <a:ea typeface="ui-monospace, SFMono-Regular, Menlo, Monaco, Consolas, &quot;Liberation Mono&quot;, &quot;Courier New&quot;, monospace"/>
              </a:rPr>
              <a:t>注入点: model_offload.py:121–158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 txBox="1"/>
          <p:nvPr/>
        </p:nvSpPr>
        <p:spPr>
          <a:xfrm>
            <a:off x="457200" y="465480"/>
            <a:ext cx="461010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新颖性边界与相关工作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 txBox="1"/>
          <p:nvPr/>
        </p:nvSpPr>
        <p:spPr>
          <a:xfrm>
            <a:off x="457200" y="1533600"/>
            <a:ext cx="1290828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竞品对比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 txBox="1"/>
          <p:nvPr/>
        </p:nvSpPr>
        <p:spPr>
          <a:xfrm>
            <a:off x="457200" y="231012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01.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 txBox="1"/>
          <p:nvPr/>
        </p:nvSpPr>
        <p:spPr>
          <a:xfrm>
            <a:off x="821520" y="2325600"/>
            <a:ext cx="3952494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FineMoE (EuroSys'26):强基线，复用其基建，替换决策层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 txBox="1"/>
          <p:nvPr/>
        </p:nvSpPr>
        <p:spPr>
          <a:xfrm>
            <a:off x="457200" y="273852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02.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 txBox="1"/>
          <p:nvPr/>
        </p:nvSpPr>
        <p:spPr>
          <a:xfrm>
            <a:off x="821520" y="2754000"/>
            <a:ext cx="472058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SwapMoE (ACL'24):假设局部性不变——我们攻击恰是「局部性失效」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 txBox="1"/>
          <p:nvPr/>
        </p:nvSpPr>
        <p:spPr>
          <a:xfrm>
            <a:off x="457200" y="317664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03.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 txBox="1"/>
          <p:nvPr/>
        </p:nvSpPr>
        <p:spPr>
          <a:xfrm>
            <a:off x="821520" y="3192480"/>
            <a:ext cx="3488434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DAOP (DATE'25):仅每序列内自适应，不处理跨任务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 txBox="1"/>
          <p:nvPr/>
        </p:nvSpPr>
        <p:spPr>
          <a:xfrm>
            <a:off x="457200" y="361476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04.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 txBox="1"/>
          <p:nvPr/>
        </p:nvSpPr>
        <p:spPr>
          <a:xfrm>
            <a:off x="821520" y="3630600"/>
            <a:ext cx="3272407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ProMoE (2410):离线固定预测器，零在线自适应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 txBox="1"/>
          <p:nvPr/>
        </p:nvSpPr>
        <p:spPr>
          <a:xfrm>
            <a:off x="6248520" y="1533600"/>
            <a:ext cx="2408301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三个白地✅均已核查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7476840" y="1542960"/>
            <a:ext cx="1553040" cy="295560"/>
          </a:xfrm>
          <a:custGeom>
            <a:avLst/>
            <a:gdLst/>
            <a:ahLst/>
            <a:rect l="0" t="0" r="r" b="b"/>
            <a:pathLst>
              <a:path w="4314" h="821">
                <a:moveTo>
                  <a:pt x="0" y="71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4208" y="0"/>
                </a:lnTo>
                <a:cubicBezTo>
                  <a:pt x="4222" y="0"/>
                  <a:pt x="4236" y="2"/>
                  <a:pt x="4249" y="8"/>
                </a:cubicBezTo>
                <a:cubicBezTo>
                  <a:pt x="4262" y="13"/>
                  <a:pt x="4273" y="21"/>
                  <a:pt x="4283" y="31"/>
                </a:cubicBezTo>
                <a:cubicBezTo>
                  <a:pt x="4293" y="41"/>
                  <a:pt x="4301" y="52"/>
                  <a:pt x="4306" y="65"/>
                </a:cubicBezTo>
                <a:cubicBezTo>
                  <a:pt x="4311" y="78"/>
                  <a:pt x="4314" y="92"/>
                  <a:pt x="4314" y="106"/>
                </a:cubicBezTo>
                <a:lnTo>
                  <a:pt x="4314" y="715"/>
                </a:lnTo>
                <a:cubicBezTo>
                  <a:pt x="4314" y="729"/>
                  <a:pt x="4311" y="743"/>
                  <a:pt x="4306" y="756"/>
                </a:cubicBezTo>
                <a:cubicBezTo>
                  <a:pt x="4301" y="769"/>
                  <a:pt x="4293" y="780"/>
                  <a:pt x="4283" y="790"/>
                </a:cubicBezTo>
                <a:cubicBezTo>
                  <a:pt x="4273" y="800"/>
                  <a:pt x="4262" y="808"/>
                  <a:pt x="4249" y="813"/>
                </a:cubicBezTo>
                <a:cubicBezTo>
                  <a:pt x="4236" y="818"/>
                  <a:pt x="4222" y="821"/>
                  <a:pt x="4208" y="821"/>
                </a:cubicBezTo>
                <a:lnTo>
                  <a:pt x="106" y="821"/>
                </a:lnTo>
                <a:cubicBezTo>
                  <a:pt x="92" y="821"/>
                  <a:pt x="79" y="818"/>
                  <a:pt x="66" y="813"/>
                </a:cubicBezTo>
                <a:cubicBezTo>
                  <a:pt x="53" y="808"/>
                  <a:pt x="41" y="800"/>
                  <a:pt x="31" y="790"/>
                </a:cubicBezTo>
                <a:cubicBezTo>
                  <a:pt x="21" y="780"/>
                  <a:pt x="14" y="769"/>
                  <a:pt x="8" y="756"/>
                </a:cubicBezTo>
                <a:cubicBezTo>
                  <a:pt x="3" y="743"/>
                  <a:pt x="0" y="729"/>
                  <a:pt x="0" y="71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 txBox="1"/>
          <p:nvPr/>
        </p:nvSpPr>
        <p:spPr>
          <a:xfrm>
            <a:off x="7315200" y="1539720"/>
            <a:ext cx="2664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(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 txBox="1"/>
          <p:nvPr/>
        </p:nvSpPr>
        <p:spPr>
          <a:xfrm>
            <a:off x="7849080" y="1539720"/>
            <a:ext cx="2664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 txBox="1"/>
          <p:nvPr/>
        </p:nvSpPr>
        <p:spPr>
          <a:xfrm>
            <a:off x="9028080" y="1539720"/>
            <a:ext cx="2664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 txBox="1"/>
          <p:nvPr/>
        </p:nvSpPr>
        <p:spPr>
          <a:xfrm>
            <a:off x="6248520" y="231012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01.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 txBox="1"/>
          <p:nvPr/>
        </p:nvSpPr>
        <p:spPr>
          <a:xfrm>
            <a:off x="6612840" y="2325600"/>
            <a:ext cx="1859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无竞品处理task drift /多租⼾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 txBox="1"/>
          <p:nvPr/>
        </p:nvSpPr>
        <p:spPr>
          <a:xfrm>
            <a:off x="8577360" y="2325600"/>
            <a:ext cx="9958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/ agentic场景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 txBox="1"/>
          <p:nvPr/>
        </p:nvSpPr>
        <p:spPr>
          <a:xfrm>
            <a:off x="6248520" y="273852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02.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 txBox="1"/>
          <p:nvPr/>
        </p:nvSpPr>
        <p:spPr>
          <a:xfrm>
            <a:off x="6612840" y="2754000"/>
            <a:ext cx="1384171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无竞品有SSD层实测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 txBox="1"/>
          <p:nvPr/>
        </p:nvSpPr>
        <p:spPr>
          <a:xfrm>
            <a:off x="6248520" y="3176640"/>
            <a:ext cx="274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03.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6252840" y="5300640"/>
            <a:ext cx="5477400" cy="1095480"/>
          </a:xfrm>
          <a:custGeom>
            <a:avLst/>
            <a:gdLst/>
            <a:ahLst/>
            <a:rect l="0" t="0" r="r" b="b"/>
            <a:pathLst>
              <a:path w="15215" h="3043">
                <a:moveTo>
                  <a:pt x="0" y="2845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5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8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15016" y="0"/>
                </a:lnTo>
                <a:cubicBezTo>
                  <a:pt x="15030" y="0"/>
                  <a:pt x="15042" y="1"/>
                  <a:pt x="15055" y="3"/>
                </a:cubicBezTo>
                <a:cubicBezTo>
                  <a:pt x="15068" y="6"/>
                  <a:pt x="15080" y="10"/>
                  <a:pt x="15092" y="15"/>
                </a:cubicBezTo>
                <a:cubicBezTo>
                  <a:pt x="15104" y="20"/>
                  <a:pt x="15116" y="26"/>
                  <a:pt x="15127" y="33"/>
                </a:cubicBezTo>
                <a:cubicBezTo>
                  <a:pt x="15138" y="40"/>
                  <a:pt x="15148" y="48"/>
                  <a:pt x="15157" y="58"/>
                </a:cubicBezTo>
                <a:cubicBezTo>
                  <a:pt x="15166" y="67"/>
                  <a:pt x="15174" y="77"/>
                  <a:pt x="15181" y="88"/>
                </a:cubicBezTo>
                <a:cubicBezTo>
                  <a:pt x="15189" y="99"/>
                  <a:pt x="15195" y="110"/>
                  <a:pt x="15200" y="122"/>
                </a:cubicBezTo>
                <a:cubicBezTo>
                  <a:pt x="15205" y="134"/>
                  <a:pt x="15209" y="147"/>
                  <a:pt x="15211" y="159"/>
                </a:cubicBezTo>
                <a:cubicBezTo>
                  <a:pt x="15214" y="172"/>
                  <a:pt x="15215" y="185"/>
                  <a:pt x="15215" y="198"/>
                </a:cubicBezTo>
                <a:lnTo>
                  <a:pt x="15215" y="2845"/>
                </a:lnTo>
                <a:cubicBezTo>
                  <a:pt x="15215" y="2858"/>
                  <a:pt x="15214" y="2871"/>
                  <a:pt x="15211" y="2884"/>
                </a:cubicBezTo>
                <a:cubicBezTo>
                  <a:pt x="15209" y="2896"/>
                  <a:pt x="15205" y="2909"/>
                  <a:pt x="15200" y="2921"/>
                </a:cubicBezTo>
                <a:cubicBezTo>
                  <a:pt x="15195" y="2933"/>
                  <a:pt x="15189" y="2944"/>
                  <a:pt x="15181" y="2955"/>
                </a:cubicBezTo>
                <a:cubicBezTo>
                  <a:pt x="15174" y="2966"/>
                  <a:pt x="15166" y="2976"/>
                  <a:pt x="15157" y="2985"/>
                </a:cubicBezTo>
                <a:cubicBezTo>
                  <a:pt x="15148" y="2994"/>
                  <a:pt x="15138" y="3003"/>
                  <a:pt x="15127" y="3010"/>
                </a:cubicBezTo>
                <a:cubicBezTo>
                  <a:pt x="15116" y="3017"/>
                  <a:pt x="15104" y="3023"/>
                  <a:pt x="15092" y="3028"/>
                </a:cubicBezTo>
                <a:cubicBezTo>
                  <a:pt x="15080" y="3033"/>
                  <a:pt x="15068" y="3037"/>
                  <a:pt x="15055" y="3039"/>
                </a:cubicBezTo>
                <a:cubicBezTo>
                  <a:pt x="15042" y="3042"/>
                  <a:pt x="15030" y="3043"/>
                  <a:pt x="15016" y="3043"/>
                </a:cubicBezTo>
                <a:lnTo>
                  <a:pt x="199" y="3043"/>
                </a:lnTo>
                <a:cubicBezTo>
                  <a:pt x="186" y="3043"/>
                  <a:pt x="173" y="3042"/>
                  <a:pt x="160" y="3039"/>
                </a:cubicBezTo>
                <a:cubicBezTo>
                  <a:pt x="147" y="3037"/>
                  <a:pt x="135" y="3033"/>
                  <a:pt x="123" y="3028"/>
                </a:cubicBezTo>
                <a:cubicBezTo>
                  <a:pt x="111" y="3023"/>
                  <a:pt x="99" y="3017"/>
                  <a:pt x="89" y="3010"/>
                </a:cubicBezTo>
                <a:cubicBezTo>
                  <a:pt x="78" y="3003"/>
                  <a:pt x="68" y="2994"/>
                  <a:pt x="59" y="2985"/>
                </a:cubicBezTo>
                <a:cubicBezTo>
                  <a:pt x="49" y="2976"/>
                  <a:pt x="41" y="2966"/>
                  <a:pt x="34" y="2955"/>
                </a:cubicBezTo>
                <a:cubicBezTo>
                  <a:pt x="27" y="2944"/>
                  <a:pt x="20" y="2933"/>
                  <a:pt x="15" y="2921"/>
                </a:cubicBezTo>
                <a:cubicBezTo>
                  <a:pt x="11" y="2909"/>
                  <a:pt x="7" y="2896"/>
                  <a:pt x="4" y="2884"/>
                </a:cubicBezTo>
                <a:cubicBezTo>
                  <a:pt x="2" y="2871"/>
                  <a:pt x="0" y="2858"/>
                  <a:pt x="0" y="28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blurRad="76200" dist="50800" dir="5400000" algn="tl" rotWithShape="0">
              <a:prstClr val="black">
                <a:alpha val="100000"/>
              </a:prstClr>
            </a:outerShdw>
          </a:effectLst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6252840" y="5300640"/>
            <a:ext cx="5477400" cy="1095480"/>
          </a:xfrm>
          <a:custGeom>
            <a:avLst/>
            <a:gdLst/>
            <a:ahLst/>
            <a:rect l="0" t="0" r="r" b="b"/>
            <a:pathLst>
              <a:path fill="none" w="15215" h="3043">
                <a:moveTo>
                  <a:pt x="0" y="2845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5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8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15016" y="0"/>
                </a:lnTo>
                <a:cubicBezTo>
                  <a:pt x="15030" y="0"/>
                  <a:pt x="15042" y="1"/>
                  <a:pt x="15055" y="3"/>
                </a:cubicBezTo>
                <a:cubicBezTo>
                  <a:pt x="15068" y="6"/>
                  <a:pt x="15080" y="10"/>
                  <a:pt x="15092" y="15"/>
                </a:cubicBezTo>
                <a:cubicBezTo>
                  <a:pt x="15104" y="20"/>
                  <a:pt x="15116" y="26"/>
                  <a:pt x="15127" y="33"/>
                </a:cubicBezTo>
                <a:cubicBezTo>
                  <a:pt x="15138" y="40"/>
                  <a:pt x="15148" y="48"/>
                  <a:pt x="15157" y="58"/>
                </a:cubicBezTo>
                <a:cubicBezTo>
                  <a:pt x="15166" y="67"/>
                  <a:pt x="15174" y="77"/>
                  <a:pt x="15181" y="88"/>
                </a:cubicBezTo>
                <a:cubicBezTo>
                  <a:pt x="15189" y="99"/>
                  <a:pt x="15195" y="110"/>
                  <a:pt x="15200" y="122"/>
                </a:cubicBezTo>
                <a:cubicBezTo>
                  <a:pt x="15205" y="134"/>
                  <a:pt x="15209" y="147"/>
                  <a:pt x="15211" y="159"/>
                </a:cubicBezTo>
                <a:cubicBezTo>
                  <a:pt x="15214" y="172"/>
                  <a:pt x="15215" y="185"/>
                  <a:pt x="15215" y="198"/>
                </a:cubicBezTo>
                <a:lnTo>
                  <a:pt x="15215" y="2845"/>
                </a:lnTo>
                <a:cubicBezTo>
                  <a:pt x="15215" y="2858"/>
                  <a:pt x="15214" y="2871"/>
                  <a:pt x="15211" y="2884"/>
                </a:cubicBezTo>
                <a:cubicBezTo>
                  <a:pt x="15209" y="2896"/>
                  <a:pt x="15205" y="2909"/>
                  <a:pt x="15200" y="2921"/>
                </a:cubicBezTo>
                <a:cubicBezTo>
                  <a:pt x="15195" y="2933"/>
                  <a:pt x="15189" y="2944"/>
                  <a:pt x="15181" y="2955"/>
                </a:cubicBezTo>
                <a:cubicBezTo>
                  <a:pt x="15174" y="2966"/>
                  <a:pt x="15166" y="2976"/>
                  <a:pt x="15157" y="2985"/>
                </a:cubicBezTo>
                <a:cubicBezTo>
                  <a:pt x="15148" y="2994"/>
                  <a:pt x="15138" y="3003"/>
                  <a:pt x="15127" y="3010"/>
                </a:cubicBezTo>
                <a:cubicBezTo>
                  <a:pt x="15116" y="3017"/>
                  <a:pt x="15104" y="3023"/>
                  <a:pt x="15092" y="3028"/>
                </a:cubicBezTo>
                <a:cubicBezTo>
                  <a:pt x="15080" y="3033"/>
                  <a:pt x="15068" y="3037"/>
                  <a:pt x="15055" y="3039"/>
                </a:cubicBezTo>
                <a:cubicBezTo>
                  <a:pt x="15042" y="3042"/>
                  <a:pt x="15030" y="3043"/>
                  <a:pt x="15016" y="3043"/>
                </a:cubicBezTo>
                <a:lnTo>
                  <a:pt x="199" y="3043"/>
                </a:lnTo>
                <a:cubicBezTo>
                  <a:pt x="186" y="3043"/>
                  <a:pt x="173" y="3042"/>
                  <a:pt x="160" y="3039"/>
                </a:cubicBezTo>
                <a:cubicBezTo>
                  <a:pt x="147" y="3037"/>
                  <a:pt x="135" y="3033"/>
                  <a:pt x="123" y="3028"/>
                </a:cubicBezTo>
                <a:cubicBezTo>
                  <a:pt x="111" y="3023"/>
                  <a:pt x="99" y="3017"/>
                  <a:pt x="89" y="3010"/>
                </a:cubicBezTo>
                <a:cubicBezTo>
                  <a:pt x="78" y="3003"/>
                  <a:pt x="68" y="2994"/>
                  <a:pt x="59" y="2985"/>
                </a:cubicBezTo>
                <a:cubicBezTo>
                  <a:pt x="49" y="2976"/>
                  <a:pt x="41" y="2966"/>
                  <a:pt x="34" y="2955"/>
                </a:cubicBezTo>
                <a:cubicBezTo>
                  <a:pt x="27" y="2944"/>
                  <a:pt x="20" y="2933"/>
                  <a:pt x="15" y="2921"/>
                </a:cubicBezTo>
                <a:cubicBezTo>
                  <a:pt x="11" y="2909"/>
                  <a:pt x="7" y="2896"/>
                  <a:pt x="4" y="2884"/>
                </a:cubicBezTo>
                <a:cubicBezTo>
                  <a:pt x="2" y="2871"/>
                  <a:pt x="0" y="2858"/>
                  <a:pt x="0" y="2845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 txBox="1"/>
          <p:nvPr/>
        </p:nvSpPr>
        <p:spPr>
          <a:xfrm>
            <a:off x="6612840" y="3192480"/>
            <a:ext cx="3352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无竞品用相似度分数做在线漂移信号切换策略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 txBox="1"/>
          <p:nvPr/>
        </p:nvSpPr>
        <p:spPr>
          <a:xfrm>
            <a:off x="6486480" y="5565240"/>
            <a:ext cx="648081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新颖性=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 txBox="1"/>
          <p:nvPr/>
        </p:nvSpPr>
        <p:spPr>
          <a:xfrm>
            <a:off x="6486480" y="5945040"/>
            <a:ext cx="4573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零开销漂移信号×元控制器切换× SSD/PCIe带宽门控× top-1覆盖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9334440" y="-360"/>
            <a:ext cx="2857680" cy="2858040"/>
          </a:xfrm>
          <a:custGeom>
            <a:avLst/>
            <a:gdLst/>
            <a:ahLst/>
            <a:rect l="0" t="0" r="r" b="b"/>
            <a:pathLst>
              <a:path w="7938" h="7939">
                <a:moveTo>
                  <a:pt x="7938" y="7230"/>
                </a:moveTo>
                <a:cubicBezTo>
                  <a:pt x="7888" y="7259"/>
                  <a:pt x="7838" y="7287"/>
                  <a:pt x="7787" y="7314"/>
                </a:cubicBezTo>
                <a:cubicBezTo>
                  <a:pt x="7710" y="7355"/>
                  <a:pt x="7633" y="7394"/>
                  <a:pt x="7555" y="7431"/>
                </a:cubicBezTo>
                <a:cubicBezTo>
                  <a:pt x="7477" y="7468"/>
                  <a:pt x="7397" y="7503"/>
                  <a:pt x="7317" y="7536"/>
                </a:cubicBezTo>
                <a:cubicBezTo>
                  <a:pt x="7237" y="7569"/>
                  <a:pt x="7157" y="7600"/>
                  <a:pt x="7075" y="7630"/>
                </a:cubicBezTo>
                <a:cubicBezTo>
                  <a:pt x="6993" y="7659"/>
                  <a:pt x="6911" y="7686"/>
                  <a:pt x="6828" y="7711"/>
                </a:cubicBezTo>
                <a:cubicBezTo>
                  <a:pt x="6746" y="7736"/>
                  <a:pt x="6662" y="7759"/>
                  <a:pt x="6578" y="7780"/>
                </a:cubicBezTo>
                <a:cubicBezTo>
                  <a:pt x="6494" y="7801"/>
                  <a:pt x="6410" y="7820"/>
                  <a:pt x="6325" y="7837"/>
                </a:cubicBezTo>
                <a:cubicBezTo>
                  <a:pt x="6240" y="7854"/>
                  <a:pt x="6154" y="7869"/>
                  <a:pt x="6069" y="7882"/>
                </a:cubicBezTo>
                <a:cubicBezTo>
                  <a:pt x="5983" y="7894"/>
                  <a:pt x="5897" y="7905"/>
                  <a:pt x="5811" y="7914"/>
                </a:cubicBezTo>
                <a:cubicBezTo>
                  <a:pt x="5725" y="7922"/>
                  <a:pt x="5638" y="7928"/>
                  <a:pt x="5552" y="7933"/>
                </a:cubicBezTo>
                <a:cubicBezTo>
                  <a:pt x="5465" y="7937"/>
                  <a:pt x="5379" y="7939"/>
                  <a:pt x="5292" y="7939"/>
                </a:cubicBezTo>
                <a:cubicBezTo>
                  <a:pt x="5206" y="7939"/>
                  <a:pt x="5119" y="7937"/>
                  <a:pt x="5033" y="7933"/>
                </a:cubicBezTo>
                <a:cubicBezTo>
                  <a:pt x="4946" y="7928"/>
                  <a:pt x="4860" y="7922"/>
                  <a:pt x="4774" y="7914"/>
                </a:cubicBezTo>
                <a:cubicBezTo>
                  <a:pt x="4687" y="7905"/>
                  <a:pt x="4602" y="7894"/>
                  <a:pt x="4516" y="7882"/>
                </a:cubicBezTo>
                <a:cubicBezTo>
                  <a:pt x="4430" y="7869"/>
                  <a:pt x="4345" y="7854"/>
                  <a:pt x="4260" y="7837"/>
                </a:cubicBezTo>
                <a:cubicBezTo>
                  <a:pt x="4175" y="7820"/>
                  <a:pt x="4091" y="7801"/>
                  <a:pt x="4007" y="7780"/>
                </a:cubicBezTo>
                <a:cubicBezTo>
                  <a:pt x="3923" y="7759"/>
                  <a:pt x="3839" y="7736"/>
                  <a:pt x="3756" y="7711"/>
                </a:cubicBezTo>
                <a:cubicBezTo>
                  <a:pt x="3673" y="7686"/>
                  <a:pt x="3591" y="7659"/>
                  <a:pt x="3510" y="7630"/>
                </a:cubicBezTo>
                <a:cubicBezTo>
                  <a:pt x="3428" y="7600"/>
                  <a:pt x="3347" y="7569"/>
                  <a:pt x="3267" y="7536"/>
                </a:cubicBezTo>
                <a:cubicBezTo>
                  <a:pt x="3187" y="7503"/>
                  <a:pt x="3108" y="7468"/>
                  <a:pt x="3030" y="7431"/>
                </a:cubicBezTo>
                <a:cubicBezTo>
                  <a:pt x="2952" y="7394"/>
                  <a:pt x="2874" y="7355"/>
                  <a:pt x="2798" y="7314"/>
                </a:cubicBezTo>
                <a:cubicBezTo>
                  <a:pt x="2721" y="7273"/>
                  <a:pt x="2646" y="7231"/>
                  <a:pt x="2572" y="7186"/>
                </a:cubicBezTo>
                <a:cubicBezTo>
                  <a:pt x="2498" y="7142"/>
                  <a:pt x="2424" y="7095"/>
                  <a:pt x="2352" y="7047"/>
                </a:cubicBezTo>
                <a:cubicBezTo>
                  <a:pt x="2280" y="6999"/>
                  <a:pt x="2210" y="6949"/>
                  <a:pt x="2140" y="6898"/>
                </a:cubicBezTo>
                <a:cubicBezTo>
                  <a:pt x="2071" y="6846"/>
                  <a:pt x="2002" y="6793"/>
                  <a:pt x="1935" y="6738"/>
                </a:cubicBezTo>
                <a:cubicBezTo>
                  <a:pt x="1868" y="6683"/>
                  <a:pt x="1802" y="6626"/>
                  <a:pt x="1738" y="6568"/>
                </a:cubicBezTo>
                <a:cubicBezTo>
                  <a:pt x="1673" y="6510"/>
                  <a:pt x="1611" y="6450"/>
                  <a:pt x="1550" y="6389"/>
                </a:cubicBezTo>
                <a:cubicBezTo>
                  <a:pt x="1488" y="6328"/>
                  <a:pt x="1429" y="6265"/>
                  <a:pt x="1370" y="6201"/>
                </a:cubicBezTo>
                <a:cubicBezTo>
                  <a:pt x="1312" y="6137"/>
                  <a:pt x="1256" y="6071"/>
                  <a:pt x="1201" y="6004"/>
                </a:cubicBezTo>
                <a:cubicBezTo>
                  <a:pt x="1146" y="5937"/>
                  <a:pt x="1093" y="5869"/>
                  <a:pt x="1041" y="5800"/>
                </a:cubicBezTo>
                <a:cubicBezTo>
                  <a:pt x="989" y="5730"/>
                  <a:pt x="940" y="5659"/>
                  <a:pt x="891" y="5587"/>
                </a:cubicBezTo>
                <a:cubicBezTo>
                  <a:pt x="843" y="5515"/>
                  <a:pt x="797" y="5442"/>
                  <a:pt x="753" y="5368"/>
                </a:cubicBezTo>
                <a:cubicBezTo>
                  <a:pt x="708" y="5294"/>
                  <a:pt x="665" y="5218"/>
                  <a:pt x="624" y="5142"/>
                </a:cubicBezTo>
                <a:cubicBezTo>
                  <a:pt x="584" y="5065"/>
                  <a:pt x="545" y="4988"/>
                  <a:pt x="508" y="4910"/>
                </a:cubicBezTo>
                <a:cubicBezTo>
                  <a:pt x="471" y="4832"/>
                  <a:pt x="436" y="4752"/>
                  <a:pt x="402" y="4672"/>
                </a:cubicBezTo>
                <a:cubicBezTo>
                  <a:pt x="369" y="4592"/>
                  <a:pt x="338" y="4512"/>
                  <a:pt x="309" y="4430"/>
                </a:cubicBezTo>
                <a:cubicBezTo>
                  <a:pt x="280" y="4349"/>
                  <a:pt x="253" y="4266"/>
                  <a:pt x="228" y="4183"/>
                </a:cubicBezTo>
                <a:cubicBezTo>
                  <a:pt x="202" y="4101"/>
                  <a:pt x="179" y="4017"/>
                  <a:pt x="158" y="3932"/>
                </a:cubicBezTo>
                <a:cubicBezTo>
                  <a:pt x="137" y="3848"/>
                  <a:pt x="118" y="3764"/>
                  <a:pt x="101" y="3679"/>
                </a:cubicBezTo>
                <a:cubicBezTo>
                  <a:pt x="84" y="3594"/>
                  <a:pt x="70" y="3508"/>
                  <a:pt x="57" y="3423"/>
                </a:cubicBezTo>
                <a:cubicBezTo>
                  <a:pt x="44" y="3337"/>
                  <a:pt x="34" y="3251"/>
                  <a:pt x="25" y="3165"/>
                </a:cubicBezTo>
                <a:cubicBezTo>
                  <a:pt x="17" y="3079"/>
                  <a:pt x="10" y="2992"/>
                  <a:pt x="6" y="2906"/>
                </a:cubicBezTo>
                <a:cubicBezTo>
                  <a:pt x="2" y="2819"/>
                  <a:pt x="0" y="2733"/>
                  <a:pt x="0" y="2646"/>
                </a:cubicBezTo>
                <a:cubicBezTo>
                  <a:pt x="0" y="2560"/>
                  <a:pt x="2" y="2473"/>
                  <a:pt x="6" y="2387"/>
                </a:cubicBezTo>
                <a:cubicBezTo>
                  <a:pt x="10" y="2300"/>
                  <a:pt x="17" y="2214"/>
                  <a:pt x="25" y="2128"/>
                </a:cubicBezTo>
                <a:cubicBezTo>
                  <a:pt x="34" y="2041"/>
                  <a:pt x="44" y="1956"/>
                  <a:pt x="57" y="1870"/>
                </a:cubicBezTo>
                <a:cubicBezTo>
                  <a:pt x="70" y="1784"/>
                  <a:pt x="84" y="1699"/>
                  <a:pt x="101" y="1614"/>
                </a:cubicBezTo>
                <a:cubicBezTo>
                  <a:pt x="118" y="1529"/>
                  <a:pt x="137" y="1445"/>
                  <a:pt x="158" y="1361"/>
                </a:cubicBezTo>
                <a:cubicBezTo>
                  <a:pt x="179" y="1277"/>
                  <a:pt x="202" y="1193"/>
                  <a:pt x="228" y="1110"/>
                </a:cubicBezTo>
                <a:cubicBezTo>
                  <a:pt x="253" y="1027"/>
                  <a:pt x="280" y="945"/>
                  <a:pt x="309" y="864"/>
                </a:cubicBezTo>
                <a:cubicBezTo>
                  <a:pt x="338" y="782"/>
                  <a:pt x="369" y="701"/>
                  <a:pt x="402" y="621"/>
                </a:cubicBezTo>
                <a:cubicBezTo>
                  <a:pt x="436" y="541"/>
                  <a:pt x="471" y="462"/>
                  <a:pt x="508" y="384"/>
                </a:cubicBezTo>
                <a:cubicBezTo>
                  <a:pt x="545" y="306"/>
                  <a:pt x="584" y="228"/>
                  <a:pt x="624" y="152"/>
                </a:cubicBezTo>
                <a:cubicBezTo>
                  <a:pt x="652" y="101"/>
                  <a:pt x="680" y="50"/>
                  <a:pt x="709" y="0"/>
                </a:cubicBezTo>
                <a:lnTo>
                  <a:pt x="7938" y="0"/>
                </a:lnTo>
                <a:lnTo>
                  <a:pt x="7938" y="7230"/>
                </a:ln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-360" y="3762360"/>
            <a:ext cx="3096000" cy="3095640"/>
          </a:xfrm>
          <a:custGeom>
            <a:avLst/>
            <a:gdLst/>
            <a:ahLst/>
            <a:rect l="0" t="0" r="r" b="b"/>
            <a:pathLst>
              <a:path fill="none" w="8600" h="8599">
                <a:moveTo>
                  <a:pt x="0" y="620"/>
                </a:moveTo>
                <a:cubicBezTo>
                  <a:pt x="34" y="603"/>
                  <a:pt x="67" y="587"/>
                  <a:pt x="101" y="571"/>
                </a:cubicBezTo>
                <a:cubicBezTo>
                  <a:pt x="189" y="529"/>
                  <a:pt x="278" y="490"/>
                  <a:pt x="368" y="453"/>
                </a:cubicBezTo>
                <a:cubicBezTo>
                  <a:pt x="458" y="415"/>
                  <a:pt x="549" y="380"/>
                  <a:pt x="641" y="348"/>
                </a:cubicBezTo>
                <a:cubicBezTo>
                  <a:pt x="733" y="315"/>
                  <a:pt x="825" y="284"/>
                  <a:pt x="918" y="256"/>
                </a:cubicBezTo>
                <a:cubicBezTo>
                  <a:pt x="1011" y="228"/>
                  <a:pt x="1105" y="202"/>
                  <a:pt x="1200" y="178"/>
                </a:cubicBezTo>
                <a:cubicBezTo>
                  <a:pt x="1294" y="154"/>
                  <a:pt x="1389" y="133"/>
                  <a:pt x="1485" y="114"/>
                </a:cubicBezTo>
                <a:cubicBezTo>
                  <a:pt x="1580" y="95"/>
                  <a:pt x="1676" y="78"/>
                  <a:pt x="1773" y="64"/>
                </a:cubicBezTo>
                <a:cubicBezTo>
                  <a:pt x="1869" y="50"/>
                  <a:pt x="1966" y="38"/>
                  <a:pt x="2063" y="28"/>
                </a:cubicBezTo>
                <a:cubicBezTo>
                  <a:pt x="2160" y="19"/>
                  <a:pt x="2257" y="11"/>
                  <a:pt x="2354" y="7"/>
                </a:cubicBezTo>
                <a:cubicBezTo>
                  <a:pt x="2452" y="2"/>
                  <a:pt x="2549" y="0"/>
                  <a:pt x="2646" y="0"/>
                </a:cubicBezTo>
                <a:cubicBezTo>
                  <a:pt x="2744" y="0"/>
                  <a:pt x="2841" y="2"/>
                  <a:pt x="2938" y="7"/>
                </a:cubicBezTo>
                <a:cubicBezTo>
                  <a:pt x="3036" y="11"/>
                  <a:pt x="3133" y="19"/>
                  <a:pt x="3230" y="28"/>
                </a:cubicBezTo>
                <a:cubicBezTo>
                  <a:pt x="3327" y="38"/>
                  <a:pt x="3423" y="50"/>
                  <a:pt x="3520" y="64"/>
                </a:cubicBezTo>
                <a:cubicBezTo>
                  <a:pt x="3616" y="78"/>
                  <a:pt x="3712" y="95"/>
                  <a:pt x="3808" y="114"/>
                </a:cubicBezTo>
                <a:cubicBezTo>
                  <a:pt x="3903" y="133"/>
                  <a:pt x="3998" y="154"/>
                  <a:pt x="4093" y="178"/>
                </a:cubicBezTo>
                <a:cubicBezTo>
                  <a:pt x="4187" y="202"/>
                  <a:pt x="4281" y="228"/>
                  <a:pt x="4375" y="256"/>
                </a:cubicBezTo>
                <a:cubicBezTo>
                  <a:pt x="4469" y="284"/>
                  <a:pt x="4561" y="315"/>
                  <a:pt x="4653" y="348"/>
                </a:cubicBezTo>
                <a:cubicBezTo>
                  <a:pt x="4745" y="380"/>
                  <a:pt x="4835" y="415"/>
                  <a:pt x="4925" y="453"/>
                </a:cubicBezTo>
                <a:cubicBezTo>
                  <a:pt x="5016" y="490"/>
                  <a:pt x="5105" y="529"/>
                  <a:pt x="5193" y="571"/>
                </a:cubicBezTo>
                <a:cubicBezTo>
                  <a:pt x="5281" y="613"/>
                  <a:pt x="5368" y="657"/>
                  <a:pt x="5454" y="702"/>
                </a:cubicBezTo>
                <a:cubicBezTo>
                  <a:pt x="5540" y="748"/>
                  <a:pt x="5624" y="796"/>
                  <a:pt x="5708" y="847"/>
                </a:cubicBezTo>
                <a:cubicBezTo>
                  <a:pt x="5791" y="897"/>
                  <a:pt x="5874" y="949"/>
                  <a:pt x="5955" y="1003"/>
                </a:cubicBezTo>
                <a:cubicBezTo>
                  <a:pt x="6036" y="1057"/>
                  <a:pt x="6115" y="1113"/>
                  <a:pt x="6194" y="1171"/>
                </a:cubicBezTo>
                <a:cubicBezTo>
                  <a:pt x="6272" y="1229"/>
                  <a:pt x="6349" y="1289"/>
                  <a:pt x="6424" y="1351"/>
                </a:cubicBezTo>
                <a:cubicBezTo>
                  <a:pt x="6499" y="1413"/>
                  <a:pt x="6573" y="1476"/>
                  <a:pt x="6645" y="1542"/>
                </a:cubicBezTo>
                <a:cubicBezTo>
                  <a:pt x="6717" y="1607"/>
                  <a:pt x="6788" y="1674"/>
                  <a:pt x="6857" y="1743"/>
                </a:cubicBezTo>
                <a:cubicBezTo>
                  <a:pt x="6926" y="1812"/>
                  <a:pt x="6993" y="1883"/>
                  <a:pt x="7058" y="1955"/>
                </a:cubicBezTo>
                <a:cubicBezTo>
                  <a:pt x="7124" y="2027"/>
                  <a:pt x="7187" y="2101"/>
                  <a:pt x="7249" y="2176"/>
                </a:cubicBezTo>
                <a:cubicBezTo>
                  <a:pt x="7311" y="2251"/>
                  <a:pt x="7371" y="2328"/>
                  <a:pt x="7429" y="2406"/>
                </a:cubicBezTo>
                <a:cubicBezTo>
                  <a:pt x="7487" y="2486"/>
                  <a:pt x="7543" y="2565"/>
                  <a:pt x="7597" y="2646"/>
                </a:cubicBezTo>
                <a:cubicBezTo>
                  <a:pt x="7651" y="2727"/>
                  <a:pt x="7703" y="2810"/>
                  <a:pt x="7753" y="2893"/>
                </a:cubicBezTo>
                <a:cubicBezTo>
                  <a:pt x="7804" y="2977"/>
                  <a:pt x="7852" y="3061"/>
                  <a:pt x="7898" y="3147"/>
                </a:cubicBezTo>
                <a:cubicBezTo>
                  <a:pt x="7943" y="3233"/>
                  <a:pt x="7987" y="3320"/>
                  <a:pt x="8029" y="3408"/>
                </a:cubicBezTo>
                <a:cubicBezTo>
                  <a:pt x="8071" y="3496"/>
                  <a:pt x="8110" y="3585"/>
                  <a:pt x="8147" y="3676"/>
                </a:cubicBezTo>
                <a:cubicBezTo>
                  <a:pt x="8185" y="3766"/>
                  <a:pt x="8220" y="3856"/>
                  <a:pt x="8252" y="3948"/>
                </a:cubicBezTo>
                <a:cubicBezTo>
                  <a:pt x="8285" y="4040"/>
                  <a:pt x="8316" y="4132"/>
                  <a:pt x="8344" y="4226"/>
                </a:cubicBezTo>
                <a:cubicBezTo>
                  <a:pt x="8372" y="4319"/>
                  <a:pt x="8398" y="4413"/>
                  <a:pt x="8422" y="4507"/>
                </a:cubicBezTo>
                <a:cubicBezTo>
                  <a:pt x="8446" y="4602"/>
                  <a:pt x="8467" y="4697"/>
                  <a:pt x="8486" y="4792"/>
                </a:cubicBezTo>
                <a:cubicBezTo>
                  <a:pt x="8505" y="4888"/>
                  <a:pt x="8522" y="4984"/>
                  <a:pt x="8536" y="5080"/>
                </a:cubicBezTo>
                <a:cubicBezTo>
                  <a:pt x="8550" y="5177"/>
                  <a:pt x="8562" y="5273"/>
                  <a:pt x="8572" y="5370"/>
                </a:cubicBezTo>
                <a:cubicBezTo>
                  <a:pt x="8581" y="5467"/>
                  <a:pt x="8589" y="5564"/>
                  <a:pt x="8593" y="5662"/>
                </a:cubicBezTo>
                <a:cubicBezTo>
                  <a:pt x="8598" y="5759"/>
                  <a:pt x="8600" y="5856"/>
                  <a:pt x="8600" y="5954"/>
                </a:cubicBezTo>
                <a:cubicBezTo>
                  <a:pt x="8600" y="6051"/>
                  <a:pt x="8598" y="6148"/>
                  <a:pt x="8593" y="6246"/>
                </a:cubicBezTo>
                <a:cubicBezTo>
                  <a:pt x="8589" y="6343"/>
                  <a:pt x="8581" y="6440"/>
                  <a:pt x="8572" y="6537"/>
                </a:cubicBezTo>
                <a:cubicBezTo>
                  <a:pt x="8562" y="6634"/>
                  <a:pt x="8550" y="6731"/>
                  <a:pt x="8536" y="6827"/>
                </a:cubicBezTo>
                <a:cubicBezTo>
                  <a:pt x="8522" y="6924"/>
                  <a:pt x="8505" y="7020"/>
                  <a:pt x="8486" y="7115"/>
                </a:cubicBezTo>
                <a:cubicBezTo>
                  <a:pt x="8467" y="7211"/>
                  <a:pt x="8446" y="7306"/>
                  <a:pt x="8422" y="7400"/>
                </a:cubicBezTo>
                <a:cubicBezTo>
                  <a:pt x="8398" y="7495"/>
                  <a:pt x="8372" y="7589"/>
                  <a:pt x="8344" y="7682"/>
                </a:cubicBezTo>
                <a:cubicBezTo>
                  <a:pt x="8316" y="7775"/>
                  <a:pt x="8285" y="7867"/>
                  <a:pt x="8252" y="7959"/>
                </a:cubicBezTo>
                <a:cubicBezTo>
                  <a:pt x="8220" y="8051"/>
                  <a:pt x="8185" y="8142"/>
                  <a:pt x="8147" y="8232"/>
                </a:cubicBezTo>
                <a:cubicBezTo>
                  <a:pt x="8110" y="8322"/>
                  <a:pt x="8071" y="8411"/>
                  <a:pt x="8029" y="8499"/>
                </a:cubicBezTo>
                <a:cubicBezTo>
                  <a:pt x="8013" y="8533"/>
                  <a:pt x="7997" y="8566"/>
                  <a:pt x="7980" y="8599"/>
                </a:cubicBezTo>
              </a:path>
            </a:pathLst>
          </a:custGeom>
          <a:ln w="475920">
            <a:solidFill>
              <a:srgbClr val="bfdbfe"/>
            </a:solidFill>
            <a:miter/>
          </a:ln>
        </p:spPr>
        <p:txBody>
          <a:bodyPr lIns="237960" rIns="237960" tIns="237960" bIns="237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456840" y="1371240"/>
            <a:ext cx="457560" cy="457560"/>
          </a:xfrm>
          <a:custGeom>
            <a:avLst/>
            <a:gdLst/>
            <a:ahLst/>
            <a:rect l="0" t="0" r="r" b="b"/>
            <a:pathLst>
              <a:path w="1271" h="1271">
                <a:moveTo>
                  <a:pt x="1271" y="636"/>
                </a:moveTo>
                <a:cubicBezTo>
                  <a:pt x="1271" y="657"/>
                  <a:pt x="1270" y="678"/>
                  <a:pt x="1268" y="699"/>
                </a:cubicBezTo>
                <a:cubicBezTo>
                  <a:pt x="1266" y="719"/>
                  <a:pt x="1263" y="740"/>
                  <a:pt x="1259" y="760"/>
                </a:cubicBezTo>
                <a:cubicBezTo>
                  <a:pt x="1255" y="781"/>
                  <a:pt x="1250" y="801"/>
                  <a:pt x="1244" y="821"/>
                </a:cubicBezTo>
                <a:cubicBezTo>
                  <a:pt x="1238" y="841"/>
                  <a:pt x="1231" y="860"/>
                  <a:pt x="1223" y="880"/>
                </a:cubicBezTo>
                <a:cubicBezTo>
                  <a:pt x="1215" y="899"/>
                  <a:pt x="1206" y="917"/>
                  <a:pt x="1197" y="936"/>
                </a:cubicBezTo>
                <a:cubicBezTo>
                  <a:pt x="1187" y="954"/>
                  <a:pt x="1176" y="972"/>
                  <a:pt x="1164" y="989"/>
                </a:cubicBezTo>
                <a:cubicBezTo>
                  <a:pt x="1153" y="1007"/>
                  <a:pt x="1141" y="1023"/>
                  <a:pt x="1127" y="1039"/>
                </a:cubicBezTo>
                <a:cubicBezTo>
                  <a:pt x="1114" y="1055"/>
                  <a:pt x="1100" y="1071"/>
                  <a:pt x="1086" y="1086"/>
                </a:cubicBezTo>
                <a:cubicBezTo>
                  <a:pt x="1071" y="1100"/>
                  <a:pt x="1055" y="1114"/>
                  <a:pt x="1039" y="1127"/>
                </a:cubicBezTo>
                <a:cubicBezTo>
                  <a:pt x="1023" y="1141"/>
                  <a:pt x="1007" y="1153"/>
                  <a:pt x="989" y="1164"/>
                </a:cubicBezTo>
                <a:cubicBezTo>
                  <a:pt x="972" y="1176"/>
                  <a:pt x="954" y="1187"/>
                  <a:pt x="936" y="1197"/>
                </a:cubicBezTo>
                <a:cubicBezTo>
                  <a:pt x="917" y="1206"/>
                  <a:pt x="899" y="1215"/>
                  <a:pt x="880" y="1223"/>
                </a:cubicBezTo>
                <a:cubicBezTo>
                  <a:pt x="860" y="1231"/>
                  <a:pt x="841" y="1238"/>
                  <a:pt x="821" y="1244"/>
                </a:cubicBezTo>
                <a:cubicBezTo>
                  <a:pt x="801" y="1250"/>
                  <a:pt x="781" y="1255"/>
                  <a:pt x="760" y="1259"/>
                </a:cubicBezTo>
                <a:cubicBezTo>
                  <a:pt x="740" y="1263"/>
                  <a:pt x="719" y="1266"/>
                  <a:pt x="699" y="1268"/>
                </a:cubicBezTo>
                <a:cubicBezTo>
                  <a:pt x="678" y="1270"/>
                  <a:pt x="657" y="1271"/>
                  <a:pt x="636" y="1271"/>
                </a:cubicBezTo>
                <a:cubicBezTo>
                  <a:pt x="615" y="1271"/>
                  <a:pt x="594" y="1270"/>
                  <a:pt x="573" y="1268"/>
                </a:cubicBezTo>
                <a:cubicBezTo>
                  <a:pt x="553" y="1266"/>
                  <a:pt x="532" y="1263"/>
                  <a:pt x="512" y="1259"/>
                </a:cubicBezTo>
                <a:cubicBezTo>
                  <a:pt x="491" y="1255"/>
                  <a:pt x="471" y="1250"/>
                  <a:pt x="451" y="1244"/>
                </a:cubicBezTo>
                <a:cubicBezTo>
                  <a:pt x="431" y="1238"/>
                  <a:pt x="412" y="1231"/>
                  <a:pt x="392" y="1223"/>
                </a:cubicBezTo>
                <a:cubicBezTo>
                  <a:pt x="373" y="1215"/>
                  <a:pt x="355" y="1206"/>
                  <a:pt x="336" y="1197"/>
                </a:cubicBezTo>
                <a:cubicBezTo>
                  <a:pt x="318" y="1187"/>
                  <a:pt x="300" y="1176"/>
                  <a:pt x="283" y="1164"/>
                </a:cubicBezTo>
                <a:cubicBezTo>
                  <a:pt x="265" y="1153"/>
                  <a:pt x="249" y="1141"/>
                  <a:pt x="233" y="1127"/>
                </a:cubicBezTo>
                <a:cubicBezTo>
                  <a:pt x="217" y="1114"/>
                  <a:pt x="201" y="1100"/>
                  <a:pt x="186" y="1086"/>
                </a:cubicBezTo>
                <a:cubicBezTo>
                  <a:pt x="172" y="1071"/>
                  <a:pt x="158" y="1055"/>
                  <a:pt x="145" y="1039"/>
                </a:cubicBezTo>
                <a:cubicBezTo>
                  <a:pt x="131" y="1023"/>
                  <a:pt x="119" y="1007"/>
                  <a:pt x="108" y="989"/>
                </a:cubicBezTo>
                <a:cubicBezTo>
                  <a:pt x="96" y="972"/>
                  <a:pt x="85" y="954"/>
                  <a:pt x="75" y="936"/>
                </a:cubicBezTo>
                <a:cubicBezTo>
                  <a:pt x="66" y="917"/>
                  <a:pt x="57" y="899"/>
                  <a:pt x="49" y="880"/>
                </a:cubicBezTo>
                <a:cubicBezTo>
                  <a:pt x="41" y="860"/>
                  <a:pt x="34" y="841"/>
                  <a:pt x="28" y="821"/>
                </a:cubicBezTo>
                <a:cubicBezTo>
                  <a:pt x="22" y="801"/>
                  <a:pt x="17" y="781"/>
                  <a:pt x="13" y="760"/>
                </a:cubicBezTo>
                <a:cubicBezTo>
                  <a:pt x="9" y="740"/>
                  <a:pt x="6" y="719"/>
                  <a:pt x="4" y="699"/>
                </a:cubicBezTo>
                <a:cubicBezTo>
                  <a:pt x="2" y="678"/>
                  <a:pt x="0" y="657"/>
                  <a:pt x="0" y="636"/>
                </a:cubicBezTo>
                <a:cubicBezTo>
                  <a:pt x="0" y="615"/>
                  <a:pt x="2" y="594"/>
                  <a:pt x="4" y="573"/>
                </a:cubicBezTo>
                <a:cubicBezTo>
                  <a:pt x="6" y="553"/>
                  <a:pt x="9" y="532"/>
                  <a:pt x="13" y="512"/>
                </a:cubicBezTo>
                <a:cubicBezTo>
                  <a:pt x="17" y="491"/>
                  <a:pt x="22" y="471"/>
                  <a:pt x="28" y="451"/>
                </a:cubicBezTo>
                <a:cubicBezTo>
                  <a:pt x="34" y="431"/>
                  <a:pt x="41" y="412"/>
                  <a:pt x="49" y="392"/>
                </a:cubicBezTo>
                <a:cubicBezTo>
                  <a:pt x="57" y="373"/>
                  <a:pt x="66" y="355"/>
                  <a:pt x="75" y="336"/>
                </a:cubicBezTo>
                <a:cubicBezTo>
                  <a:pt x="85" y="318"/>
                  <a:pt x="96" y="300"/>
                  <a:pt x="108" y="283"/>
                </a:cubicBezTo>
                <a:cubicBezTo>
                  <a:pt x="119" y="265"/>
                  <a:pt x="131" y="249"/>
                  <a:pt x="145" y="233"/>
                </a:cubicBezTo>
                <a:cubicBezTo>
                  <a:pt x="158" y="217"/>
                  <a:pt x="172" y="201"/>
                  <a:pt x="186" y="186"/>
                </a:cubicBezTo>
                <a:cubicBezTo>
                  <a:pt x="201" y="172"/>
                  <a:pt x="217" y="158"/>
                  <a:pt x="233" y="145"/>
                </a:cubicBezTo>
                <a:cubicBezTo>
                  <a:pt x="249" y="131"/>
                  <a:pt x="265" y="119"/>
                  <a:pt x="283" y="108"/>
                </a:cubicBezTo>
                <a:cubicBezTo>
                  <a:pt x="300" y="96"/>
                  <a:pt x="318" y="85"/>
                  <a:pt x="336" y="75"/>
                </a:cubicBezTo>
                <a:cubicBezTo>
                  <a:pt x="355" y="66"/>
                  <a:pt x="373" y="57"/>
                  <a:pt x="392" y="49"/>
                </a:cubicBezTo>
                <a:cubicBezTo>
                  <a:pt x="412" y="41"/>
                  <a:pt x="431" y="34"/>
                  <a:pt x="451" y="28"/>
                </a:cubicBezTo>
                <a:cubicBezTo>
                  <a:pt x="471" y="22"/>
                  <a:pt x="491" y="17"/>
                  <a:pt x="512" y="13"/>
                </a:cubicBezTo>
                <a:cubicBezTo>
                  <a:pt x="532" y="9"/>
                  <a:pt x="553" y="6"/>
                  <a:pt x="573" y="4"/>
                </a:cubicBezTo>
                <a:cubicBezTo>
                  <a:pt x="594" y="2"/>
                  <a:pt x="615" y="0"/>
                  <a:pt x="636" y="0"/>
                </a:cubicBezTo>
                <a:cubicBezTo>
                  <a:pt x="657" y="0"/>
                  <a:pt x="678" y="2"/>
                  <a:pt x="699" y="4"/>
                </a:cubicBezTo>
                <a:cubicBezTo>
                  <a:pt x="719" y="6"/>
                  <a:pt x="740" y="9"/>
                  <a:pt x="760" y="13"/>
                </a:cubicBezTo>
                <a:cubicBezTo>
                  <a:pt x="781" y="17"/>
                  <a:pt x="801" y="22"/>
                  <a:pt x="821" y="28"/>
                </a:cubicBezTo>
                <a:cubicBezTo>
                  <a:pt x="841" y="34"/>
                  <a:pt x="860" y="41"/>
                  <a:pt x="880" y="49"/>
                </a:cubicBezTo>
                <a:cubicBezTo>
                  <a:pt x="899" y="57"/>
                  <a:pt x="917" y="66"/>
                  <a:pt x="936" y="75"/>
                </a:cubicBezTo>
                <a:cubicBezTo>
                  <a:pt x="954" y="85"/>
                  <a:pt x="972" y="96"/>
                  <a:pt x="989" y="108"/>
                </a:cubicBezTo>
                <a:cubicBezTo>
                  <a:pt x="1007" y="119"/>
                  <a:pt x="1023" y="131"/>
                  <a:pt x="1039" y="145"/>
                </a:cubicBezTo>
                <a:cubicBezTo>
                  <a:pt x="1055" y="158"/>
                  <a:pt x="1071" y="172"/>
                  <a:pt x="1086" y="186"/>
                </a:cubicBezTo>
                <a:cubicBezTo>
                  <a:pt x="1100" y="201"/>
                  <a:pt x="1114" y="217"/>
                  <a:pt x="1127" y="233"/>
                </a:cubicBezTo>
                <a:cubicBezTo>
                  <a:pt x="1141" y="249"/>
                  <a:pt x="1153" y="265"/>
                  <a:pt x="1164" y="283"/>
                </a:cubicBezTo>
                <a:cubicBezTo>
                  <a:pt x="1176" y="300"/>
                  <a:pt x="1187" y="318"/>
                  <a:pt x="1197" y="336"/>
                </a:cubicBezTo>
                <a:cubicBezTo>
                  <a:pt x="1206" y="355"/>
                  <a:pt x="1215" y="373"/>
                  <a:pt x="1223" y="392"/>
                </a:cubicBezTo>
                <a:cubicBezTo>
                  <a:pt x="1231" y="412"/>
                  <a:pt x="1238" y="431"/>
                  <a:pt x="1244" y="451"/>
                </a:cubicBezTo>
                <a:cubicBezTo>
                  <a:pt x="1250" y="471"/>
                  <a:pt x="1255" y="491"/>
                  <a:pt x="1259" y="512"/>
                </a:cubicBezTo>
                <a:cubicBezTo>
                  <a:pt x="1263" y="532"/>
                  <a:pt x="1266" y="553"/>
                  <a:pt x="1268" y="573"/>
                </a:cubicBezTo>
                <a:cubicBezTo>
                  <a:pt x="1270" y="594"/>
                  <a:pt x="1271" y="615"/>
                  <a:pt x="1271" y="636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 txBox="1"/>
          <p:nvPr/>
        </p:nvSpPr>
        <p:spPr>
          <a:xfrm>
            <a:off x="457200" y="465480"/>
            <a:ext cx="230505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实验路线图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 txBox="1"/>
          <p:nvPr/>
        </p:nvSpPr>
        <p:spPr>
          <a:xfrm>
            <a:off x="553320" y="1494360"/>
            <a:ext cx="2653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ffffff"/>
                </a:solidFill>
                <a:effectLst>
                  <a:outerShdw blurRad="76200" dist="50800" dir="5400000" algn="tl" rotWithShape="0">
                    <a:prstClr val="black">
                      <a:alpha val="100000"/>
                    </a:prstClr>
                  </a:outerShdw>
                </a:effectLst>
                <a:uFillTx/>
                <a:latin typeface="Inter, sans-serif"/>
                <a:ea typeface="Inter, sans-serif"/>
              </a:rPr>
              <a:t>M0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 txBox="1"/>
          <p:nvPr/>
        </p:nvSpPr>
        <p:spPr>
          <a:xfrm>
            <a:off x="1143000" y="1441080"/>
            <a:ext cx="108013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M0 (✅ 已完成)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 txBox="1"/>
          <p:nvPr/>
        </p:nvSpPr>
        <p:spPr>
          <a:xfrm>
            <a:off x="1143000" y="1734840"/>
            <a:ext cx="5248656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等容量bug修正+ k=4 trace采集+ EXP-B容量扫描；k∈{1,4,8}三点曲线闭合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456840" y="2171520"/>
            <a:ext cx="457560" cy="457560"/>
          </a:xfrm>
          <a:custGeom>
            <a:avLst/>
            <a:gdLst/>
            <a:ah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8"/>
                  <a:pt x="1259" y="759"/>
                </a:cubicBezTo>
                <a:cubicBezTo>
                  <a:pt x="1255" y="779"/>
                  <a:pt x="1250" y="799"/>
                  <a:pt x="1244" y="819"/>
                </a:cubicBezTo>
                <a:cubicBezTo>
                  <a:pt x="1238" y="839"/>
                  <a:pt x="1231" y="859"/>
                  <a:pt x="1223" y="878"/>
                </a:cubicBezTo>
                <a:cubicBezTo>
                  <a:pt x="1215" y="897"/>
                  <a:pt x="1206" y="916"/>
                  <a:pt x="1197" y="934"/>
                </a:cubicBezTo>
                <a:cubicBezTo>
                  <a:pt x="1187" y="954"/>
                  <a:pt x="1176" y="971"/>
                  <a:pt x="1164" y="989"/>
                </a:cubicBezTo>
                <a:cubicBezTo>
                  <a:pt x="1153" y="1006"/>
                  <a:pt x="1141" y="1023"/>
                  <a:pt x="1127" y="1039"/>
                </a:cubicBezTo>
                <a:cubicBezTo>
                  <a:pt x="1114" y="1055"/>
                  <a:pt x="1100" y="1070"/>
                  <a:pt x="1086" y="1085"/>
                </a:cubicBezTo>
                <a:cubicBezTo>
                  <a:pt x="1071" y="1100"/>
                  <a:pt x="1055" y="1114"/>
                  <a:pt x="1039" y="1127"/>
                </a:cubicBezTo>
                <a:cubicBezTo>
                  <a:pt x="1023" y="1140"/>
                  <a:pt x="1007" y="1152"/>
                  <a:pt x="989" y="1164"/>
                </a:cubicBezTo>
                <a:cubicBezTo>
                  <a:pt x="972" y="1176"/>
                  <a:pt x="954" y="1186"/>
                  <a:pt x="936" y="1196"/>
                </a:cubicBezTo>
                <a:cubicBezTo>
                  <a:pt x="917" y="1206"/>
                  <a:pt x="899" y="1215"/>
                  <a:pt x="880" y="1223"/>
                </a:cubicBezTo>
                <a:cubicBezTo>
                  <a:pt x="860" y="1231"/>
                  <a:pt x="841" y="1238"/>
                  <a:pt x="821" y="1244"/>
                </a:cubicBezTo>
                <a:cubicBezTo>
                  <a:pt x="801" y="1250"/>
                  <a:pt x="781" y="1255"/>
                  <a:pt x="760" y="1259"/>
                </a:cubicBezTo>
                <a:cubicBezTo>
                  <a:pt x="740" y="1263"/>
                  <a:pt x="719" y="1266"/>
                  <a:pt x="699" y="1268"/>
                </a:cubicBezTo>
                <a:cubicBezTo>
                  <a:pt x="678" y="1270"/>
                  <a:pt x="657" y="1271"/>
                  <a:pt x="636" y="1271"/>
                </a:cubicBezTo>
                <a:cubicBezTo>
                  <a:pt x="615" y="1271"/>
                  <a:pt x="594" y="1270"/>
                  <a:pt x="573" y="1268"/>
                </a:cubicBezTo>
                <a:cubicBezTo>
                  <a:pt x="553" y="1266"/>
                  <a:pt x="532" y="1263"/>
                  <a:pt x="512" y="1259"/>
                </a:cubicBezTo>
                <a:cubicBezTo>
                  <a:pt x="491" y="1255"/>
                  <a:pt x="471" y="1250"/>
                  <a:pt x="451" y="1244"/>
                </a:cubicBezTo>
                <a:cubicBezTo>
                  <a:pt x="431" y="1238"/>
                  <a:pt x="412" y="1231"/>
                  <a:pt x="392" y="1223"/>
                </a:cubicBezTo>
                <a:cubicBezTo>
                  <a:pt x="373" y="1215"/>
                  <a:pt x="355" y="1206"/>
                  <a:pt x="336" y="1196"/>
                </a:cubicBezTo>
                <a:cubicBezTo>
                  <a:pt x="318" y="1186"/>
                  <a:pt x="300" y="1176"/>
                  <a:pt x="283" y="1164"/>
                </a:cubicBezTo>
                <a:cubicBezTo>
                  <a:pt x="265" y="1152"/>
                  <a:pt x="249" y="1140"/>
                  <a:pt x="233" y="1127"/>
                </a:cubicBezTo>
                <a:cubicBezTo>
                  <a:pt x="217" y="1114"/>
                  <a:pt x="201" y="1100"/>
                  <a:pt x="186" y="1085"/>
                </a:cubicBezTo>
                <a:cubicBezTo>
                  <a:pt x="172" y="1070"/>
                  <a:pt x="158" y="1055"/>
                  <a:pt x="145" y="1039"/>
                </a:cubicBezTo>
                <a:cubicBezTo>
                  <a:pt x="131" y="1023"/>
                  <a:pt x="119" y="1006"/>
                  <a:pt x="108" y="989"/>
                </a:cubicBezTo>
                <a:cubicBezTo>
                  <a:pt x="96" y="971"/>
                  <a:pt x="85" y="954"/>
                  <a:pt x="75" y="934"/>
                </a:cubicBezTo>
                <a:cubicBezTo>
                  <a:pt x="66" y="916"/>
                  <a:pt x="57" y="897"/>
                  <a:pt x="49" y="878"/>
                </a:cubicBezTo>
                <a:cubicBezTo>
                  <a:pt x="41" y="859"/>
                  <a:pt x="34" y="839"/>
                  <a:pt x="28" y="819"/>
                </a:cubicBezTo>
                <a:cubicBezTo>
                  <a:pt x="22" y="799"/>
                  <a:pt x="17" y="779"/>
                  <a:pt x="13" y="759"/>
                </a:cubicBezTo>
                <a:cubicBezTo>
                  <a:pt x="9" y="738"/>
                  <a:pt x="6" y="718"/>
                  <a:pt x="4" y="697"/>
                </a:cubicBezTo>
                <a:cubicBezTo>
                  <a:pt x="2" y="677"/>
                  <a:pt x="0" y="656"/>
                  <a:pt x="0" y="635"/>
                </a:cubicBezTo>
                <a:cubicBezTo>
                  <a:pt x="0" y="614"/>
                  <a:pt x="2" y="593"/>
                  <a:pt x="4" y="573"/>
                </a:cubicBezTo>
                <a:cubicBezTo>
                  <a:pt x="6" y="552"/>
                  <a:pt x="9" y="532"/>
                  <a:pt x="13" y="511"/>
                </a:cubicBezTo>
                <a:cubicBezTo>
                  <a:pt x="17" y="491"/>
                  <a:pt x="22" y="471"/>
                  <a:pt x="28" y="451"/>
                </a:cubicBezTo>
                <a:cubicBezTo>
                  <a:pt x="34" y="431"/>
                  <a:pt x="41" y="411"/>
                  <a:pt x="49" y="392"/>
                </a:cubicBezTo>
                <a:cubicBezTo>
                  <a:pt x="57" y="373"/>
                  <a:pt x="66" y="354"/>
                  <a:pt x="75" y="336"/>
                </a:cubicBezTo>
                <a:cubicBezTo>
                  <a:pt x="85" y="317"/>
                  <a:pt x="96" y="300"/>
                  <a:pt x="108" y="282"/>
                </a:cubicBezTo>
                <a:cubicBezTo>
                  <a:pt x="119" y="265"/>
                  <a:pt x="131" y="248"/>
                  <a:pt x="145" y="232"/>
                </a:cubicBezTo>
                <a:cubicBezTo>
                  <a:pt x="158" y="216"/>
                  <a:pt x="172" y="201"/>
                  <a:pt x="186" y="186"/>
                </a:cubicBezTo>
                <a:cubicBezTo>
                  <a:pt x="201" y="171"/>
                  <a:pt x="217" y="157"/>
                  <a:pt x="233" y="144"/>
                </a:cubicBezTo>
                <a:cubicBezTo>
                  <a:pt x="249" y="131"/>
                  <a:pt x="265" y="119"/>
                  <a:pt x="283" y="107"/>
                </a:cubicBezTo>
                <a:cubicBezTo>
                  <a:pt x="300" y="95"/>
                  <a:pt x="318" y="85"/>
                  <a:pt x="336" y="75"/>
                </a:cubicBezTo>
                <a:cubicBezTo>
                  <a:pt x="355" y="65"/>
                  <a:pt x="373" y="56"/>
                  <a:pt x="392" y="48"/>
                </a:cubicBezTo>
                <a:cubicBezTo>
                  <a:pt x="412" y="40"/>
                  <a:pt x="431" y="33"/>
                  <a:pt x="451" y="27"/>
                </a:cubicBezTo>
                <a:cubicBezTo>
                  <a:pt x="471" y="21"/>
                  <a:pt x="491" y="16"/>
                  <a:pt x="512" y="12"/>
                </a:cubicBezTo>
                <a:cubicBezTo>
                  <a:pt x="532" y="8"/>
                  <a:pt x="553" y="5"/>
                  <a:pt x="573" y="3"/>
                </a:cubicBezTo>
                <a:cubicBezTo>
                  <a:pt x="594" y="1"/>
                  <a:pt x="615" y="0"/>
                  <a:pt x="636" y="0"/>
                </a:cubicBezTo>
                <a:cubicBezTo>
                  <a:pt x="657" y="0"/>
                  <a:pt x="678" y="1"/>
                  <a:pt x="699" y="3"/>
                </a:cubicBezTo>
                <a:cubicBezTo>
                  <a:pt x="719" y="5"/>
                  <a:pt x="740" y="8"/>
                  <a:pt x="760" y="12"/>
                </a:cubicBezTo>
                <a:cubicBezTo>
                  <a:pt x="781" y="16"/>
                  <a:pt x="801" y="21"/>
                  <a:pt x="821" y="27"/>
                </a:cubicBezTo>
                <a:cubicBezTo>
                  <a:pt x="841" y="33"/>
                  <a:pt x="860" y="40"/>
                  <a:pt x="880" y="48"/>
                </a:cubicBezTo>
                <a:cubicBezTo>
                  <a:pt x="899" y="56"/>
                  <a:pt x="917" y="65"/>
                  <a:pt x="936" y="75"/>
                </a:cubicBezTo>
                <a:cubicBezTo>
                  <a:pt x="954" y="85"/>
                  <a:pt x="972" y="95"/>
                  <a:pt x="989" y="107"/>
                </a:cubicBezTo>
                <a:cubicBezTo>
                  <a:pt x="1007" y="119"/>
                  <a:pt x="1023" y="131"/>
                  <a:pt x="1039" y="144"/>
                </a:cubicBezTo>
                <a:cubicBezTo>
                  <a:pt x="1055" y="157"/>
                  <a:pt x="1071" y="171"/>
                  <a:pt x="1086" y="186"/>
                </a:cubicBezTo>
                <a:cubicBezTo>
                  <a:pt x="1100" y="201"/>
                  <a:pt x="1114" y="216"/>
                  <a:pt x="1127" y="232"/>
                </a:cubicBezTo>
                <a:cubicBezTo>
                  <a:pt x="1141" y="248"/>
                  <a:pt x="1153" y="265"/>
                  <a:pt x="1164" y="282"/>
                </a:cubicBezTo>
                <a:cubicBezTo>
                  <a:pt x="1176" y="300"/>
                  <a:pt x="1187" y="317"/>
                  <a:pt x="1197" y="336"/>
                </a:cubicBezTo>
                <a:cubicBezTo>
                  <a:pt x="1206" y="354"/>
                  <a:pt x="1215" y="373"/>
                  <a:pt x="1223" y="392"/>
                </a:cubicBezTo>
                <a:cubicBezTo>
                  <a:pt x="1231" y="411"/>
                  <a:pt x="1238" y="431"/>
                  <a:pt x="1244" y="451"/>
                </a:cubicBezTo>
                <a:cubicBezTo>
                  <a:pt x="1250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3"/>
                  <a:pt x="1271" y="614"/>
                  <a:pt x="1271" y="635"/>
                </a:cubicBezTo>
                <a:close/>
              </a:path>
            </a:pathLst>
          </a:custGeom>
          <a:solidFill>
            <a:srgbClr val="60a5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 txBox="1"/>
          <p:nvPr/>
        </p:nvSpPr>
        <p:spPr>
          <a:xfrm>
            <a:off x="553320" y="2294640"/>
            <a:ext cx="2653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ffffff"/>
                </a:solidFill>
                <a:effectLst>
                  <a:outerShdw blurRad="76200" dist="50800" dir="5400000" algn="tl" rotWithShape="0">
                    <a:prstClr val="black">
                      <a:alpha val="100000"/>
                    </a:prstClr>
                  </a:outerShdw>
                </a:effectLst>
                <a:uFillTx/>
                <a:latin typeface="Inter, sans-serif"/>
                <a:ea typeface="Inter, sans-serif"/>
              </a:rPr>
              <a:t>M1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 txBox="1"/>
          <p:nvPr/>
        </p:nvSpPr>
        <p:spPr>
          <a:xfrm>
            <a:off x="1143000" y="2241360"/>
            <a:ext cx="25653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M1 (harness ready，等远程GPU)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 txBox="1"/>
          <p:nvPr/>
        </p:nvSpPr>
        <p:spPr>
          <a:xfrm>
            <a:off x="1143000" y="2535120"/>
            <a:ext cx="54254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漂移注入协议+测vanilla FineMoE预取精度/命中率随漂移塌陷；证δ对冲失效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456840" y="2971440"/>
            <a:ext cx="457560" cy="457560"/>
          </a:xfrm>
          <a:custGeom>
            <a:avLst/>
            <a:gdLst/>
            <a:ah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8"/>
                </a:cubicBezTo>
                <a:cubicBezTo>
                  <a:pt x="1266" y="718"/>
                  <a:pt x="1263" y="739"/>
                  <a:pt x="1259" y="759"/>
                </a:cubicBezTo>
                <a:cubicBezTo>
                  <a:pt x="1255" y="780"/>
                  <a:pt x="1250" y="800"/>
                  <a:pt x="1244" y="820"/>
                </a:cubicBezTo>
                <a:cubicBezTo>
                  <a:pt x="1238" y="840"/>
                  <a:pt x="1231" y="859"/>
                  <a:pt x="1223" y="879"/>
                </a:cubicBezTo>
                <a:cubicBezTo>
                  <a:pt x="1215" y="898"/>
                  <a:pt x="1206" y="916"/>
                  <a:pt x="1197" y="935"/>
                </a:cubicBezTo>
                <a:cubicBezTo>
                  <a:pt x="1187" y="953"/>
                  <a:pt x="1176" y="971"/>
                  <a:pt x="1164" y="988"/>
                </a:cubicBezTo>
                <a:cubicBezTo>
                  <a:pt x="1153" y="1006"/>
                  <a:pt x="1141" y="1022"/>
                  <a:pt x="1127" y="1038"/>
                </a:cubicBezTo>
                <a:cubicBezTo>
                  <a:pt x="1114" y="1054"/>
                  <a:pt x="1100" y="1070"/>
                  <a:pt x="1086" y="1085"/>
                </a:cubicBezTo>
                <a:cubicBezTo>
                  <a:pt x="1071" y="1099"/>
                  <a:pt x="1055" y="1113"/>
                  <a:pt x="1039" y="1126"/>
                </a:cubicBezTo>
                <a:cubicBezTo>
                  <a:pt x="1023" y="1140"/>
                  <a:pt x="1007" y="1152"/>
                  <a:pt x="989" y="1163"/>
                </a:cubicBezTo>
                <a:cubicBezTo>
                  <a:pt x="972" y="1175"/>
                  <a:pt x="954" y="1186"/>
                  <a:pt x="936" y="1196"/>
                </a:cubicBezTo>
                <a:cubicBezTo>
                  <a:pt x="917" y="1205"/>
                  <a:pt x="899" y="1214"/>
                  <a:pt x="880" y="1222"/>
                </a:cubicBezTo>
                <a:cubicBezTo>
                  <a:pt x="860" y="1230"/>
                  <a:pt x="841" y="1237"/>
                  <a:pt x="821" y="1243"/>
                </a:cubicBezTo>
                <a:cubicBezTo>
                  <a:pt x="801" y="1249"/>
                  <a:pt x="781" y="1254"/>
                  <a:pt x="760" y="1258"/>
                </a:cubicBezTo>
                <a:cubicBezTo>
                  <a:pt x="740" y="1262"/>
                  <a:pt x="719" y="1266"/>
                  <a:pt x="699" y="1268"/>
                </a:cubicBezTo>
                <a:cubicBezTo>
                  <a:pt x="678" y="1270"/>
                  <a:pt x="657" y="1271"/>
                  <a:pt x="636" y="1271"/>
                </a:cubicBezTo>
                <a:cubicBezTo>
                  <a:pt x="615" y="1271"/>
                  <a:pt x="594" y="1270"/>
                  <a:pt x="573" y="1268"/>
                </a:cubicBezTo>
                <a:cubicBezTo>
                  <a:pt x="553" y="1266"/>
                  <a:pt x="532" y="1262"/>
                  <a:pt x="512" y="1258"/>
                </a:cubicBezTo>
                <a:cubicBezTo>
                  <a:pt x="491" y="1254"/>
                  <a:pt x="471" y="1249"/>
                  <a:pt x="451" y="1243"/>
                </a:cubicBezTo>
                <a:cubicBezTo>
                  <a:pt x="431" y="1237"/>
                  <a:pt x="412" y="1230"/>
                  <a:pt x="392" y="1222"/>
                </a:cubicBezTo>
                <a:cubicBezTo>
                  <a:pt x="373" y="1214"/>
                  <a:pt x="355" y="1205"/>
                  <a:pt x="336" y="1196"/>
                </a:cubicBezTo>
                <a:cubicBezTo>
                  <a:pt x="318" y="1186"/>
                  <a:pt x="300" y="1175"/>
                  <a:pt x="283" y="1163"/>
                </a:cubicBezTo>
                <a:cubicBezTo>
                  <a:pt x="265" y="1152"/>
                  <a:pt x="249" y="1140"/>
                  <a:pt x="233" y="1126"/>
                </a:cubicBezTo>
                <a:cubicBezTo>
                  <a:pt x="217" y="1113"/>
                  <a:pt x="201" y="1099"/>
                  <a:pt x="186" y="1085"/>
                </a:cubicBezTo>
                <a:cubicBezTo>
                  <a:pt x="172" y="1070"/>
                  <a:pt x="158" y="1054"/>
                  <a:pt x="145" y="1038"/>
                </a:cubicBezTo>
                <a:cubicBezTo>
                  <a:pt x="131" y="1022"/>
                  <a:pt x="119" y="1006"/>
                  <a:pt x="108" y="988"/>
                </a:cubicBezTo>
                <a:cubicBezTo>
                  <a:pt x="96" y="971"/>
                  <a:pt x="85" y="953"/>
                  <a:pt x="75" y="935"/>
                </a:cubicBezTo>
                <a:cubicBezTo>
                  <a:pt x="66" y="916"/>
                  <a:pt x="57" y="898"/>
                  <a:pt x="49" y="879"/>
                </a:cubicBezTo>
                <a:cubicBezTo>
                  <a:pt x="41" y="859"/>
                  <a:pt x="34" y="840"/>
                  <a:pt x="28" y="820"/>
                </a:cubicBezTo>
                <a:cubicBezTo>
                  <a:pt x="22" y="800"/>
                  <a:pt x="17" y="780"/>
                  <a:pt x="13" y="759"/>
                </a:cubicBezTo>
                <a:cubicBezTo>
                  <a:pt x="9" y="739"/>
                  <a:pt x="6" y="718"/>
                  <a:pt x="4" y="698"/>
                </a:cubicBezTo>
                <a:cubicBezTo>
                  <a:pt x="2" y="677"/>
                  <a:pt x="0" y="656"/>
                  <a:pt x="0" y="635"/>
                </a:cubicBezTo>
                <a:cubicBezTo>
                  <a:pt x="0" y="615"/>
                  <a:pt x="2" y="594"/>
                  <a:pt x="4" y="573"/>
                </a:cubicBezTo>
                <a:cubicBezTo>
                  <a:pt x="6" y="553"/>
                  <a:pt x="9" y="532"/>
                  <a:pt x="13" y="512"/>
                </a:cubicBezTo>
                <a:cubicBezTo>
                  <a:pt x="17" y="491"/>
                  <a:pt x="22" y="471"/>
                  <a:pt x="28" y="451"/>
                </a:cubicBezTo>
                <a:cubicBezTo>
                  <a:pt x="34" y="431"/>
                  <a:pt x="41" y="412"/>
                  <a:pt x="49" y="392"/>
                </a:cubicBezTo>
                <a:cubicBezTo>
                  <a:pt x="57" y="373"/>
                  <a:pt x="66" y="355"/>
                  <a:pt x="75" y="336"/>
                </a:cubicBezTo>
                <a:cubicBezTo>
                  <a:pt x="85" y="318"/>
                  <a:pt x="96" y="300"/>
                  <a:pt x="108" y="283"/>
                </a:cubicBezTo>
                <a:cubicBezTo>
                  <a:pt x="119" y="265"/>
                  <a:pt x="131" y="249"/>
                  <a:pt x="145" y="233"/>
                </a:cubicBezTo>
                <a:cubicBezTo>
                  <a:pt x="158" y="217"/>
                  <a:pt x="172" y="201"/>
                  <a:pt x="186" y="186"/>
                </a:cubicBezTo>
                <a:cubicBezTo>
                  <a:pt x="201" y="172"/>
                  <a:pt x="217" y="158"/>
                  <a:pt x="233" y="145"/>
                </a:cubicBezTo>
                <a:cubicBezTo>
                  <a:pt x="249" y="131"/>
                  <a:pt x="265" y="119"/>
                  <a:pt x="283" y="108"/>
                </a:cubicBezTo>
                <a:cubicBezTo>
                  <a:pt x="300" y="96"/>
                  <a:pt x="318" y="85"/>
                  <a:pt x="336" y="75"/>
                </a:cubicBezTo>
                <a:cubicBezTo>
                  <a:pt x="355" y="66"/>
                  <a:pt x="373" y="57"/>
                  <a:pt x="392" y="49"/>
                </a:cubicBezTo>
                <a:cubicBezTo>
                  <a:pt x="412" y="41"/>
                  <a:pt x="431" y="34"/>
                  <a:pt x="451" y="28"/>
                </a:cubicBezTo>
                <a:cubicBezTo>
                  <a:pt x="471" y="22"/>
                  <a:pt x="491" y="17"/>
                  <a:pt x="512" y="13"/>
                </a:cubicBezTo>
                <a:cubicBezTo>
                  <a:pt x="532" y="9"/>
                  <a:pt x="553" y="6"/>
                  <a:pt x="573" y="4"/>
                </a:cubicBezTo>
                <a:cubicBezTo>
                  <a:pt x="594" y="2"/>
                  <a:pt x="615" y="0"/>
                  <a:pt x="636" y="0"/>
                </a:cubicBezTo>
                <a:cubicBezTo>
                  <a:pt x="657" y="0"/>
                  <a:pt x="678" y="2"/>
                  <a:pt x="699" y="4"/>
                </a:cubicBezTo>
                <a:cubicBezTo>
                  <a:pt x="719" y="6"/>
                  <a:pt x="740" y="9"/>
                  <a:pt x="760" y="13"/>
                </a:cubicBezTo>
                <a:cubicBezTo>
                  <a:pt x="781" y="17"/>
                  <a:pt x="801" y="22"/>
                  <a:pt x="821" y="28"/>
                </a:cubicBezTo>
                <a:cubicBezTo>
                  <a:pt x="841" y="34"/>
                  <a:pt x="860" y="41"/>
                  <a:pt x="880" y="49"/>
                </a:cubicBezTo>
                <a:cubicBezTo>
                  <a:pt x="899" y="57"/>
                  <a:pt x="917" y="66"/>
                  <a:pt x="936" y="75"/>
                </a:cubicBezTo>
                <a:cubicBezTo>
                  <a:pt x="954" y="85"/>
                  <a:pt x="972" y="96"/>
                  <a:pt x="989" y="108"/>
                </a:cubicBezTo>
                <a:cubicBezTo>
                  <a:pt x="1007" y="119"/>
                  <a:pt x="1023" y="131"/>
                  <a:pt x="1039" y="145"/>
                </a:cubicBezTo>
                <a:cubicBezTo>
                  <a:pt x="1055" y="158"/>
                  <a:pt x="1071" y="172"/>
                  <a:pt x="1086" y="186"/>
                </a:cubicBezTo>
                <a:cubicBezTo>
                  <a:pt x="1100" y="201"/>
                  <a:pt x="1114" y="217"/>
                  <a:pt x="1127" y="233"/>
                </a:cubicBezTo>
                <a:cubicBezTo>
                  <a:pt x="1141" y="249"/>
                  <a:pt x="1153" y="265"/>
                  <a:pt x="1164" y="283"/>
                </a:cubicBezTo>
                <a:cubicBezTo>
                  <a:pt x="1176" y="300"/>
                  <a:pt x="1187" y="318"/>
                  <a:pt x="1197" y="336"/>
                </a:cubicBezTo>
                <a:cubicBezTo>
                  <a:pt x="1206" y="355"/>
                  <a:pt x="1215" y="373"/>
                  <a:pt x="1223" y="392"/>
                </a:cubicBezTo>
                <a:cubicBezTo>
                  <a:pt x="1231" y="412"/>
                  <a:pt x="1238" y="431"/>
                  <a:pt x="1244" y="451"/>
                </a:cubicBezTo>
                <a:cubicBezTo>
                  <a:pt x="1250" y="471"/>
                  <a:pt x="1255" y="491"/>
                  <a:pt x="1259" y="512"/>
                </a:cubicBezTo>
                <a:cubicBezTo>
                  <a:pt x="1263" y="532"/>
                  <a:pt x="1266" y="553"/>
                  <a:pt x="1268" y="573"/>
                </a:cubicBezTo>
                <a:cubicBezTo>
                  <a:pt x="1270" y="594"/>
                  <a:pt x="1271" y="615"/>
                  <a:pt x="1271" y="63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"/>
          <p:cNvSpPr txBox="1"/>
          <p:nvPr/>
        </p:nvSpPr>
        <p:spPr>
          <a:xfrm>
            <a:off x="553320" y="3094560"/>
            <a:ext cx="2653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3b82f6"/>
                </a:solidFill>
                <a:effectLst>
                  <a:outerShdw blurRad="76200" dist="50800" dir="5400000" algn="tl" rotWithShape="0">
                    <a:prstClr val="black">
                      <a:alpha val="100000"/>
                    </a:prstClr>
                  </a:outerShdw>
                </a:effectLst>
                <a:uFillTx/>
                <a:latin typeface="Inter, sans-serif"/>
                <a:ea typeface="Inter, sans-serif"/>
              </a:rPr>
              <a:t>M2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"/>
          <p:cNvSpPr txBox="1"/>
          <p:nvPr/>
        </p:nvSpPr>
        <p:spPr>
          <a:xfrm>
            <a:off x="1143000" y="3041280"/>
            <a:ext cx="918113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M2 (待实现)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"/>
          <p:cNvSpPr txBox="1"/>
          <p:nvPr/>
        </p:nvSpPr>
        <p:spPr>
          <a:xfrm>
            <a:off x="1143000" y="3335040"/>
            <a:ext cx="5368671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DAC三控制点实现+ trace级消融矩阵（5配置：FineMoE / DAC-1only / DAC-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9" name=""/>
          <p:cNvSpPr txBox="1"/>
          <p:nvPr/>
        </p:nvSpPr>
        <p:spPr>
          <a:xfrm>
            <a:off x="1143000" y="3563640"/>
            <a:ext cx="3184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2only / DAC-12 / DAC-full+分布内不劣验证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0" name=""/>
          <p:cNvSpPr txBox="1"/>
          <p:nvPr/>
        </p:nvSpPr>
        <p:spPr>
          <a:xfrm>
            <a:off x="2870640" y="35636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）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456840" y="4000320"/>
            <a:ext cx="457560" cy="457560"/>
          </a:xfrm>
          <a:custGeom>
            <a:avLst/>
            <a:gdLst/>
            <a:ah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8"/>
                  <a:pt x="1259" y="759"/>
                </a:cubicBezTo>
                <a:cubicBezTo>
                  <a:pt x="1255" y="779"/>
                  <a:pt x="1250" y="799"/>
                  <a:pt x="1244" y="819"/>
                </a:cubicBezTo>
                <a:cubicBezTo>
                  <a:pt x="1238" y="839"/>
                  <a:pt x="1231" y="859"/>
                  <a:pt x="1223" y="878"/>
                </a:cubicBezTo>
                <a:cubicBezTo>
                  <a:pt x="1215" y="897"/>
                  <a:pt x="1206" y="916"/>
                  <a:pt x="1197" y="934"/>
                </a:cubicBezTo>
                <a:cubicBezTo>
                  <a:pt x="1187" y="954"/>
                  <a:pt x="1176" y="971"/>
                  <a:pt x="1164" y="989"/>
                </a:cubicBezTo>
                <a:cubicBezTo>
                  <a:pt x="1153" y="1006"/>
                  <a:pt x="1141" y="1023"/>
                  <a:pt x="1127" y="1039"/>
                </a:cubicBezTo>
                <a:cubicBezTo>
                  <a:pt x="1114" y="1055"/>
                  <a:pt x="1100" y="1070"/>
                  <a:pt x="1086" y="1085"/>
                </a:cubicBezTo>
                <a:cubicBezTo>
                  <a:pt x="1071" y="1100"/>
                  <a:pt x="1055" y="1114"/>
                  <a:pt x="1039" y="1127"/>
                </a:cubicBezTo>
                <a:cubicBezTo>
                  <a:pt x="1023" y="1140"/>
                  <a:pt x="1007" y="1152"/>
                  <a:pt x="989" y="1164"/>
                </a:cubicBezTo>
                <a:cubicBezTo>
                  <a:pt x="972" y="1176"/>
                  <a:pt x="954" y="1186"/>
                  <a:pt x="936" y="1196"/>
                </a:cubicBezTo>
                <a:cubicBezTo>
                  <a:pt x="917" y="1206"/>
                  <a:pt x="899" y="1215"/>
                  <a:pt x="880" y="1223"/>
                </a:cubicBezTo>
                <a:cubicBezTo>
                  <a:pt x="860" y="1231"/>
                  <a:pt x="841" y="1238"/>
                  <a:pt x="821" y="1244"/>
                </a:cubicBezTo>
                <a:cubicBezTo>
                  <a:pt x="801" y="1250"/>
                  <a:pt x="781" y="1255"/>
                  <a:pt x="760" y="1259"/>
                </a:cubicBezTo>
                <a:cubicBezTo>
                  <a:pt x="740" y="1263"/>
                  <a:pt x="719" y="1266"/>
                  <a:pt x="699" y="1268"/>
                </a:cubicBezTo>
                <a:cubicBezTo>
                  <a:pt x="678" y="1270"/>
                  <a:pt x="657" y="1271"/>
                  <a:pt x="636" y="1271"/>
                </a:cubicBezTo>
                <a:cubicBezTo>
                  <a:pt x="615" y="1271"/>
                  <a:pt x="594" y="1270"/>
                  <a:pt x="573" y="1268"/>
                </a:cubicBezTo>
                <a:cubicBezTo>
                  <a:pt x="553" y="1266"/>
                  <a:pt x="532" y="1263"/>
                  <a:pt x="512" y="1259"/>
                </a:cubicBezTo>
                <a:cubicBezTo>
                  <a:pt x="491" y="1255"/>
                  <a:pt x="471" y="1250"/>
                  <a:pt x="451" y="1244"/>
                </a:cubicBezTo>
                <a:cubicBezTo>
                  <a:pt x="431" y="1238"/>
                  <a:pt x="412" y="1231"/>
                  <a:pt x="392" y="1223"/>
                </a:cubicBezTo>
                <a:cubicBezTo>
                  <a:pt x="373" y="1215"/>
                  <a:pt x="355" y="1206"/>
                  <a:pt x="336" y="1196"/>
                </a:cubicBezTo>
                <a:cubicBezTo>
                  <a:pt x="318" y="1186"/>
                  <a:pt x="300" y="1176"/>
                  <a:pt x="283" y="1164"/>
                </a:cubicBezTo>
                <a:cubicBezTo>
                  <a:pt x="265" y="1152"/>
                  <a:pt x="249" y="1140"/>
                  <a:pt x="233" y="1127"/>
                </a:cubicBezTo>
                <a:cubicBezTo>
                  <a:pt x="217" y="1114"/>
                  <a:pt x="201" y="1100"/>
                  <a:pt x="186" y="1085"/>
                </a:cubicBezTo>
                <a:cubicBezTo>
                  <a:pt x="172" y="1070"/>
                  <a:pt x="158" y="1055"/>
                  <a:pt x="145" y="1039"/>
                </a:cubicBezTo>
                <a:cubicBezTo>
                  <a:pt x="131" y="1023"/>
                  <a:pt x="119" y="1006"/>
                  <a:pt x="108" y="989"/>
                </a:cubicBezTo>
                <a:cubicBezTo>
                  <a:pt x="96" y="971"/>
                  <a:pt x="85" y="954"/>
                  <a:pt x="75" y="934"/>
                </a:cubicBezTo>
                <a:cubicBezTo>
                  <a:pt x="66" y="916"/>
                  <a:pt x="57" y="897"/>
                  <a:pt x="49" y="878"/>
                </a:cubicBezTo>
                <a:cubicBezTo>
                  <a:pt x="41" y="859"/>
                  <a:pt x="34" y="839"/>
                  <a:pt x="28" y="819"/>
                </a:cubicBezTo>
                <a:cubicBezTo>
                  <a:pt x="22" y="799"/>
                  <a:pt x="17" y="779"/>
                  <a:pt x="13" y="759"/>
                </a:cubicBezTo>
                <a:cubicBezTo>
                  <a:pt x="9" y="738"/>
                  <a:pt x="6" y="718"/>
                  <a:pt x="4" y="697"/>
                </a:cubicBezTo>
                <a:cubicBezTo>
                  <a:pt x="2" y="677"/>
                  <a:pt x="0" y="656"/>
                  <a:pt x="0" y="635"/>
                </a:cubicBezTo>
                <a:cubicBezTo>
                  <a:pt x="0" y="614"/>
                  <a:pt x="2" y="593"/>
                  <a:pt x="4" y="573"/>
                </a:cubicBezTo>
                <a:cubicBezTo>
                  <a:pt x="6" y="552"/>
                  <a:pt x="9" y="532"/>
                  <a:pt x="13" y="511"/>
                </a:cubicBezTo>
                <a:cubicBezTo>
                  <a:pt x="17" y="491"/>
                  <a:pt x="22" y="471"/>
                  <a:pt x="28" y="451"/>
                </a:cubicBezTo>
                <a:cubicBezTo>
                  <a:pt x="34" y="431"/>
                  <a:pt x="41" y="411"/>
                  <a:pt x="49" y="392"/>
                </a:cubicBezTo>
                <a:cubicBezTo>
                  <a:pt x="57" y="373"/>
                  <a:pt x="66" y="354"/>
                  <a:pt x="75" y="336"/>
                </a:cubicBezTo>
                <a:cubicBezTo>
                  <a:pt x="85" y="317"/>
                  <a:pt x="96" y="300"/>
                  <a:pt x="108" y="282"/>
                </a:cubicBezTo>
                <a:cubicBezTo>
                  <a:pt x="119" y="265"/>
                  <a:pt x="131" y="248"/>
                  <a:pt x="145" y="232"/>
                </a:cubicBezTo>
                <a:cubicBezTo>
                  <a:pt x="158" y="216"/>
                  <a:pt x="172" y="201"/>
                  <a:pt x="186" y="186"/>
                </a:cubicBezTo>
                <a:cubicBezTo>
                  <a:pt x="201" y="171"/>
                  <a:pt x="217" y="157"/>
                  <a:pt x="233" y="144"/>
                </a:cubicBezTo>
                <a:cubicBezTo>
                  <a:pt x="249" y="131"/>
                  <a:pt x="265" y="119"/>
                  <a:pt x="283" y="107"/>
                </a:cubicBezTo>
                <a:cubicBezTo>
                  <a:pt x="300" y="95"/>
                  <a:pt x="318" y="85"/>
                  <a:pt x="336" y="75"/>
                </a:cubicBezTo>
                <a:cubicBezTo>
                  <a:pt x="355" y="65"/>
                  <a:pt x="373" y="56"/>
                  <a:pt x="392" y="48"/>
                </a:cubicBezTo>
                <a:cubicBezTo>
                  <a:pt x="412" y="40"/>
                  <a:pt x="431" y="33"/>
                  <a:pt x="451" y="27"/>
                </a:cubicBezTo>
                <a:cubicBezTo>
                  <a:pt x="471" y="21"/>
                  <a:pt x="491" y="16"/>
                  <a:pt x="512" y="12"/>
                </a:cubicBezTo>
                <a:cubicBezTo>
                  <a:pt x="532" y="8"/>
                  <a:pt x="553" y="5"/>
                  <a:pt x="573" y="3"/>
                </a:cubicBezTo>
                <a:cubicBezTo>
                  <a:pt x="594" y="1"/>
                  <a:pt x="615" y="0"/>
                  <a:pt x="636" y="0"/>
                </a:cubicBezTo>
                <a:cubicBezTo>
                  <a:pt x="657" y="0"/>
                  <a:pt x="678" y="1"/>
                  <a:pt x="699" y="3"/>
                </a:cubicBezTo>
                <a:cubicBezTo>
                  <a:pt x="719" y="5"/>
                  <a:pt x="740" y="8"/>
                  <a:pt x="760" y="12"/>
                </a:cubicBezTo>
                <a:cubicBezTo>
                  <a:pt x="781" y="16"/>
                  <a:pt x="801" y="21"/>
                  <a:pt x="821" y="27"/>
                </a:cubicBezTo>
                <a:cubicBezTo>
                  <a:pt x="841" y="33"/>
                  <a:pt x="860" y="40"/>
                  <a:pt x="880" y="48"/>
                </a:cubicBezTo>
                <a:cubicBezTo>
                  <a:pt x="899" y="56"/>
                  <a:pt x="917" y="65"/>
                  <a:pt x="936" y="75"/>
                </a:cubicBezTo>
                <a:cubicBezTo>
                  <a:pt x="954" y="85"/>
                  <a:pt x="972" y="95"/>
                  <a:pt x="989" y="107"/>
                </a:cubicBezTo>
                <a:cubicBezTo>
                  <a:pt x="1007" y="119"/>
                  <a:pt x="1023" y="131"/>
                  <a:pt x="1039" y="144"/>
                </a:cubicBezTo>
                <a:cubicBezTo>
                  <a:pt x="1055" y="157"/>
                  <a:pt x="1071" y="171"/>
                  <a:pt x="1086" y="186"/>
                </a:cubicBezTo>
                <a:cubicBezTo>
                  <a:pt x="1100" y="201"/>
                  <a:pt x="1114" y="216"/>
                  <a:pt x="1127" y="232"/>
                </a:cubicBezTo>
                <a:cubicBezTo>
                  <a:pt x="1141" y="248"/>
                  <a:pt x="1153" y="265"/>
                  <a:pt x="1164" y="282"/>
                </a:cubicBezTo>
                <a:cubicBezTo>
                  <a:pt x="1176" y="300"/>
                  <a:pt x="1187" y="317"/>
                  <a:pt x="1197" y="336"/>
                </a:cubicBezTo>
                <a:cubicBezTo>
                  <a:pt x="1206" y="354"/>
                  <a:pt x="1215" y="373"/>
                  <a:pt x="1223" y="392"/>
                </a:cubicBezTo>
                <a:cubicBezTo>
                  <a:pt x="1231" y="411"/>
                  <a:pt x="1238" y="431"/>
                  <a:pt x="1244" y="451"/>
                </a:cubicBezTo>
                <a:cubicBezTo>
                  <a:pt x="1250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3"/>
                  <a:pt x="1271" y="614"/>
                  <a:pt x="1271" y="635"/>
                </a:cubicBezTo>
                <a:close/>
              </a:path>
            </a:pathLst>
          </a:custGeom>
          <a:solidFill>
            <a:srgbClr val="d1d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 txBox="1"/>
          <p:nvPr/>
        </p:nvSpPr>
        <p:spPr>
          <a:xfrm>
            <a:off x="553320" y="4123440"/>
            <a:ext cx="2653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4b5563"/>
                </a:solidFill>
                <a:effectLst>
                  <a:outerShdw blurRad="76200" dist="50800" dir="5400000" algn="tl" rotWithShape="0">
                    <a:prstClr val="black">
                      <a:alpha val="100000"/>
                    </a:prstClr>
                  </a:outerShdw>
                </a:effectLst>
                <a:uFillTx/>
                <a:latin typeface="Inter, sans-serif"/>
                <a:ea typeface="Inter, sans-serif"/>
              </a:rPr>
              <a:t>M3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 txBox="1"/>
          <p:nvPr/>
        </p:nvSpPr>
        <p:spPr>
          <a:xfrm>
            <a:off x="1143000" y="4070160"/>
            <a:ext cx="738091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M3 (后续)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"/>
          <p:cNvSpPr txBox="1"/>
          <p:nvPr/>
        </p:nvSpPr>
        <p:spPr>
          <a:xfrm>
            <a:off x="1143000" y="4363920"/>
            <a:ext cx="494461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真机集成（FineMoE仓库+ SSD层+ top-1模型接入）+端到端延迟主结果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461880" y="5186160"/>
            <a:ext cx="11268360" cy="1095840"/>
          </a:xfrm>
          <a:custGeom>
            <a:avLst/>
            <a:gdLst/>
            <a:ahLst/>
            <a:rect l="0" t="0" r="r" b="b"/>
            <a:pathLst>
              <a:path w="31301" h="3044">
                <a:moveTo>
                  <a:pt x="0" y="2845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4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1"/>
                  <a:pt x="31286" y="123"/>
                </a:cubicBezTo>
                <a:cubicBezTo>
                  <a:pt x="31291" y="135"/>
                  <a:pt x="31295" y="147"/>
                  <a:pt x="31297" y="160"/>
                </a:cubicBezTo>
                <a:cubicBezTo>
                  <a:pt x="31300" y="173"/>
                  <a:pt x="31301" y="185"/>
                  <a:pt x="31301" y="198"/>
                </a:cubicBezTo>
                <a:lnTo>
                  <a:pt x="31301" y="2845"/>
                </a:lnTo>
                <a:cubicBezTo>
                  <a:pt x="31301" y="2858"/>
                  <a:pt x="31300" y="2871"/>
                  <a:pt x="31297" y="2884"/>
                </a:cubicBezTo>
                <a:cubicBezTo>
                  <a:pt x="31295" y="2897"/>
                  <a:pt x="31291" y="2909"/>
                  <a:pt x="31286" y="2921"/>
                </a:cubicBezTo>
                <a:cubicBezTo>
                  <a:pt x="31281" y="2933"/>
                  <a:pt x="31275" y="2945"/>
                  <a:pt x="31267" y="2956"/>
                </a:cubicBezTo>
                <a:cubicBezTo>
                  <a:pt x="31260" y="2966"/>
                  <a:pt x="31252" y="2976"/>
                  <a:pt x="31243" y="2986"/>
                </a:cubicBezTo>
                <a:cubicBezTo>
                  <a:pt x="31234" y="2995"/>
                  <a:pt x="31224" y="3003"/>
                  <a:pt x="31213" y="3010"/>
                </a:cubicBezTo>
                <a:cubicBezTo>
                  <a:pt x="31202" y="3018"/>
                  <a:pt x="31190" y="3024"/>
                  <a:pt x="31178" y="3029"/>
                </a:cubicBezTo>
                <a:cubicBezTo>
                  <a:pt x="31166" y="3034"/>
                  <a:pt x="31154" y="3037"/>
                  <a:pt x="31141" y="3040"/>
                </a:cubicBezTo>
                <a:cubicBezTo>
                  <a:pt x="31128" y="3042"/>
                  <a:pt x="31116" y="3044"/>
                  <a:pt x="31102" y="3044"/>
                </a:cubicBezTo>
                <a:lnTo>
                  <a:pt x="198" y="3044"/>
                </a:lnTo>
                <a:cubicBezTo>
                  <a:pt x="185" y="3044"/>
                  <a:pt x="172" y="3042"/>
                  <a:pt x="159" y="3040"/>
                </a:cubicBezTo>
                <a:cubicBezTo>
                  <a:pt x="147" y="3037"/>
                  <a:pt x="134" y="3034"/>
                  <a:pt x="122" y="3029"/>
                </a:cubicBezTo>
                <a:cubicBezTo>
                  <a:pt x="110" y="3024"/>
                  <a:pt x="99" y="3018"/>
                  <a:pt x="88" y="3010"/>
                </a:cubicBezTo>
                <a:cubicBezTo>
                  <a:pt x="77" y="3003"/>
                  <a:pt x="67" y="2995"/>
                  <a:pt x="58" y="2986"/>
                </a:cubicBezTo>
                <a:cubicBezTo>
                  <a:pt x="49" y="2976"/>
                  <a:pt x="40" y="2966"/>
                  <a:pt x="33" y="2956"/>
                </a:cubicBezTo>
                <a:cubicBezTo>
                  <a:pt x="26" y="2945"/>
                  <a:pt x="20" y="2933"/>
                  <a:pt x="15" y="2921"/>
                </a:cubicBezTo>
                <a:cubicBezTo>
                  <a:pt x="10" y="2909"/>
                  <a:pt x="6" y="2897"/>
                  <a:pt x="4" y="2884"/>
                </a:cubicBezTo>
                <a:cubicBezTo>
                  <a:pt x="1" y="2871"/>
                  <a:pt x="0" y="2858"/>
                  <a:pt x="0" y="2845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461880" y="5186160"/>
            <a:ext cx="11268360" cy="1095840"/>
          </a:xfrm>
          <a:custGeom>
            <a:avLst/>
            <a:gdLst/>
            <a:ahLst/>
            <a:rect l="0" t="0" r="r" b="b"/>
            <a:pathLst>
              <a:path fill="none" w="31301" h="3044">
                <a:moveTo>
                  <a:pt x="0" y="2845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31102" y="0"/>
                </a:lnTo>
                <a:cubicBezTo>
                  <a:pt x="31116" y="0"/>
                  <a:pt x="31128" y="1"/>
                  <a:pt x="31141" y="4"/>
                </a:cubicBezTo>
                <a:cubicBezTo>
                  <a:pt x="31154" y="6"/>
                  <a:pt x="31166" y="10"/>
                  <a:pt x="31178" y="15"/>
                </a:cubicBezTo>
                <a:cubicBezTo>
                  <a:pt x="31190" y="20"/>
                  <a:pt x="31202" y="26"/>
                  <a:pt x="31213" y="34"/>
                </a:cubicBezTo>
                <a:cubicBezTo>
                  <a:pt x="31224" y="41"/>
                  <a:pt x="31234" y="49"/>
                  <a:pt x="31243" y="58"/>
                </a:cubicBezTo>
                <a:cubicBezTo>
                  <a:pt x="31252" y="67"/>
                  <a:pt x="31260" y="77"/>
                  <a:pt x="31267" y="88"/>
                </a:cubicBezTo>
                <a:cubicBezTo>
                  <a:pt x="31275" y="99"/>
                  <a:pt x="31281" y="111"/>
                  <a:pt x="31286" y="123"/>
                </a:cubicBezTo>
                <a:cubicBezTo>
                  <a:pt x="31291" y="135"/>
                  <a:pt x="31295" y="147"/>
                  <a:pt x="31297" y="160"/>
                </a:cubicBezTo>
                <a:cubicBezTo>
                  <a:pt x="31300" y="173"/>
                  <a:pt x="31301" y="185"/>
                  <a:pt x="31301" y="198"/>
                </a:cubicBezTo>
                <a:lnTo>
                  <a:pt x="31301" y="2845"/>
                </a:lnTo>
                <a:cubicBezTo>
                  <a:pt x="31301" y="2858"/>
                  <a:pt x="31300" y="2871"/>
                  <a:pt x="31297" y="2884"/>
                </a:cubicBezTo>
                <a:cubicBezTo>
                  <a:pt x="31295" y="2897"/>
                  <a:pt x="31291" y="2909"/>
                  <a:pt x="31286" y="2921"/>
                </a:cubicBezTo>
                <a:cubicBezTo>
                  <a:pt x="31281" y="2933"/>
                  <a:pt x="31275" y="2945"/>
                  <a:pt x="31267" y="2956"/>
                </a:cubicBezTo>
                <a:cubicBezTo>
                  <a:pt x="31260" y="2966"/>
                  <a:pt x="31252" y="2976"/>
                  <a:pt x="31243" y="2986"/>
                </a:cubicBezTo>
                <a:cubicBezTo>
                  <a:pt x="31234" y="2995"/>
                  <a:pt x="31224" y="3003"/>
                  <a:pt x="31213" y="3010"/>
                </a:cubicBezTo>
                <a:cubicBezTo>
                  <a:pt x="31202" y="3018"/>
                  <a:pt x="31190" y="3024"/>
                  <a:pt x="31178" y="3029"/>
                </a:cubicBezTo>
                <a:cubicBezTo>
                  <a:pt x="31166" y="3034"/>
                  <a:pt x="31154" y="3037"/>
                  <a:pt x="31141" y="3040"/>
                </a:cubicBezTo>
                <a:cubicBezTo>
                  <a:pt x="31128" y="3042"/>
                  <a:pt x="31116" y="3044"/>
                  <a:pt x="31102" y="3044"/>
                </a:cubicBezTo>
                <a:lnTo>
                  <a:pt x="198" y="3044"/>
                </a:lnTo>
                <a:cubicBezTo>
                  <a:pt x="185" y="3044"/>
                  <a:pt x="172" y="3042"/>
                  <a:pt x="159" y="3040"/>
                </a:cubicBezTo>
                <a:cubicBezTo>
                  <a:pt x="147" y="3037"/>
                  <a:pt x="134" y="3034"/>
                  <a:pt x="122" y="3029"/>
                </a:cubicBezTo>
                <a:cubicBezTo>
                  <a:pt x="110" y="3024"/>
                  <a:pt x="99" y="3018"/>
                  <a:pt x="88" y="3010"/>
                </a:cubicBezTo>
                <a:cubicBezTo>
                  <a:pt x="77" y="3003"/>
                  <a:pt x="67" y="2995"/>
                  <a:pt x="58" y="2986"/>
                </a:cubicBezTo>
                <a:cubicBezTo>
                  <a:pt x="49" y="2976"/>
                  <a:pt x="40" y="2966"/>
                  <a:pt x="33" y="2956"/>
                </a:cubicBezTo>
                <a:cubicBezTo>
                  <a:pt x="26" y="2945"/>
                  <a:pt x="20" y="2933"/>
                  <a:pt x="15" y="2921"/>
                </a:cubicBezTo>
                <a:cubicBezTo>
                  <a:pt x="10" y="2909"/>
                  <a:pt x="6" y="2897"/>
                  <a:pt x="4" y="2884"/>
                </a:cubicBezTo>
                <a:cubicBezTo>
                  <a:pt x="1" y="2871"/>
                  <a:pt x="0" y="2858"/>
                  <a:pt x="0" y="2845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618840" y="5695920"/>
            <a:ext cx="533880" cy="162000"/>
          </a:xfrm>
          <a:custGeom>
            <a:avLst/>
            <a:gdLst/>
            <a:ahLst/>
            <a:rect l="0" t="0" r="r" b="b"/>
            <a:pathLst>
              <a:path w="1483" h="450">
                <a:moveTo>
                  <a:pt x="0" y="345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377" y="0"/>
                </a:lnTo>
                <a:cubicBezTo>
                  <a:pt x="1391" y="0"/>
                  <a:pt x="1405" y="2"/>
                  <a:pt x="1418" y="8"/>
                </a:cubicBezTo>
                <a:cubicBezTo>
                  <a:pt x="1431" y="13"/>
                  <a:pt x="1442" y="21"/>
                  <a:pt x="1452" y="31"/>
                </a:cubicBezTo>
                <a:cubicBezTo>
                  <a:pt x="1462" y="41"/>
                  <a:pt x="1470" y="52"/>
                  <a:pt x="1475" y="65"/>
                </a:cubicBezTo>
                <a:cubicBezTo>
                  <a:pt x="1480" y="78"/>
                  <a:pt x="1483" y="91"/>
                  <a:pt x="1483" y="105"/>
                </a:cubicBezTo>
                <a:lnTo>
                  <a:pt x="1483" y="345"/>
                </a:lnTo>
                <a:cubicBezTo>
                  <a:pt x="1483" y="359"/>
                  <a:pt x="1480" y="372"/>
                  <a:pt x="1475" y="385"/>
                </a:cubicBezTo>
                <a:cubicBezTo>
                  <a:pt x="1470" y="398"/>
                  <a:pt x="1462" y="409"/>
                  <a:pt x="1452" y="419"/>
                </a:cubicBezTo>
                <a:cubicBezTo>
                  <a:pt x="1442" y="429"/>
                  <a:pt x="1431" y="437"/>
                  <a:pt x="1418" y="442"/>
                </a:cubicBezTo>
                <a:cubicBezTo>
                  <a:pt x="1405" y="448"/>
                  <a:pt x="1391" y="450"/>
                  <a:pt x="1377" y="450"/>
                </a:cubicBezTo>
                <a:lnTo>
                  <a:pt x="106" y="450"/>
                </a:lnTo>
                <a:cubicBezTo>
                  <a:pt x="92" y="450"/>
                  <a:pt x="79" y="448"/>
                  <a:pt x="66" y="442"/>
                </a:cubicBezTo>
                <a:cubicBezTo>
                  <a:pt x="53" y="437"/>
                  <a:pt x="41" y="429"/>
                  <a:pt x="31" y="419"/>
                </a:cubicBezTo>
                <a:cubicBezTo>
                  <a:pt x="21" y="409"/>
                  <a:pt x="14" y="398"/>
                  <a:pt x="8" y="385"/>
                </a:cubicBezTo>
                <a:cubicBezTo>
                  <a:pt x="3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"/>
          <p:cNvSpPr txBox="1"/>
          <p:nvPr/>
        </p:nvSpPr>
        <p:spPr>
          <a:xfrm>
            <a:off x="619200" y="5373720"/>
            <a:ext cx="1106424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2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关键方法论：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"/>
          <p:cNvSpPr txBox="1"/>
          <p:nvPr/>
        </p:nvSpPr>
        <p:spPr>
          <a:xfrm>
            <a:off x="657360" y="5688000"/>
            <a:ext cx="5303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等容量 /  event-atomic  /  forced-admission  分解 +  Belady 天花板 /  bootstrap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1276200" y="5695920"/>
            <a:ext cx="952920" cy="162000"/>
          </a:xfrm>
          <a:custGeom>
            <a:avLst/>
            <a:gdLst/>
            <a:ahLst/>
            <a:rect l="0" t="0" r="r" b="b"/>
            <a:pathLst>
              <a:path w="2647" h="450">
                <a:moveTo>
                  <a:pt x="0" y="345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541" y="0"/>
                </a:lnTo>
                <a:cubicBezTo>
                  <a:pt x="2555" y="0"/>
                  <a:pt x="2568" y="2"/>
                  <a:pt x="2581" y="8"/>
                </a:cubicBezTo>
                <a:cubicBezTo>
                  <a:pt x="2594" y="13"/>
                  <a:pt x="2606" y="21"/>
                  <a:pt x="2616" y="31"/>
                </a:cubicBezTo>
                <a:cubicBezTo>
                  <a:pt x="2626" y="41"/>
                  <a:pt x="2633" y="52"/>
                  <a:pt x="2639" y="65"/>
                </a:cubicBezTo>
                <a:cubicBezTo>
                  <a:pt x="2644" y="78"/>
                  <a:pt x="2647" y="91"/>
                  <a:pt x="2647" y="105"/>
                </a:cubicBezTo>
                <a:lnTo>
                  <a:pt x="2647" y="345"/>
                </a:lnTo>
                <a:cubicBezTo>
                  <a:pt x="2647" y="359"/>
                  <a:pt x="2644" y="372"/>
                  <a:pt x="2639" y="385"/>
                </a:cubicBezTo>
                <a:cubicBezTo>
                  <a:pt x="2633" y="398"/>
                  <a:pt x="2626" y="409"/>
                  <a:pt x="2616" y="419"/>
                </a:cubicBezTo>
                <a:cubicBezTo>
                  <a:pt x="2606" y="429"/>
                  <a:pt x="2594" y="437"/>
                  <a:pt x="2581" y="442"/>
                </a:cubicBezTo>
                <a:cubicBezTo>
                  <a:pt x="2568" y="448"/>
                  <a:pt x="2555" y="450"/>
                  <a:pt x="2541" y="450"/>
                </a:cubicBezTo>
                <a:lnTo>
                  <a:pt x="106" y="450"/>
                </a:lnTo>
                <a:cubicBezTo>
                  <a:pt x="92" y="450"/>
                  <a:pt x="78" y="448"/>
                  <a:pt x="65" y="442"/>
                </a:cubicBezTo>
                <a:cubicBezTo>
                  <a:pt x="52" y="437"/>
                  <a:pt x="41" y="429"/>
                  <a:pt x="31" y="419"/>
                </a:cubicBezTo>
                <a:cubicBezTo>
                  <a:pt x="21" y="409"/>
                  <a:pt x="13" y="398"/>
                  <a:pt x="8" y="385"/>
                </a:cubicBezTo>
                <a:cubicBezTo>
                  <a:pt x="3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2352600" y="5695920"/>
            <a:ext cx="1238400" cy="162000"/>
          </a:xfrm>
          <a:custGeom>
            <a:avLst/>
            <a:gdLst/>
            <a:ahLst/>
            <a:rect l="0" t="0" r="r" b="b"/>
            <a:pathLst>
              <a:path w="3440" h="450">
                <a:moveTo>
                  <a:pt x="0" y="345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334" y="0"/>
                </a:lnTo>
                <a:cubicBezTo>
                  <a:pt x="3348" y="0"/>
                  <a:pt x="3362" y="2"/>
                  <a:pt x="3375" y="8"/>
                </a:cubicBezTo>
                <a:cubicBezTo>
                  <a:pt x="3388" y="13"/>
                  <a:pt x="3399" y="21"/>
                  <a:pt x="3409" y="31"/>
                </a:cubicBezTo>
                <a:cubicBezTo>
                  <a:pt x="3419" y="41"/>
                  <a:pt x="3427" y="52"/>
                  <a:pt x="3432" y="65"/>
                </a:cubicBezTo>
                <a:cubicBezTo>
                  <a:pt x="3438" y="78"/>
                  <a:pt x="3440" y="91"/>
                  <a:pt x="3440" y="105"/>
                </a:cubicBezTo>
                <a:lnTo>
                  <a:pt x="3440" y="345"/>
                </a:lnTo>
                <a:cubicBezTo>
                  <a:pt x="3440" y="359"/>
                  <a:pt x="3438" y="372"/>
                  <a:pt x="3432" y="385"/>
                </a:cubicBezTo>
                <a:cubicBezTo>
                  <a:pt x="3427" y="398"/>
                  <a:pt x="3419" y="409"/>
                  <a:pt x="3409" y="419"/>
                </a:cubicBezTo>
                <a:cubicBezTo>
                  <a:pt x="3399" y="429"/>
                  <a:pt x="3388" y="437"/>
                  <a:pt x="3375" y="442"/>
                </a:cubicBezTo>
                <a:cubicBezTo>
                  <a:pt x="3362" y="448"/>
                  <a:pt x="3348" y="450"/>
                  <a:pt x="3334" y="450"/>
                </a:cubicBezTo>
                <a:lnTo>
                  <a:pt x="106" y="450"/>
                </a:lnTo>
                <a:cubicBezTo>
                  <a:pt x="92" y="450"/>
                  <a:pt x="78" y="448"/>
                  <a:pt x="65" y="442"/>
                </a:cubicBezTo>
                <a:cubicBezTo>
                  <a:pt x="52" y="437"/>
                  <a:pt x="41" y="429"/>
                  <a:pt x="31" y="419"/>
                </a:cubicBezTo>
                <a:cubicBezTo>
                  <a:pt x="21" y="409"/>
                  <a:pt x="13" y="398"/>
                  <a:pt x="8" y="385"/>
                </a:cubicBezTo>
                <a:cubicBezTo>
                  <a:pt x="2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4114440" y="5695920"/>
            <a:ext cx="1038600" cy="162000"/>
          </a:xfrm>
          <a:custGeom>
            <a:avLst/>
            <a:gdLst/>
            <a:ahLst/>
            <a:rect l="0" t="0" r="r" b="b"/>
            <a:pathLst>
              <a:path w="2885" h="450">
                <a:moveTo>
                  <a:pt x="0" y="345"/>
                </a:moveTo>
                <a:lnTo>
                  <a:pt x="0" y="105"/>
                </a:ln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780" y="0"/>
                </a:lnTo>
                <a:cubicBezTo>
                  <a:pt x="2794" y="0"/>
                  <a:pt x="2807" y="2"/>
                  <a:pt x="2820" y="8"/>
                </a:cubicBezTo>
                <a:cubicBezTo>
                  <a:pt x="2833" y="13"/>
                  <a:pt x="2845" y="21"/>
                  <a:pt x="2854" y="31"/>
                </a:cubicBezTo>
                <a:cubicBezTo>
                  <a:pt x="2864" y="41"/>
                  <a:pt x="2872" y="52"/>
                  <a:pt x="2877" y="65"/>
                </a:cubicBezTo>
                <a:cubicBezTo>
                  <a:pt x="2883" y="78"/>
                  <a:pt x="2885" y="91"/>
                  <a:pt x="2885" y="105"/>
                </a:cubicBezTo>
                <a:lnTo>
                  <a:pt x="2885" y="345"/>
                </a:lnTo>
                <a:cubicBezTo>
                  <a:pt x="2885" y="359"/>
                  <a:pt x="2883" y="372"/>
                  <a:pt x="2877" y="385"/>
                </a:cubicBezTo>
                <a:cubicBezTo>
                  <a:pt x="2872" y="398"/>
                  <a:pt x="2864" y="409"/>
                  <a:pt x="2854" y="419"/>
                </a:cubicBezTo>
                <a:cubicBezTo>
                  <a:pt x="2845" y="429"/>
                  <a:pt x="2833" y="437"/>
                  <a:pt x="2820" y="442"/>
                </a:cubicBezTo>
                <a:cubicBezTo>
                  <a:pt x="2807" y="448"/>
                  <a:pt x="2794" y="450"/>
                  <a:pt x="2780" y="450"/>
                </a:cubicBezTo>
                <a:lnTo>
                  <a:pt x="106" y="450"/>
                </a:lnTo>
                <a:cubicBezTo>
                  <a:pt x="92" y="450"/>
                  <a:pt x="79" y="448"/>
                  <a:pt x="66" y="442"/>
                </a:cubicBezTo>
                <a:cubicBezTo>
                  <a:pt x="53" y="437"/>
                  <a:pt x="41" y="429"/>
                  <a:pt x="31" y="419"/>
                </a:cubicBezTo>
                <a:cubicBezTo>
                  <a:pt x="22" y="409"/>
                  <a:pt x="14" y="398"/>
                  <a:pt x="9" y="385"/>
                </a:cubicBezTo>
                <a:cubicBezTo>
                  <a:pt x="3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5286240" y="5695920"/>
            <a:ext cx="667080" cy="162000"/>
          </a:xfrm>
          <a:custGeom>
            <a:avLst/>
            <a:gdLst/>
            <a:ahLst/>
            <a:rect l="0" t="0" r="r" b="b"/>
            <a:pathLst>
              <a:path w="1853" h="450">
                <a:moveTo>
                  <a:pt x="0" y="345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853" y="0"/>
                </a:lnTo>
                <a:lnTo>
                  <a:pt x="1853" y="450"/>
                </a:lnTo>
                <a:lnTo>
                  <a:pt x="106" y="450"/>
                </a:lnTo>
                <a:cubicBezTo>
                  <a:pt x="92" y="450"/>
                  <a:pt x="78" y="448"/>
                  <a:pt x="65" y="442"/>
                </a:cubicBezTo>
                <a:cubicBezTo>
                  <a:pt x="52" y="437"/>
                  <a:pt x="41" y="429"/>
                  <a:pt x="31" y="419"/>
                </a:cubicBezTo>
                <a:cubicBezTo>
                  <a:pt x="21" y="409"/>
                  <a:pt x="13" y="398"/>
                  <a:pt x="8" y="385"/>
                </a:cubicBezTo>
                <a:cubicBezTo>
                  <a:pt x="3" y="372"/>
                  <a:pt x="0" y="359"/>
                  <a:pt x="0" y="345"/>
                </a:cubicBez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618840" y="5924520"/>
            <a:ext cx="190800" cy="162000"/>
          </a:xfrm>
          <a:custGeom>
            <a:avLst/>
            <a:gdLst/>
            <a:ahLst/>
            <a:rect l="0" t="0" r="r" b="b"/>
            <a:pathLst>
              <a:path w="530" h="450">
                <a:moveTo>
                  <a:pt x="0" y="0"/>
                </a:moveTo>
                <a:lnTo>
                  <a:pt x="425" y="0"/>
                </a:lnTo>
                <a:cubicBezTo>
                  <a:pt x="439" y="0"/>
                  <a:pt x="452" y="2"/>
                  <a:pt x="465" y="8"/>
                </a:cubicBezTo>
                <a:cubicBezTo>
                  <a:pt x="478" y="13"/>
                  <a:pt x="490" y="21"/>
                  <a:pt x="499" y="31"/>
                </a:cubicBezTo>
                <a:cubicBezTo>
                  <a:pt x="509" y="41"/>
                  <a:pt x="517" y="52"/>
                  <a:pt x="522" y="65"/>
                </a:cubicBezTo>
                <a:cubicBezTo>
                  <a:pt x="528" y="78"/>
                  <a:pt x="530" y="91"/>
                  <a:pt x="530" y="105"/>
                </a:cubicBezTo>
                <a:lnTo>
                  <a:pt x="530" y="344"/>
                </a:lnTo>
                <a:cubicBezTo>
                  <a:pt x="530" y="358"/>
                  <a:pt x="528" y="371"/>
                  <a:pt x="522" y="385"/>
                </a:cubicBezTo>
                <a:cubicBezTo>
                  <a:pt x="517" y="398"/>
                  <a:pt x="509" y="409"/>
                  <a:pt x="499" y="419"/>
                </a:cubicBezTo>
                <a:cubicBezTo>
                  <a:pt x="490" y="429"/>
                  <a:pt x="478" y="437"/>
                  <a:pt x="465" y="442"/>
                </a:cubicBezTo>
                <a:cubicBezTo>
                  <a:pt x="452" y="448"/>
                  <a:pt x="439" y="450"/>
                  <a:pt x="425" y="450"/>
                </a:cubicBezTo>
                <a:lnTo>
                  <a:pt x="0" y="45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"/>
          <p:cNvSpPr txBox="1"/>
          <p:nvPr/>
        </p:nvSpPr>
        <p:spPr>
          <a:xfrm>
            <a:off x="619200" y="5919840"/>
            <a:ext cx="1828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CI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0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6" name="" descr=""/>
          <p:cNvPicPr/>
          <p:nvPr/>
        </p:nvPicPr>
        <p:blipFill>
          <a:blip r:embed="rId2"/>
          <a:stretch/>
        </p:blipFill>
        <p:spPr>
          <a:xfrm>
            <a:off x="0" y="6819840"/>
            <a:ext cx="12191760" cy="3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7" name=""/>
          <p:cNvSpPr/>
          <p:nvPr/>
        </p:nvSpPr>
        <p:spPr>
          <a:xfrm>
            <a:off x="456840" y="1485720"/>
            <a:ext cx="11278080" cy="9720"/>
          </a:xfrm>
          <a:custGeom>
            <a:avLst/>
            <a:gdLst/>
            <a:ahLst/>
            <a:rect l="0" t="0" r="r" b="b"/>
            <a:pathLst>
              <a:path w="31328" h="27">
                <a:moveTo>
                  <a:pt x="0" y="0"/>
                </a:moveTo>
                <a:lnTo>
                  <a:pt x="31328" y="0"/>
                </a:lnTo>
                <a:lnTo>
                  <a:pt x="313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"/>
          <p:cNvSpPr txBox="1"/>
          <p:nvPr/>
        </p:nvSpPr>
        <p:spPr>
          <a:xfrm>
            <a:off x="457200" y="465480"/>
            <a:ext cx="414909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诚实限制与开放问题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"/>
          <p:cNvSpPr txBox="1"/>
          <p:nvPr/>
        </p:nvSpPr>
        <p:spPr>
          <a:xfrm>
            <a:off x="457200" y="195516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01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"/>
          <p:cNvSpPr txBox="1"/>
          <p:nvPr/>
        </p:nvSpPr>
        <p:spPr>
          <a:xfrm>
            <a:off x="1066680" y="1926720"/>
            <a:ext cx="2799349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缓存D在多样mmlu下未达per-C显著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"/>
          <p:cNvSpPr txBox="1"/>
          <p:nvPr/>
        </p:nvSpPr>
        <p:spPr>
          <a:xfrm>
            <a:off x="1066680" y="2193480"/>
            <a:ext cx="5382672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效应真实但幅度小（1~2 pp），多任务噪声稀释到CI跨0；不claim统计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"/>
          <p:cNvSpPr txBox="1"/>
          <p:nvPr/>
        </p:nvSpPr>
        <p:spPr>
          <a:xfrm>
            <a:off x="1066680" y="2460240"/>
            <a:ext cx="37719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显著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"/>
          <p:cNvSpPr txBox="1"/>
          <p:nvPr/>
        </p:nvSpPr>
        <p:spPr>
          <a:xfrm>
            <a:off x="457200" y="298404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02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"/>
          <p:cNvSpPr txBox="1"/>
          <p:nvPr/>
        </p:nvSpPr>
        <p:spPr>
          <a:xfrm>
            <a:off x="1066680" y="2955600"/>
            <a:ext cx="245173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「随任务连贯度缩放」已撤回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"/>
          <p:cNvSpPr txBox="1"/>
          <p:nvPr/>
        </p:nvSpPr>
        <p:spPr>
          <a:xfrm>
            <a:off x="1066680" y="3222360"/>
            <a:ext cx="4401549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密集补采后COHERENT-12 ≈ DIVERSE-12，这条路径放弃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"/>
          <p:cNvSpPr txBox="1"/>
          <p:nvPr/>
        </p:nvSpPr>
        <p:spPr>
          <a:xfrm>
            <a:off x="457200" y="374616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03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"/>
          <p:cNvSpPr txBox="1"/>
          <p:nvPr/>
        </p:nvSpPr>
        <p:spPr>
          <a:xfrm>
            <a:off x="1066680" y="3717720"/>
            <a:ext cx="1881234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DAC尚无M1–M3实验结果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"/>
          <p:cNvSpPr txBox="1"/>
          <p:nvPr/>
        </p:nvSpPr>
        <p:spPr>
          <a:xfrm>
            <a:off x="1066680" y="3984120"/>
            <a:ext cx="54725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目前是方案+动机证据；「漂移感知能赢FineMoE」是假设，还需实验验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"/>
          <p:cNvSpPr txBox="1"/>
          <p:nvPr/>
        </p:nvSpPr>
        <p:spPr>
          <a:xfrm>
            <a:off x="1066680" y="4250880"/>
            <a:ext cx="18859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证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"/>
          <p:cNvSpPr txBox="1"/>
          <p:nvPr/>
        </p:nvSpPr>
        <p:spPr>
          <a:xfrm>
            <a:off x="457200" y="477468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04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"/>
          <p:cNvSpPr txBox="1"/>
          <p:nvPr/>
        </p:nvSpPr>
        <p:spPr>
          <a:xfrm>
            <a:off x="1066680" y="4746240"/>
            <a:ext cx="615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并发多租⼾是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"/>
          <p:cNvSpPr txBox="1"/>
          <p:nvPr/>
        </p:nvSpPr>
        <p:spPr>
          <a:xfrm>
            <a:off x="2095560" y="4750200"/>
            <a:ext cx="72009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stretch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"/>
          <p:cNvSpPr txBox="1"/>
          <p:nvPr/>
        </p:nvSpPr>
        <p:spPr>
          <a:xfrm>
            <a:off x="1066680" y="5013000"/>
            <a:ext cx="20494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主评测是顺序漂移；多租⼾需跨请求信号聚合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"/>
          <p:cNvSpPr txBox="1"/>
          <p:nvPr/>
        </p:nvSpPr>
        <p:spPr>
          <a:xfrm>
            <a:off x="4495680" y="5013000"/>
            <a:ext cx="1188148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+补并发调度层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"/>
          <p:cNvSpPr txBox="1"/>
          <p:nvPr/>
        </p:nvSpPr>
        <p:spPr>
          <a:xfrm>
            <a:off x="457200" y="553680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b82f6"/>
                </a:solidFill>
                <a:effectLst/>
                <a:uFillTx/>
                <a:latin typeface="Inter, sans-serif"/>
                <a:ea typeface="Inter, sans-serif"/>
              </a:rPr>
              <a:t>05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"/>
          <p:cNvSpPr txBox="1"/>
          <p:nvPr/>
        </p:nvSpPr>
        <p:spPr>
          <a:xfrm>
            <a:off x="1066680" y="5508360"/>
            <a:ext cx="175864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Inter, sans-serif"/>
                <a:ea typeface="Inter, sans-serif"/>
              </a:rPr>
              <a:t>top-1真机是后期目标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"/>
          <p:cNvSpPr txBox="1"/>
          <p:nvPr/>
        </p:nvSpPr>
        <p:spPr>
          <a:xfrm>
            <a:off x="1066680" y="5775120"/>
            <a:ext cx="292536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4b5563"/>
                </a:solidFill>
                <a:effectLst/>
                <a:uFillTx/>
                <a:latin typeface="Inter, sans-serif"/>
                <a:ea typeface="Inter, sans-serif"/>
              </a:rPr>
              <a:t>M1/M2用trace级模拟，真机集成在M3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4680" y="4680"/>
            <a:ext cx="12182760" cy="6848640"/>
          </a:xfrm>
          <a:custGeom>
            <a:avLst/>
            <a:gdLst/>
            <a:ahLst/>
            <a:rect l="0" t="0" r="r" b="b"/>
            <a:pathLst>
              <a:path fill="none" w="33841" h="19024">
                <a:moveTo>
                  <a:pt x="0" y="0"/>
                </a:moveTo>
                <a:lnTo>
                  <a:pt x="33841" y="0"/>
                </a:lnTo>
                <a:lnTo>
                  <a:pt x="33841" y="19024"/>
                </a:lnTo>
                <a:lnTo>
                  <a:pt x="0" y="19024"/>
                </a:lnTo>
                <a:lnTo>
                  <a:pt x="0" y="0"/>
                </a:lnTo>
              </a:path>
            </a:pathLst>
          </a:custGeom>
          <a:ln w="9360">
            <a:solidFill>
              <a:srgbClr val="c0c0c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"/>
          <p:cNvSpPr/>
          <p:nvPr/>
        </p:nvSpPr>
        <p:spPr>
          <a:xfrm>
            <a:off x="43920" y="0"/>
            <a:ext cx="1784880" cy="99000"/>
          </a:xfrm>
          <a:custGeom>
            <a:avLst/>
            <a:gdLst/>
            <a:ahLst/>
            <a:rect l="0" t="0" r="r" b="b"/>
            <a:pathLst>
              <a:path w="4958" h="275">
                <a:moveTo>
                  <a:pt x="0" y="125"/>
                </a:moveTo>
                <a:cubicBezTo>
                  <a:pt x="1" y="124"/>
                  <a:pt x="1" y="124"/>
                  <a:pt x="1" y="123"/>
                </a:cubicBezTo>
                <a:cubicBezTo>
                  <a:pt x="41" y="84"/>
                  <a:pt x="87" y="53"/>
                  <a:pt x="139" y="32"/>
                </a:cubicBezTo>
                <a:cubicBezTo>
                  <a:pt x="191" y="10"/>
                  <a:pt x="245" y="0"/>
                  <a:pt x="301" y="0"/>
                </a:cubicBezTo>
                <a:lnTo>
                  <a:pt x="4958" y="0"/>
                </a:lnTo>
                <a:lnTo>
                  <a:pt x="4958" y="212"/>
                </a:lnTo>
                <a:lnTo>
                  <a:pt x="301" y="212"/>
                </a:lnTo>
                <a:cubicBezTo>
                  <a:pt x="273" y="212"/>
                  <a:pt x="246" y="218"/>
                  <a:pt x="220" y="228"/>
                </a:cubicBezTo>
                <a:cubicBezTo>
                  <a:pt x="194" y="239"/>
                  <a:pt x="171" y="254"/>
                  <a:pt x="151" y="274"/>
                </a:cubicBezTo>
                <a:cubicBezTo>
                  <a:pt x="151" y="275"/>
                  <a:pt x="150" y="275"/>
                  <a:pt x="150" y="275"/>
                </a:cubicBezTo>
                <a:lnTo>
                  <a:pt x="0" y="125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"/>
          <p:cNvSpPr/>
          <p:nvPr/>
        </p:nvSpPr>
        <p:spPr>
          <a:xfrm>
            <a:off x="0" y="43920"/>
            <a:ext cx="99000" cy="1784880"/>
          </a:xfrm>
          <a:custGeom>
            <a:avLst/>
            <a:gdLst/>
            <a:ahLst/>
            <a:rect l="0" t="0" r="r" b="b"/>
            <a:pathLst>
              <a:path w="275" h="4958">
                <a:moveTo>
                  <a:pt x="275" y="150"/>
                </a:moveTo>
                <a:cubicBezTo>
                  <a:pt x="275" y="150"/>
                  <a:pt x="275" y="151"/>
                  <a:pt x="274" y="151"/>
                </a:cubicBezTo>
                <a:cubicBezTo>
                  <a:pt x="254" y="171"/>
                  <a:pt x="239" y="194"/>
                  <a:pt x="228" y="220"/>
                </a:cubicBezTo>
                <a:cubicBezTo>
                  <a:pt x="218" y="246"/>
                  <a:pt x="212" y="273"/>
                  <a:pt x="212" y="301"/>
                </a:cubicBezTo>
                <a:lnTo>
                  <a:pt x="212" y="4958"/>
                </a:lnTo>
                <a:lnTo>
                  <a:pt x="0" y="4958"/>
                </a:lnTo>
                <a:lnTo>
                  <a:pt x="0" y="301"/>
                </a:lnTo>
                <a:cubicBezTo>
                  <a:pt x="0" y="245"/>
                  <a:pt x="10" y="191"/>
                  <a:pt x="32" y="139"/>
                </a:cubicBezTo>
                <a:cubicBezTo>
                  <a:pt x="53" y="87"/>
                  <a:pt x="84" y="41"/>
                  <a:pt x="123" y="1"/>
                </a:cubicBezTo>
                <a:cubicBezTo>
                  <a:pt x="124" y="1"/>
                  <a:pt x="124" y="1"/>
                  <a:pt x="125" y="0"/>
                </a:cubicBezTo>
                <a:lnTo>
                  <a:pt x="275" y="150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"/>
          <p:cNvSpPr/>
          <p:nvPr/>
        </p:nvSpPr>
        <p:spPr>
          <a:xfrm>
            <a:off x="10362960" y="6759000"/>
            <a:ext cx="1784880" cy="99000"/>
          </a:xfrm>
          <a:custGeom>
            <a:avLst/>
            <a:gdLst/>
            <a:ahLst/>
            <a:rect l="0" t="0" r="r" b="b"/>
            <a:pathLst>
              <a:path w="4958" h="275">
                <a:moveTo>
                  <a:pt x="4958" y="149"/>
                </a:moveTo>
                <a:cubicBezTo>
                  <a:pt x="4958" y="150"/>
                  <a:pt x="4958" y="150"/>
                  <a:pt x="4957" y="151"/>
                </a:cubicBezTo>
                <a:cubicBezTo>
                  <a:pt x="4917" y="190"/>
                  <a:pt x="4872" y="221"/>
                  <a:pt x="4820" y="242"/>
                </a:cubicBezTo>
                <a:cubicBezTo>
                  <a:pt x="4768" y="264"/>
                  <a:pt x="4714" y="275"/>
                  <a:pt x="4658" y="275"/>
                </a:cubicBezTo>
                <a:lnTo>
                  <a:pt x="0" y="275"/>
                </a:lnTo>
                <a:lnTo>
                  <a:pt x="0" y="63"/>
                </a:lnTo>
                <a:lnTo>
                  <a:pt x="4658" y="63"/>
                </a:lnTo>
                <a:cubicBezTo>
                  <a:pt x="4686" y="63"/>
                  <a:pt x="4713" y="57"/>
                  <a:pt x="4739" y="47"/>
                </a:cubicBezTo>
                <a:cubicBezTo>
                  <a:pt x="4765" y="36"/>
                  <a:pt x="4788" y="21"/>
                  <a:pt x="4808" y="1"/>
                </a:cubicBezTo>
                <a:cubicBezTo>
                  <a:pt x="4808" y="0"/>
                  <a:pt x="4808" y="0"/>
                  <a:pt x="4809" y="0"/>
                </a:cubicBezTo>
                <a:lnTo>
                  <a:pt x="4958" y="149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"/>
          <p:cNvSpPr/>
          <p:nvPr/>
        </p:nvSpPr>
        <p:spPr>
          <a:xfrm>
            <a:off x="12092760" y="5028840"/>
            <a:ext cx="99360" cy="1785240"/>
          </a:xfrm>
          <a:custGeom>
            <a:avLst/>
            <a:gdLst/>
            <a:ahLst/>
            <a:rect l="0" t="0" r="r" b="b"/>
            <a:pathLst>
              <a:path w="276" h="4959">
                <a:moveTo>
                  <a:pt x="0" y="4809"/>
                </a:moveTo>
                <a:cubicBezTo>
                  <a:pt x="1" y="4809"/>
                  <a:pt x="1" y="4808"/>
                  <a:pt x="2" y="4808"/>
                </a:cubicBezTo>
                <a:cubicBezTo>
                  <a:pt x="21" y="4788"/>
                  <a:pt x="37" y="4765"/>
                  <a:pt x="47" y="4739"/>
                </a:cubicBezTo>
                <a:cubicBezTo>
                  <a:pt x="58" y="4713"/>
                  <a:pt x="63" y="4686"/>
                  <a:pt x="63" y="4658"/>
                </a:cubicBezTo>
                <a:lnTo>
                  <a:pt x="63" y="0"/>
                </a:lnTo>
                <a:lnTo>
                  <a:pt x="276" y="0"/>
                </a:lnTo>
                <a:lnTo>
                  <a:pt x="276" y="4658"/>
                </a:lnTo>
                <a:cubicBezTo>
                  <a:pt x="276" y="4714"/>
                  <a:pt x="265" y="4768"/>
                  <a:pt x="243" y="4820"/>
                </a:cubicBezTo>
                <a:cubicBezTo>
                  <a:pt x="221" y="4872"/>
                  <a:pt x="191" y="4918"/>
                  <a:pt x="151" y="4958"/>
                </a:cubicBezTo>
                <a:cubicBezTo>
                  <a:pt x="151" y="4958"/>
                  <a:pt x="150" y="4958"/>
                  <a:pt x="150" y="4959"/>
                </a:cubicBezTo>
                <a:lnTo>
                  <a:pt x="0" y="4809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"/>
          <p:cNvSpPr/>
          <p:nvPr/>
        </p:nvSpPr>
        <p:spPr>
          <a:xfrm>
            <a:off x="456840" y="1066680"/>
            <a:ext cx="762480" cy="38520"/>
          </a:xfrm>
          <a:custGeom>
            <a:avLst/>
            <a:gdLst/>
            <a:ah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7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7"/>
                  <a:pt x="2098" y="10"/>
                  <a:pt x="2103" y="15"/>
                </a:cubicBezTo>
                <a:cubicBezTo>
                  <a:pt x="2108" y="20"/>
                  <a:pt x="2111" y="26"/>
                  <a:pt x="2114" y="33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0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0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"/>
          <p:cNvSpPr/>
          <p:nvPr/>
        </p:nvSpPr>
        <p:spPr>
          <a:xfrm>
            <a:off x="461880" y="1414440"/>
            <a:ext cx="5477040" cy="2333880"/>
          </a:xfrm>
          <a:custGeom>
            <a:avLst/>
            <a:gdLst/>
            <a:ahLst/>
            <a:rect l="0" t="0" r="r" b="b"/>
            <a:pathLst>
              <a:path w="15214" h="6483">
                <a:moveTo>
                  <a:pt x="0" y="6284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7" y="6"/>
                  <a:pt x="15080" y="10"/>
                  <a:pt x="15092" y="15"/>
                </a:cubicBezTo>
                <a:cubicBezTo>
                  <a:pt x="15104" y="20"/>
                  <a:pt x="15115" y="26"/>
                  <a:pt x="15126" y="33"/>
                </a:cubicBezTo>
                <a:cubicBezTo>
                  <a:pt x="15137" y="40"/>
                  <a:pt x="15147" y="48"/>
                  <a:pt x="15156" y="58"/>
                </a:cubicBezTo>
                <a:cubicBezTo>
                  <a:pt x="15165" y="67"/>
                  <a:pt x="15174" y="77"/>
                  <a:pt x="15181" y="88"/>
                </a:cubicBezTo>
                <a:cubicBezTo>
                  <a:pt x="15188" y="99"/>
                  <a:pt x="15194" y="110"/>
                  <a:pt x="15199" y="122"/>
                </a:cubicBezTo>
                <a:cubicBezTo>
                  <a:pt x="15204" y="134"/>
                  <a:pt x="15208" y="147"/>
                  <a:pt x="15210" y="159"/>
                </a:cubicBezTo>
                <a:cubicBezTo>
                  <a:pt x="15213" y="172"/>
                  <a:pt x="15214" y="185"/>
                  <a:pt x="15214" y="198"/>
                </a:cubicBezTo>
                <a:lnTo>
                  <a:pt x="15214" y="6284"/>
                </a:lnTo>
                <a:cubicBezTo>
                  <a:pt x="15214" y="6297"/>
                  <a:pt x="15213" y="6310"/>
                  <a:pt x="15210" y="6323"/>
                </a:cubicBezTo>
                <a:cubicBezTo>
                  <a:pt x="15208" y="6336"/>
                  <a:pt x="15204" y="6348"/>
                  <a:pt x="15199" y="6360"/>
                </a:cubicBezTo>
                <a:cubicBezTo>
                  <a:pt x="15194" y="6372"/>
                  <a:pt x="15188" y="6384"/>
                  <a:pt x="15181" y="6395"/>
                </a:cubicBezTo>
                <a:cubicBezTo>
                  <a:pt x="15174" y="6405"/>
                  <a:pt x="15165" y="6416"/>
                  <a:pt x="15156" y="6425"/>
                </a:cubicBezTo>
                <a:cubicBezTo>
                  <a:pt x="15147" y="6434"/>
                  <a:pt x="15137" y="6442"/>
                  <a:pt x="15126" y="6449"/>
                </a:cubicBezTo>
                <a:cubicBezTo>
                  <a:pt x="15115" y="6457"/>
                  <a:pt x="15104" y="6463"/>
                  <a:pt x="15092" y="6468"/>
                </a:cubicBezTo>
                <a:cubicBezTo>
                  <a:pt x="15080" y="6473"/>
                  <a:pt x="15067" y="6476"/>
                  <a:pt x="15055" y="6479"/>
                </a:cubicBezTo>
                <a:cubicBezTo>
                  <a:pt x="15042" y="6482"/>
                  <a:pt x="15029" y="6483"/>
                  <a:pt x="15016" y="6483"/>
                </a:cubicBezTo>
                <a:lnTo>
                  <a:pt x="198" y="6483"/>
                </a:lnTo>
                <a:cubicBezTo>
                  <a:pt x="185" y="6483"/>
                  <a:pt x="172" y="6482"/>
                  <a:pt x="159" y="6479"/>
                </a:cubicBezTo>
                <a:cubicBezTo>
                  <a:pt x="147" y="6476"/>
                  <a:pt x="134" y="6473"/>
                  <a:pt x="122" y="6468"/>
                </a:cubicBezTo>
                <a:cubicBezTo>
                  <a:pt x="110" y="6463"/>
                  <a:pt x="99" y="6457"/>
                  <a:pt x="88" y="6449"/>
                </a:cubicBezTo>
                <a:cubicBezTo>
                  <a:pt x="77" y="6442"/>
                  <a:pt x="67" y="6434"/>
                  <a:pt x="58" y="6425"/>
                </a:cubicBezTo>
                <a:cubicBezTo>
                  <a:pt x="49" y="6416"/>
                  <a:pt x="40" y="6405"/>
                  <a:pt x="33" y="6395"/>
                </a:cubicBezTo>
                <a:cubicBezTo>
                  <a:pt x="26" y="6384"/>
                  <a:pt x="20" y="6372"/>
                  <a:pt x="15" y="6360"/>
                </a:cubicBezTo>
                <a:cubicBezTo>
                  <a:pt x="10" y="6348"/>
                  <a:pt x="6" y="6336"/>
                  <a:pt x="4" y="6323"/>
                </a:cubicBezTo>
                <a:cubicBezTo>
                  <a:pt x="1" y="6310"/>
                  <a:pt x="0" y="6297"/>
                  <a:pt x="0" y="62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"/>
          <p:cNvSpPr/>
          <p:nvPr/>
        </p:nvSpPr>
        <p:spPr>
          <a:xfrm>
            <a:off x="461880" y="1414440"/>
            <a:ext cx="5477040" cy="2333880"/>
          </a:xfrm>
          <a:custGeom>
            <a:avLst/>
            <a:gdLst/>
            <a:ahLst/>
            <a:rect l="0" t="0" r="r" b="b"/>
            <a:pathLst>
              <a:path fill="none" w="15214" h="6483">
                <a:moveTo>
                  <a:pt x="0" y="6284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7" y="6"/>
                  <a:pt x="15080" y="10"/>
                  <a:pt x="15092" y="15"/>
                </a:cubicBezTo>
                <a:cubicBezTo>
                  <a:pt x="15104" y="20"/>
                  <a:pt x="15115" y="26"/>
                  <a:pt x="15126" y="33"/>
                </a:cubicBezTo>
                <a:cubicBezTo>
                  <a:pt x="15137" y="40"/>
                  <a:pt x="15147" y="48"/>
                  <a:pt x="15156" y="58"/>
                </a:cubicBezTo>
                <a:cubicBezTo>
                  <a:pt x="15165" y="67"/>
                  <a:pt x="15174" y="77"/>
                  <a:pt x="15181" y="88"/>
                </a:cubicBezTo>
                <a:cubicBezTo>
                  <a:pt x="15188" y="99"/>
                  <a:pt x="15194" y="110"/>
                  <a:pt x="15199" y="122"/>
                </a:cubicBezTo>
                <a:cubicBezTo>
                  <a:pt x="15204" y="134"/>
                  <a:pt x="15208" y="147"/>
                  <a:pt x="15210" y="159"/>
                </a:cubicBezTo>
                <a:cubicBezTo>
                  <a:pt x="15213" y="172"/>
                  <a:pt x="15214" y="185"/>
                  <a:pt x="15214" y="198"/>
                </a:cubicBezTo>
                <a:lnTo>
                  <a:pt x="15214" y="6284"/>
                </a:lnTo>
                <a:cubicBezTo>
                  <a:pt x="15214" y="6297"/>
                  <a:pt x="15213" y="6310"/>
                  <a:pt x="15210" y="6323"/>
                </a:cubicBezTo>
                <a:cubicBezTo>
                  <a:pt x="15208" y="6336"/>
                  <a:pt x="15204" y="6348"/>
                  <a:pt x="15199" y="6360"/>
                </a:cubicBezTo>
                <a:cubicBezTo>
                  <a:pt x="15194" y="6372"/>
                  <a:pt x="15188" y="6384"/>
                  <a:pt x="15181" y="6395"/>
                </a:cubicBezTo>
                <a:cubicBezTo>
                  <a:pt x="15174" y="6405"/>
                  <a:pt x="15165" y="6416"/>
                  <a:pt x="15156" y="6425"/>
                </a:cubicBezTo>
                <a:cubicBezTo>
                  <a:pt x="15147" y="6434"/>
                  <a:pt x="15137" y="6442"/>
                  <a:pt x="15126" y="6449"/>
                </a:cubicBezTo>
                <a:cubicBezTo>
                  <a:pt x="15115" y="6457"/>
                  <a:pt x="15104" y="6463"/>
                  <a:pt x="15092" y="6468"/>
                </a:cubicBezTo>
                <a:cubicBezTo>
                  <a:pt x="15080" y="6473"/>
                  <a:pt x="15067" y="6476"/>
                  <a:pt x="15055" y="6479"/>
                </a:cubicBezTo>
                <a:cubicBezTo>
                  <a:pt x="15042" y="6482"/>
                  <a:pt x="15029" y="6483"/>
                  <a:pt x="15016" y="6483"/>
                </a:cubicBezTo>
                <a:lnTo>
                  <a:pt x="198" y="6483"/>
                </a:lnTo>
                <a:cubicBezTo>
                  <a:pt x="185" y="6483"/>
                  <a:pt x="172" y="6482"/>
                  <a:pt x="159" y="6479"/>
                </a:cubicBezTo>
                <a:cubicBezTo>
                  <a:pt x="147" y="6476"/>
                  <a:pt x="134" y="6473"/>
                  <a:pt x="122" y="6468"/>
                </a:cubicBezTo>
                <a:cubicBezTo>
                  <a:pt x="110" y="6463"/>
                  <a:pt x="99" y="6457"/>
                  <a:pt x="88" y="6449"/>
                </a:cubicBezTo>
                <a:cubicBezTo>
                  <a:pt x="77" y="6442"/>
                  <a:pt x="67" y="6434"/>
                  <a:pt x="58" y="6425"/>
                </a:cubicBezTo>
                <a:cubicBezTo>
                  <a:pt x="49" y="6416"/>
                  <a:pt x="40" y="6405"/>
                  <a:pt x="33" y="6395"/>
                </a:cubicBezTo>
                <a:cubicBezTo>
                  <a:pt x="26" y="6384"/>
                  <a:pt x="20" y="6372"/>
                  <a:pt x="15" y="6360"/>
                </a:cubicBezTo>
                <a:cubicBezTo>
                  <a:pt x="10" y="6348"/>
                  <a:pt x="6" y="6336"/>
                  <a:pt x="4" y="6323"/>
                </a:cubicBezTo>
                <a:cubicBezTo>
                  <a:pt x="1" y="6310"/>
                  <a:pt x="0" y="6297"/>
                  <a:pt x="0" y="6284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"/>
          <p:cNvSpPr txBox="1"/>
          <p:nvPr/>
        </p:nvSpPr>
        <p:spPr>
          <a:xfrm>
            <a:off x="457200" y="465480"/>
            <a:ext cx="276606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30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小结与下一步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"/>
          <p:cNvSpPr txBox="1"/>
          <p:nvPr/>
        </p:nvSpPr>
        <p:spPr>
          <a:xfrm>
            <a:off x="695160" y="1695600"/>
            <a:ext cx="2610993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已确立（实验验证）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"/>
          <p:cNvSpPr txBox="1"/>
          <p:nvPr/>
        </p:nvSpPr>
        <p:spPr>
          <a:xfrm>
            <a:off x="695160" y="2259000"/>
            <a:ext cx="30190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跨任务热专家Jaccard ≈ 0.07（分布层铁证）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"/>
          <p:cNvSpPr txBox="1"/>
          <p:nvPr/>
        </p:nvSpPr>
        <p:spPr>
          <a:xfrm>
            <a:off x="695160" y="2611440"/>
            <a:ext cx="3528441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漂移系统性惩罚LFU、LRU近免疫——5模型方向一致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"/>
          <p:cNvSpPr txBox="1"/>
          <p:nvPr/>
        </p:nvSpPr>
        <p:spPr>
          <a:xfrm>
            <a:off x="695160" y="2973240"/>
            <a:ext cx="376047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真机ρ = 22–312，全落饱和平台；延迟倍数1.33–2.05×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"/>
          <p:cNvSpPr txBox="1"/>
          <p:nvPr/>
        </p:nvSpPr>
        <p:spPr>
          <a:xfrm>
            <a:off x="695160" y="3335040"/>
            <a:ext cx="3968496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最优策略随regime切换：分布内LFU正确，漂移下LRU更优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9" name=""/>
          <p:cNvSpPr/>
          <p:nvPr/>
        </p:nvSpPr>
        <p:spPr>
          <a:xfrm>
            <a:off x="461880" y="4062240"/>
            <a:ext cx="5477040" cy="2333880"/>
          </a:xfrm>
          <a:custGeom>
            <a:avLst/>
            <a:gdLst/>
            <a:ahLst/>
            <a:rect l="0" t="0" r="r" b="b"/>
            <a:pathLst>
              <a:path w="15214" h="6483">
                <a:moveTo>
                  <a:pt x="0" y="6285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4"/>
                </a:cubicBezTo>
                <a:cubicBezTo>
                  <a:pt x="15067" y="6"/>
                  <a:pt x="15080" y="10"/>
                  <a:pt x="15092" y="15"/>
                </a:cubicBezTo>
                <a:cubicBezTo>
                  <a:pt x="15104" y="20"/>
                  <a:pt x="15115" y="26"/>
                  <a:pt x="15126" y="33"/>
                </a:cubicBezTo>
                <a:cubicBezTo>
                  <a:pt x="15137" y="41"/>
                  <a:pt x="15147" y="49"/>
                  <a:pt x="15156" y="58"/>
                </a:cubicBezTo>
                <a:cubicBezTo>
                  <a:pt x="15165" y="67"/>
                  <a:pt x="15174" y="77"/>
                  <a:pt x="15181" y="88"/>
                </a:cubicBezTo>
                <a:cubicBezTo>
                  <a:pt x="15188" y="99"/>
                  <a:pt x="15194" y="110"/>
                  <a:pt x="15199" y="122"/>
                </a:cubicBezTo>
                <a:cubicBezTo>
                  <a:pt x="15204" y="135"/>
                  <a:pt x="15208" y="147"/>
                  <a:pt x="15210" y="160"/>
                </a:cubicBezTo>
                <a:cubicBezTo>
                  <a:pt x="15213" y="172"/>
                  <a:pt x="15214" y="185"/>
                  <a:pt x="15214" y="198"/>
                </a:cubicBezTo>
                <a:lnTo>
                  <a:pt x="15214" y="6285"/>
                </a:lnTo>
                <a:cubicBezTo>
                  <a:pt x="15214" y="6298"/>
                  <a:pt x="15213" y="6311"/>
                  <a:pt x="15210" y="6324"/>
                </a:cubicBezTo>
                <a:cubicBezTo>
                  <a:pt x="15208" y="6336"/>
                  <a:pt x="15204" y="6349"/>
                  <a:pt x="15199" y="6361"/>
                </a:cubicBezTo>
                <a:cubicBezTo>
                  <a:pt x="15194" y="6373"/>
                  <a:pt x="15188" y="6384"/>
                  <a:pt x="15181" y="6395"/>
                </a:cubicBezTo>
                <a:cubicBezTo>
                  <a:pt x="15174" y="6406"/>
                  <a:pt x="15165" y="6416"/>
                  <a:pt x="15156" y="6425"/>
                </a:cubicBezTo>
                <a:cubicBezTo>
                  <a:pt x="15147" y="6434"/>
                  <a:pt x="15137" y="6443"/>
                  <a:pt x="15126" y="6450"/>
                </a:cubicBezTo>
                <a:cubicBezTo>
                  <a:pt x="15115" y="6457"/>
                  <a:pt x="15104" y="6463"/>
                  <a:pt x="15092" y="6468"/>
                </a:cubicBezTo>
                <a:cubicBezTo>
                  <a:pt x="15080" y="6473"/>
                  <a:pt x="15067" y="6477"/>
                  <a:pt x="15055" y="6479"/>
                </a:cubicBezTo>
                <a:cubicBezTo>
                  <a:pt x="15042" y="6482"/>
                  <a:pt x="15029" y="6483"/>
                  <a:pt x="15016" y="6483"/>
                </a:cubicBezTo>
                <a:lnTo>
                  <a:pt x="198" y="6483"/>
                </a:lnTo>
                <a:cubicBezTo>
                  <a:pt x="185" y="6483"/>
                  <a:pt x="172" y="6482"/>
                  <a:pt x="159" y="6479"/>
                </a:cubicBezTo>
                <a:cubicBezTo>
                  <a:pt x="147" y="6477"/>
                  <a:pt x="134" y="6473"/>
                  <a:pt x="122" y="6468"/>
                </a:cubicBezTo>
                <a:cubicBezTo>
                  <a:pt x="110" y="6463"/>
                  <a:pt x="99" y="6457"/>
                  <a:pt x="88" y="6450"/>
                </a:cubicBezTo>
                <a:cubicBezTo>
                  <a:pt x="77" y="6443"/>
                  <a:pt x="67" y="6434"/>
                  <a:pt x="58" y="6425"/>
                </a:cubicBezTo>
                <a:cubicBezTo>
                  <a:pt x="49" y="6416"/>
                  <a:pt x="40" y="6406"/>
                  <a:pt x="33" y="6395"/>
                </a:cubicBezTo>
                <a:cubicBezTo>
                  <a:pt x="26" y="6384"/>
                  <a:pt x="20" y="6373"/>
                  <a:pt x="15" y="6361"/>
                </a:cubicBezTo>
                <a:cubicBezTo>
                  <a:pt x="10" y="6349"/>
                  <a:pt x="6" y="6336"/>
                  <a:pt x="4" y="6324"/>
                </a:cubicBezTo>
                <a:cubicBezTo>
                  <a:pt x="1" y="6311"/>
                  <a:pt x="0" y="6298"/>
                  <a:pt x="0" y="62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"/>
          <p:cNvSpPr/>
          <p:nvPr/>
        </p:nvSpPr>
        <p:spPr>
          <a:xfrm>
            <a:off x="461880" y="4062240"/>
            <a:ext cx="5477040" cy="2333880"/>
          </a:xfrm>
          <a:custGeom>
            <a:avLst/>
            <a:gdLst/>
            <a:ahLst/>
            <a:rect l="0" t="0" r="r" b="b"/>
            <a:pathLst>
              <a:path fill="none" w="15214" h="6483">
                <a:moveTo>
                  <a:pt x="0" y="6285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4"/>
                </a:cubicBezTo>
                <a:cubicBezTo>
                  <a:pt x="15067" y="6"/>
                  <a:pt x="15080" y="10"/>
                  <a:pt x="15092" y="15"/>
                </a:cubicBezTo>
                <a:cubicBezTo>
                  <a:pt x="15104" y="20"/>
                  <a:pt x="15115" y="26"/>
                  <a:pt x="15126" y="33"/>
                </a:cubicBezTo>
                <a:cubicBezTo>
                  <a:pt x="15137" y="41"/>
                  <a:pt x="15147" y="49"/>
                  <a:pt x="15156" y="58"/>
                </a:cubicBezTo>
                <a:cubicBezTo>
                  <a:pt x="15165" y="67"/>
                  <a:pt x="15174" y="77"/>
                  <a:pt x="15181" y="88"/>
                </a:cubicBezTo>
                <a:cubicBezTo>
                  <a:pt x="15188" y="99"/>
                  <a:pt x="15194" y="110"/>
                  <a:pt x="15199" y="122"/>
                </a:cubicBezTo>
                <a:cubicBezTo>
                  <a:pt x="15204" y="135"/>
                  <a:pt x="15208" y="147"/>
                  <a:pt x="15210" y="160"/>
                </a:cubicBezTo>
                <a:cubicBezTo>
                  <a:pt x="15213" y="172"/>
                  <a:pt x="15214" y="185"/>
                  <a:pt x="15214" y="198"/>
                </a:cubicBezTo>
                <a:lnTo>
                  <a:pt x="15214" y="6285"/>
                </a:lnTo>
                <a:cubicBezTo>
                  <a:pt x="15214" y="6298"/>
                  <a:pt x="15213" y="6311"/>
                  <a:pt x="15210" y="6324"/>
                </a:cubicBezTo>
                <a:cubicBezTo>
                  <a:pt x="15208" y="6336"/>
                  <a:pt x="15204" y="6349"/>
                  <a:pt x="15199" y="6361"/>
                </a:cubicBezTo>
                <a:cubicBezTo>
                  <a:pt x="15194" y="6373"/>
                  <a:pt x="15188" y="6384"/>
                  <a:pt x="15181" y="6395"/>
                </a:cubicBezTo>
                <a:cubicBezTo>
                  <a:pt x="15174" y="6406"/>
                  <a:pt x="15165" y="6416"/>
                  <a:pt x="15156" y="6425"/>
                </a:cubicBezTo>
                <a:cubicBezTo>
                  <a:pt x="15147" y="6434"/>
                  <a:pt x="15137" y="6443"/>
                  <a:pt x="15126" y="6450"/>
                </a:cubicBezTo>
                <a:cubicBezTo>
                  <a:pt x="15115" y="6457"/>
                  <a:pt x="15104" y="6463"/>
                  <a:pt x="15092" y="6468"/>
                </a:cubicBezTo>
                <a:cubicBezTo>
                  <a:pt x="15080" y="6473"/>
                  <a:pt x="15067" y="6477"/>
                  <a:pt x="15055" y="6479"/>
                </a:cubicBezTo>
                <a:cubicBezTo>
                  <a:pt x="15042" y="6482"/>
                  <a:pt x="15029" y="6483"/>
                  <a:pt x="15016" y="6483"/>
                </a:cubicBezTo>
                <a:lnTo>
                  <a:pt x="198" y="6483"/>
                </a:lnTo>
                <a:cubicBezTo>
                  <a:pt x="185" y="6483"/>
                  <a:pt x="172" y="6482"/>
                  <a:pt x="159" y="6479"/>
                </a:cubicBezTo>
                <a:cubicBezTo>
                  <a:pt x="147" y="6477"/>
                  <a:pt x="134" y="6473"/>
                  <a:pt x="122" y="6468"/>
                </a:cubicBezTo>
                <a:cubicBezTo>
                  <a:pt x="110" y="6463"/>
                  <a:pt x="99" y="6457"/>
                  <a:pt x="88" y="6450"/>
                </a:cubicBezTo>
                <a:cubicBezTo>
                  <a:pt x="77" y="6443"/>
                  <a:pt x="67" y="6434"/>
                  <a:pt x="58" y="6425"/>
                </a:cubicBezTo>
                <a:cubicBezTo>
                  <a:pt x="49" y="6416"/>
                  <a:pt x="40" y="6406"/>
                  <a:pt x="33" y="6395"/>
                </a:cubicBezTo>
                <a:cubicBezTo>
                  <a:pt x="26" y="6384"/>
                  <a:pt x="20" y="6373"/>
                  <a:pt x="15" y="6361"/>
                </a:cubicBezTo>
                <a:cubicBezTo>
                  <a:pt x="10" y="6349"/>
                  <a:pt x="6" y="6336"/>
                  <a:pt x="4" y="6324"/>
                </a:cubicBezTo>
                <a:cubicBezTo>
                  <a:pt x="1" y="6311"/>
                  <a:pt x="0" y="6298"/>
                  <a:pt x="0" y="6285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"/>
          <p:cNvSpPr txBox="1"/>
          <p:nvPr/>
        </p:nvSpPr>
        <p:spPr>
          <a:xfrm>
            <a:off x="695160" y="4343400"/>
            <a:ext cx="2258949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60a5fa"/>
                </a:solidFill>
                <a:effectLst/>
                <a:uFillTx/>
                <a:latin typeface="Noto Sans SC"/>
                <a:ea typeface="Noto Sans SC"/>
              </a:rPr>
              <a:t>已设计，待验证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"/>
          <p:cNvSpPr txBox="1"/>
          <p:nvPr/>
        </p:nvSpPr>
        <p:spPr>
          <a:xfrm>
            <a:off x="695160" y="4906800"/>
            <a:ext cx="3856482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DAC三控制点方案；4个代码注入点已定位；k=4判据通过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8" name=""/>
          <p:cNvSpPr/>
          <p:nvPr/>
        </p:nvSpPr>
        <p:spPr>
          <a:xfrm>
            <a:off x="6252840" y="1414440"/>
            <a:ext cx="5477400" cy="4981680"/>
          </a:xfrm>
          <a:custGeom>
            <a:avLst/>
            <a:gdLst/>
            <a:ahLst/>
            <a:rect l="0" t="0" r="r" b="b"/>
            <a:pathLst>
              <a:path w="15215" h="13838">
                <a:moveTo>
                  <a:pt x="0" y="13640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5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8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15016" y="0"/>
                </a:lnTo>
                <a:cubicBezTo>
                  <a:pt x="15030" y="0"/>
                  <a:pt x="15042" y="1"/>
                  <a:pt x="15055" y="3"/>
                </a:cubicBezTo>
                <a:cubicBezTo>
                  <a:pt x="15068" y="6"/>
                  <a:pt x="15080" y="10"/>
                  <a:pt x="15092" y="15"/>
                </a:cubicBezTo>
                <a:cubicBezTo>
                  <a:pt x="15104" y="20"/>
                  <a:pt x="15116" y="26"/>
                  <a:pt x="15127" y="33"/>
                </a:cubicBezTo>
                <a:cubicBezTo>
                  <a:pt x="15138" y="40"/>
                  <a:pt x="15148" y="48"/>
                  <a:pt x="15157" y="58"/>
                </a:cubicBezTo>
                <a:cubicBezTo>
                  <a:pt x="15166" y="67"/>
                  <a:pt x="15174" y="77"/>
                  <a:pt x="15181" y="88"/>
                </a:cubicBezTo>
                <a:cubicBezTo>
                  <a:pt x="15189" y="99"/>
                  <a:pt x="15195" y="110"/>
                  <a:pt x="15200" y="122"/>
                </a:cubicBezTo>
                <a:cubicBezTo>
                  <a:pt x="15205" y="134"/>
                  <a:pt x="15209" y="147"/>
                  <a:pt x="15211" y="159"/>
                </a:cubicBezTo>
                <a:cubicBezTo>
                  <a:pt x="15214" y="172"/>
                  <a:pt x="15215" y="185"/>
                  <a:pt x="15215" y="198"/>
                </a:cubicBezTo>
                <a:lnTo>
                  <a:pt x="15215" y="13640"/>
                </a:lnTo>
                <a:cubicBezTo>
                  <a:pt x="15215" y="13653"/>
                  <a:pt x="15214" y="13666"/>
                  <a:pt x="15211" y="13679"/>
                </a:cubicBezTo>
                <a:cubicBezTo>
                  <a:pt x="15209" y="13691"/>
                  <a:pt x="15205" y="13704"/>
                  <a:pt x="15200" y="13716"/>
                </a:cubicBezTo>
                <a:cubicBezTo>
                  <a:pt x="15195" y="13728"/>
                  <a:pt x="15189" y="13739"/>
                  <a:pt x="15181" y="13750"/>
                </a:cubicBezTo>
                <a:cubicBezTo>
                  <a:pt x="15174" y="13761"/>
                  <a:pt x="15166" y="13771"/>
                  <a:pt x="15157" y="13780"/>
                </a:cubicBezTo>
                <a:cubicBezTo>
                  <a:pt x="15148" y="13789"/>
                  <a:pt x="15138" y="13798"/>
                  <a:pt x="15127" y="13805"/>
                </a:cubicBezTo>
                <a:cubicBezTo>
                  <a:pt x="15116" y="13812"/>
                  <a:pt x="15104" y="13818"/>
                  <a:pt x="15092" y="13823"/>
                </a:cubicBezTo>
                <a:cubicBezTo>
                  <a:pt x="15080" y="13828"/>
                  <a:pt x="15068" y="13832"/>
                  <a:pt x="15055" y="13834"/>
                </a:cubicBezTo>
                <a:cubicBezTo>
                  <a:pt x="15042" y="13837"/>
                  <a:pt x="15030" y="13838"/>
                  <a:pt x="15016" y="13838"/>
                </a:cubicBezTo>
                <a:lnTo>
                  <a:pt x="199" y="13838"/>
                </a:lnTo>
                <a:cubicBezTo>
                  <a:pt x="186" y="13838"/>
                  <a:pt x="173" y="13837"/>
                  <a:pt x="160" y="13834"/>
                </a:cubicBezTo>
                <a:cubicBezTo>
                  <a:pt x="147" y="13832"/>
                  <a:pt x="135" y="13828"/>
                  <a:pt x="123" y="13823"/>
                </a:cubicBezTo>
                <a:cubicBezTo>
                  <a:pt x="111" y="13818"/>
                  <a:pt x="99" y="13812"/>
                  <a:pt x="89" y="13805"/>
                </a:cubicBezTo>
                <a:cubicBezTo>
                  <a:pt x="78" y="13798"/>
                  <a:pt x="68" y="13789"/>
                  <a:pt x="59" y="13780"/>
                </a:cubicBezTo>
                <a:cubicBezTo>
                  <a:pt x="49" y="13771"/>
                  <a:pt x="41" y="13761"/>
                  <a:pt x="34" y="13750"/>
                </a:cubicBezTo>
                <a:cubicBezTo>
                  <a:pt x="27" y="13739"/>
                  <a:pt x="20" y="13728"/>
                  <a:pt x="15" y="13716"/>
                </a:cubicBezTo>
                <a:cubicBezTo>
                  <a:pt x="11" y="13704"/>
                  <a:pt x="7" y="13691"/>
                  <a:pt x="4" y="13679"/>
                </a:cubicBezTo>
                <a:cubicBezTo>
                  <a:pt x="2" y="13666"/>
                  <a:pt x="0" y="13653"/>
                  <a:pt x="0" y="1364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blurRad="76200" dist="50800" dir="5400000" algn="tl" rotWithShape="0">
              <a:prstClr val="black">
                <a:alpha val="100000"/>
              </a:prstClr>
            </a:outerShdw>
          </a:effectLst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"/>
          <p:cNvSpPr/>
          <p:nvPr/>
        </p:nvSpPr>
        <p:spPr>
          <a:xfrm>
            <a:off x="6252840" y="1414440"/>
            <a:ext cx="5477400" cy="4981680"/>
          </a:xfrm>
          <a:custGeom>
            <a:avLst/>
            <a:gdLst/>
            <a:ahLst/>
            <a:rect l="0" t="0" r="r" b="b"/>
            <a:pathLst>
              <a:path fill="none" w="15215" h="13838">
                <a:moveTo>
                  <a:pt x="0" y="13640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5" y="122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8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15016" y="0"/>
                </a:lnTo>
                <a:cubicBezTo>
                  <a:pt x="15030" y="0"/>
                  <a:pt x="15042" y="1"/>
                  <a:pt x="15055" y="3"/>
                </a:cubicBezTo>
                <a:cubicBezTo>
                  <a:pt x="15068" y="6"/>
                  <a:pt x="15080" y="10"/>
                  <a:pt x="15092" y="15"/>
                </a:cubicBezTo>
                <a:cubicBezTo>
                  <a:pt x="15104" y="20"/>
                  <a:pt x="15116" y="26"/>
                  <a:pt x="15127" y="33"/>
                </a:cubicBezTo>
                <a:cubicBezTo>
                  <a:pt x="15138" y="40"/>
                  <a:pt x="15148" y="48"/>
                  <a:pt x="15157" y="58"/>
                </a:cubicBezTo>
                <a:cubicBezTo>
                  <a:pt x="15166" y="67"/>
                  <a:pt x="15174" y="77"/>
                  <a:pt x="15181" y="88"/>
                </a:cubicBezTo>
                <a:cubicBezTo>
                  <a:pt x="15189" y="99"/>
                  <a:pt x="15195" y="110"/>
                  <a:pt x="15200" y="122"/>
                </a:cubicBezTo>
                <a:cubicBezTo>
                  <a:pt x="15205" y="134"/>
                  <a:pt x="15209" y="147"/>
                  <a:pt x="15211" y="159"/>
                </a:cubicBezTo>
                <a:cubicBezTo>
                  <a:pt x="15214" y="172"/>
                  <a:pt x="15215" y="185"/>
                  <a:pt x="15215" y="198"/>
                </a:cubicBezTo>
                <a:lnTo>
                  <a:pt x="15215" y="13640"/>
                </a:lnTo>
                <a:cubicBezTo>
                  <a:pt x="15215" y="13653"/>
                  <a:pt x="15214" y="13666"/>
                  <a:pt x="15211" y="13679"/>
                </a:cubicBezTo>
                <a:cubicBezTo>
                  <a:pt x="15209" y="13691"/>
                  <a:pt x="15205" y="13704"/>
                  <a:pt x="15200" y="13716"/>
                </a:cubicBezTo>
                <a:cubicBezTo>
                  <a:pt x="15195" y="13728"/>
                  <a:pt x="15189" y="13739"/>
                  <a:pt x="15181" y="13750"/>
                </a:cubicBezTo>
                <a:cubicBezTo>
                  <a:pt x="15174" y="13761"/>
                  <a:pt x="15166" y="13771"/>
                  <a:pt x="15157" y="13780"/>
                </a:cubicBezTo>
                <a:cubicBezTo>
                  <a:pt x="15148" y="13789"/>
                  <a:pt x="15138" y="13798"/>
                  <a:pt x="15127" y="13805"/>
                </a:cubicBezTo>
                <a:cubicBezTo>
                  <a:pt x="15116" y="13812"/>
                  <a:pt x="15104" y="13818"/>
                  <a:pt x="15092" y="13823"/>
                </a:cubicBezTo>
                <a:cubicBezTo>
                  <a:pt x="15080" y="13828"/>
                  <a:pt x="15068" y="13832"/>
                  <a:pt x="15055" y="13834"/>
                </a:cubicBezTo>
                <a:cubicBezTo>
                  <a:pt x="15042" y="13837"/>
                  <a:pt x="15030" y="13838"/>
                  <a:pt x="15016" y="13838"/>
                </a:cubicBezTo>
                <a:lnTo>
                  <a:pt x="199" y="13838"/>
                </a:lnTo>
                <a:cubicBezTo>
                  <a:pt x="186" y="13838"/>
                  <a:pt x="173" y="13837"/>
                  <a:pt x="160" y="13834"/>
                </a:cubicBezTo>
                <a:cubicBezTo>
                  <a:pt x="147" y="13832"/>
                  <a:pt x="135" y="13828"/>
                  <a:pt x="123" y="13823"/>
                </a:cubicBezTo>
                <a:cubicBezTo>
                  <a:pt x="111" y="13818"/>
                  <a:pt x="99" y="13812"/>
                  <a:pt x="89" y="13805"/>
                </a:cubicBezTo>
                <a:cubicBezTo>
                  <a:pt x="78" y="13798"/>
                  <a:pt x="68" y="13789"/>
                  <a:pt x="59" y="13780"/>
                </a:cubicBezTo>
                <a:cubicBezTo>
                  <a:pt x="49" y="13771"/>
                  <a:pt x="41" y="13761"/>
                  <a:pt x="34" y="13750"/>
                </a:cubicBezTo>
                <a:cubicBezTo>
                  <a:pt x="27" y="13739"/>
                  <a:pt x="20" y="13728"/>
                  <a:pt x="15" y="13716"/>
                </a:cubicBezTo>
                <a:cubicBezTo>
                  <a:pt x="11" y="13704"/>
                  <a:pt x="7" y="13691"/>
                  <a:pt x="4" y="13679"/>
                </a:cubicBezTo>
                <a:cubicBezTo>
                  <a:pt x="2" y="13666"/>
                  <a:pt x="0" y="13653"/>
                  <a:pt x="0" y="13640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1" name=""/>
          <p:cNvSpPr txBox="1"/>
          <p:nvPr/>
        </p:nvSpPr>
        <p:spPr>
          <a:xfrm>
            <a:off x="6486480" y="1695600"/>
            <a:ext cx="968121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1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下一步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"/>
          <p:cNvSpPr txBox="1"/>
          <p:nvPr/>
        </p:nvSpPr>
        <p:spPr>
          <a:xfrm>
            <a:off x="6486480" y="241236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"/>
          <p:cNvSpPr txBox="1"/>
          <p:nvPr/>
        </p:nvSpPr>
        <p:spPr>
          <a:xfrm>
            <a:off x="6893280" y="2411280"/>
            <a:ext cx="36880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近期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"/>
          <p:cNvSpPr txBox="1"/>
          <p:nvPr/>
        </p:nvSpPr>
        <p:spPr>
          <a:xfrm>
            <a:off x="6893280" y="2687400"/>
            <a:ext cx="268033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M1远程sweep →完成「问题成立」实证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"/>
          <p:cNvSpPr txBox="1"/>
          <p:nvPr/>
        </p:nvSpPr>
        <p:spPr>
          <a:xfrm>
            <a:off x="6486480" y="316512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9" name=""/>
          <p:cNvSpPr txBox="1"/>
          <p:nvPr/>
        </p:nvSpPr>
        <p:spPr>
          <a:xfrm>
            <a:off x="6893280" y="3163680"/>
            <a:ext cx="36880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中期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0" name=""/>
          <p:cNvSpPr txBox="1"/>
          <p:nvPr/>
        </p:nvSpPr>
        <p:spPr>
          <a:xfrm>
            <a:off x="6893280" y="3449520"/>
            <a:ext cx="2920365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M2 DAC实现+消融→完成「解法有效」证明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6" name=""/>
          <p:cNvSpPr txBox="1"/>
          <p:nvPr/>
        </p:nvSpPr>
        <p:spPr>
          <a:xfrm>
            <a:off x="6486480" y="3917520"/>
            <a:ext cx="3017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b82f6"/>
                </a:solidFill>
                <a:effectLst/>
                <a:uFillTx/>
                <a:latin typeface="Noto Sans SC"/>
                <a:ea typeface="Noto Sans SC"/>
              </a:rPr>
              <a:t>03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7" name=""/>
          <p:cNvSpPr txBox="1"/>
          <p:nvPr/>
        </p:nvSpPr>
        <p:spPr>
          <a:xfrm>
            <a:off x="6893280" y="3916080"/>
            <a:ext cx="368808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远期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8" name=""/>
          <p:cNvSpPr txBox="1"/>
          <p:nvPr/>
        </p:nvSpPr>
        <p:spPr>
          <a:xfrm>
            <a:off x="6893280" y="4201920"/>
            <a:ext cx="2968371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M3真机集成+ SSD + top-1 →端到端主结果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