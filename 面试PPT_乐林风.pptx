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latin typeface="Segoe UI"/>
                <a:ea typeface="Microsoft YaHei"/>
                <a:solidFill>
                  <a:srgbClr val="FFFFFF"/>
                </a:solidFill>
              </a:rPr>
              <a:t>乐林风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应聘方向：大模型 / 推理优化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latin typeface="Segoe UI"/>
                <a:ea typeface="Microsoft YaHei"/>
                <a:solidFill>
                  <a:srgbClr val="C7D2DC"/>
                </a:solidFill>
              </a:rPr>
              <a:t>证据驱动的推理性能优化 · Profile → 归因 → 单点改动 → 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latin typeface="Segoe UI"/>
                <a:ea typeface="Microsoft YaHei"/>
                <a:solidFill>
                  <a:srgbClr val="C7D2DC"/>
                </a:solidFill>
              </a:rPr>
              <a:t>禾赛科技 · 算法工程师（实习）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自我介绍 ·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个人概况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教育：本科 重庆邮电大学 软件工程 → 硕士 电子科技大学 软件工程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现禾赛科技 算法工程师实习（约 </a:t>
            </a: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1.5 个月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两条主线：OpenMVG / CFM 推理链路优化 · loma.cpp 模型算子优化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OPENMVG / CFM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项目一总览：OpenMVG / CFM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10506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CFM = 大规模三维重建（SfM）</a:t>
            </a: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前端核心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：图像特征提取 + 匹配，提供几何约束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方法论：Profile 证据驱动 —— 测量→分析→改动→验证→再测量，</a:t>
            </a: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每次只改一个点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506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latin typeface="Segoe UI"/>
                <a:ea typeface="Microsoft YaHei"/>
                <a:solidFill>
                  <a:srgbClr val="0E3A5E"/>
                </a:solidFill>
              </a:rPr>
              <a:t>三次迭代路线图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8427" y="4114800"/>
            <a:ext cx="292608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0E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Segoe UI"/>
                <a:ea typeface="Microsoft YaHei"/>
                <a:solidFill>
                  <a:srgbClr val="0E3A5E"/>
                </a:solidFill>
              </a:rPr>
              <a:t>Serial</a:t>
            </a:r>
          </a:p>
          <a:p>
            <a:pPr algn="ctr"/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串行基线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507" y="4114800"/>
            <a:ext cx="566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latin typeface="Segoe UI"/>
                <a:ea typeface="Microsoft YaHei"/>
                <a:solidFill>
                  <a:srgbClr val="E8622C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1435" y="4114800"/>
            <a:ext cx="292608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0E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Segoe UI"/>
                <a:ea typeface="Microsoft YaHei"/>
                <a:solidFill>
                  <a:srgbClr val="0E3A5E"/>
                </a:solidFill>
              </a:rPr>
              <a:t>并行</a:t>
            </a:r>
          </a:p>
          <a:p>
            <a:pPr algn="ctr"/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Vfinal · Frontier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7515" y="4114800"/>
            <a:ext cx="566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latin typeface="Segoe UI"/>
                <a:ea typeface="Microsoft YaHei"/>
                <a:solidFill>
                  <a:srgbClr val="E8622C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443" y="4114800"/>
            <a:ext cx="292608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0E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Segoe UI"/>
                <a:ea typeface="Microsoft YaHei"/>
                <a:solidFill>
                  <a:srgbClr val="0E3A5E"/>
                </a:solidFill>
              </a:rPr>
              <a:t>合并 loma.cpp</a:t>
            </a:r>
          </a:p>
          <a:p>
            <a:pPr algn="ctr"/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LoMa-B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迭代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Serial 基线：用 Profile 定位瓶颈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流水线：CPU 解码 → PCIe 上传 GPU → DaD 检测 → DeDoDe-G 描述子 → LoMa Matcher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Nsight Systems 发现三大问题：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latin typeface="Segoe UI"/>
                <a:ea typeface="Microsoft YaHei"/>
                <a:solidFill>
                  <a:srgbClr val="6B7280"/>
                </a:solidFill>
              </a:rPr>
              <a:t>        –  </a:t>
            </a:r>
            <a:r>
              <a:rPr sz="1600" b="0">
                <a:latin typeface="Segoe UI"/>
                <a:ea typeface="Microsoft YaHei"/>
                <a:solidFill>
                  <a:srgbClr val="1A2332"/>
                </a:solidFill>
              </a:rPr>
              <a:t>CPU 解码抬高时延，同时 GPU 空闲等待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latin typeface="Segoe UI"/>
                <a:ea typeface="Microsoft YaHei"/>
                <a:solidFill>
                  <a:srgbClr val="6B7280"/>
                </a:solidFill>
              </a:rPr>
              <a:t>        –  </a:t>
            </a:r>
            <a:r>
              <a:rPr sz="1600" b="0">
                <a:latin typeface="Segoe UI"/>
                <a:ea typeface="Microsoft YaHei"/>
                <a:solidFill>
                  <a:srgbClr val="1A2332"/>
                </a:solidFill>
              </a:rPr>
              <a:t>CPU ↔ GPU IO 瓶颈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latin typeface="Segoe UI"/>
                <a:ea typeface="Microsoft YaHei"/>
                <a:solidFill>
                  <a:srgbClr val="6B7280"/>
                </a:solidFill>
              </a:rPr>
              <a:t>        –  </a:t>
            </a:r>
            <a:r>
              <a:rPr sz="1600" b="0">
                <a:latin typeface="Segoe UI"/>
                <a:ea typeface="Microsoft YaHei"/>
                <a:solidFill>
                  <a:srgbClr val="1A2332"/>
                </a:solidFill>
              </a:rPr>
              <a:t>中间结果常驻 GPU → 大规模下 OOM 风险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首个改动：解码 CPU → GPU，验证时延显著下降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迭代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Vfinal：Phase1 流水线并行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串行仍留 GPU 空洞 → 解码 ∥ 特征提取（逐步并行，保证可归因）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屋顶线分析：上传 IO 仍是主瓶颈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双 CUDA Stream：下批「上传 / nvJPEG 解码 / 预处理」与当前批「DaD / DeDoDe」重叠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结果：A/B 交替测试（排除 NAS 冷启动）→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30% 加速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，定版 Vfinal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迭代 ③（动机）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Frontier：为何要更深的并行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① 屋顶线互补：Matcher 访存密集、DaD/DeDoDe 计算密集 → </a:t>
            </a: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算力 + 显存双优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② 真流水线：中间结果不再常驻 → 理论上可处理</a:t>
            </a: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无限规模场景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③ 粒度细化：Phase 级 → </a:t>
            </a: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View 级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（Matcher 两个 view 就绪即可开跑）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迭代 ③（策略）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Frontier：策略设计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920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latin typeface="Segoe UI"/>
                <a:ea typeface="Microsoft YaHei"/>
                <a:solidFill>
                  <a:srgbClr val="0E3A5E"/>
                </a:solidFill>
              </a:rPr>
              <a:t>构建期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共视图重排调度器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BFS / RCM / 贪心最小前沿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取峰值驻留最小者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无解 fail-closed 拒绝运行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latin typeface="Segoe UI"/>
                <a:ea typeface="Microsoft YaHei"/>
                <a:solidFill>
                  <a:srgbClr val="0E3A5E"/>
                </a:solidFill>
              </a:rPr>
              <a:t>运行时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60604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依赖驱动 overlap（pair 就绪即调度）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三层有界背压 / 看门狗 / 迟滞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有界显存 cache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预取掩盖 H2D / 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920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08483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latin typeface="Segoe UI"/>
                <a:ea typeface="Microsoft YaHei"/>
                <a:solidFill>
                  <a:srgbClr val="0E3A5E"/>
                </a:solidFill>
              </a:rPr>
              <a:t>正确性门控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60604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bit-exact parity gate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Segoe UI"/>
                <a:ea typeface="Microsoft YaHei"/>
                <a:solidFill>
                  <a:srgbClr val="E8622C"/>
                </a:solidFill>
              </a:rPr>
              <a:t>· </a:t>
            </a:r>
            <a:r>
              <a:rPr sz="1350" b="0">
                <a:latin typeface="Segoe UI"/>
                <a:ea typeface="Microsoft YaHei"/>
                <a:solidFill>
                  <a:srgbClr val="1A2332"/>
                </a:solidFill>
              </a:rPr>
              <a:t>背压占比 ≤ 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800600"/>
            <a:ext cx="10506456" cy="777240"/>
          </a:xfrm>
          <a:prstGeom prst="roundRect">
            <a:avLst>
              <a:gd name="adj" fmla="val 12000"/>
            </a:avLst>
          </a:prstGeom>
          <a:solidFill>
            <a:srgbClr val="0E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latin typeface="Segoe UI"/>
                <a:ea typeface="Microsoft YaHei"/>
                <a:solidFill>
                  <a:srgbClr val="FFFFFF"/>
                </a:solidFill>
              </a:rPr>
              <a:t>结果：</a:t>
            </a:r>
            <a:r>
              <a:rPr sz="1700" b="1">
                <a:latin typeface="Segoe UI"/>
                <a:ea typeface="Microsoft YaHei"/>
                <a:solidFill>
                  <a:srgbClr val="FFB080"/>
                </a:solidFill>
              </a:rPr>
              <a:t>1.19–1.26×</a:t>
            </a:r>
            <a:r>
              <a:rPr sz="1700" b="0">
                <a:latin typeface="Segoe UI"/>
                <a:ea typeface="Microsoft YaHei"/>
                <a:solidFill>
                  <a:srgbClr val="FFFFFF"/>
                </a:solidFill>
              </a:rPr>
              <a:t>（30–50min 数据集），通过门控上线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项目一 · 迭代 ④（当前）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LoMa-B：接入优化模型 + 生产落地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接入 AI 算法组优化后的 loma.cpp，进入算子优化 + 生产开发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800" b="0">
                <a:latin typeface="Segoe UI"/>
                <a:ea typeface="Microsoft YaHei"/>
                <a:solidFill>
                  <a:srgbClr val="1A2332"/>
                </a:solidFill>
              </a:rPr>
              <a:t>硬件适配：4090 算力更强，显存带宽特性需进一步匹配优化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4200" b="1">
                <a:latin typeface="Segoe UI"/>
                <a:ea typeface="Microsoft YaHei"/>
                <a:solidFill>
                  <a:srgbClr val="E8622C"/>
                </a:solidFill>
              </a:rPr>
              <a:t>1.79×</a:t>
            </a:r>
          </a:p>
          <a:p>
            <a:pPr algn="ctr">
              <a:spcBef>
                <a:spcPts val="400"/>
              </a:spcBef>
            </a:pPr>
            <a:r>
              <a:rPr sz="1300" b="0">
                <a:latin typeface="Segoe UI"/>
                <a:ea typeface="Microsoft YaHei"/>
                <a:solidFill>
                  <a:srgbClr val="6B7280"/>
                </a:solidFill>
              </a:rPr>
              <a:t>相较 Serial · 端到端加速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4200" b="1">
                <a:latin typeface="Segoe UI"/>
                <a:ea typeface="Microsoft YaHei"/>
                <a:solidFill>
                  <a:srgbClr val="E8622C"/>
                </a:solidFill>
              </a:rPr>
              <a:t>−55%</a:t>
            </a:r>
          </a:p>
          <a:p>
            <a:pPr algn="ctr">
              <a:spcBef>
                <a:spcPts val="400"/>
              </a:spcBef>
            </a:pPr>
            <a:r>
              <a:rPr sz="1300" b="0">
                <a:latin typeface="Segoe UI"/>
                <a:ea typeface="Microsoft YaHei"/>
                <a:solidFill>
                  <a:srgbClr val="6B7280"/>
                </a:solidFill>
              </a:rPr>
              <a:t>显存占用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983480"/>
            <a:ext cx="10506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600" b="0">
                <a:latin typeface="Segoe UI"/>
                <a:ea typeface="Microsoft YaHei"/>
                <a:solidFill>
                  <a:srgbClr val="1A2332"/>
                </a:solidFill>
              </a:rPr>
              <a:t>待提升：理想干净串行 118s vs 实际 140s，仍有空间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LOMA.CPP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项目二总览：loma.cpp 模型推理优化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任务：Transformer 模型 从 PyTorch 原型 → 生产部署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三阶段：前两阶段特征提取（TensorRT）；核心是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Matcher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latin typeface="Segoe UI"/>
                <a:ea typeface="Microsoft YaHei"/>
                <a:solidFill>
                  <a:srgbClr val="6B7280"/>
                </a:solidFill>
              </a:rPr>
              <a:t>        –  </a:t>
            </a:r>
            <a:r>
              <a:rPr sz="1700" b="0">
                <a:latin typeface="Segoe UI"/>
                <a:ea typeface="Microsoft YaHei"/>
                <a:solidFill>
                  <a:srgbClr val="1A2332"/>
                </a:solidFill>
              </a:rPr>
              <a:t>Matcher = 标准 Transformer：Self / Cross-Attention + FFN + RoPE，序列 2048 tokens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基线：Matcher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37ms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，目标极致低延迟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挑战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FP8 Attention 算子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BF16 FlashAttention 已不错，但 Tensor Core 利用率仍有空间 → 探索 FP8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TensorRT-LLM FP8 FMHA 面向 Hopper，SM89（Ada Lovelace）不理想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基于 FA2 开发 SM89 专用 E4M3 FP8 kernel：QK / PV 用 FP8 MMA，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Softmax 保持 FP32 在线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结果：比 BF16 Flash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快 14.5%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挑战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连续 FP8 数据流（消除转换开销）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问题：层间 FP8 → BF16（残差 / 归一化）→ 重量化 FP8，产生冗余 Kernel Launch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方案：CUTLASS 自定义 Epilogue —— OutProjection GEMM 直接输出 E4M3 到下层输入 buffer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叠加 融合 FFN 残差 / 融合剪枝重映射 →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消除 32 次 Launch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意义：把 Matcher 推进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sub-2ms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 的关键一步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挑战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Top-K Token 剪枝（降 O(n²)）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分析中间状态：并非所有 token 对结果等量贡献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CUB Block-Radix 排序 Top-K：中间层有效序列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2048 → 512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后半段 Attention + FFN 计算量降到 </a:t>
            </a: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~1/4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900" b="0">
                <a:latin typeface="Segoe UI"/>
                <a:ea typeface="Microsoft YaHei"/>
                <a:solidFill>
                  <a:srgbClr val="1A2332"/>
                </a:solidFill>
              </a:rPr>
              <a:t>Kosmo 基准验证：AUC 差异 &lt; 1 个百分点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挑战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FP8 量化质量保障（PTQ）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两阶段 PTQ 校准管线：① AbsMax 快速估范围 → ② 8192-bin 直方图 </a:t>
            </a: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P99.99 分位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支持 per-tensor / per-channel 两种粒度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取舍：权重对称用 AbsMax；激活长尾用 P99.99 更稳定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多平台部署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YAML 驱动多精度路由：SM89 → FP8 + FA2 / SM80 → BF16 / SM90 → 原生 FP8，按架构自动选路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000" b="0">
                <a:latin typeface="Segoe UI"/>
                <a:ea typeface="Microsoft YaHei"/>
                <a:solidFill>
                  <a:srgbClr val="1A2332"/>
                </a:solidFill>
              </a:rPr>
              <a:t>内容寻址 TensorRT 引擎缓存：跨机器透明复用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项目二 ·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2455164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3200" b="1">
                <a:latin typeface="Segoe UI"/>
                <a:ea typeface="Microsoft YaHei"/>
                <a:solidFill>
                  <a:srgbClr val="E8622C"/>
                </a:solidFill>
              </a:rPr>
              <a:t>1.997ms</a:t>
            </a:r>
          </a:p>
          <a:p>
            <a:pPr algn="ctr">
              <a:spcBef>
                <a:spcPts val="400"/>
              </a:spcBef>
            </a:pPr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Matcher（37.3ms → 1.997ms）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5012" y="2148840"/>
            <a:ext cx="2455164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3200" b="1">
                <a:latin typeface="Segoe UI"/>
                <a:ea typeface="Microsoft YaHei"/>
                <a:solidFill>
                  <a:srgbClr val="E8622C"/>
                </a:solidFill>
              </a:rPr>
              <a:t>18.6×</a:t>
            </a:r>
          </a:p>
          <a:p>
            <a:pPr algn="ctr">
              <a:spcBef>
                <a:spcPts val="400"/>
              </a:spcBef>
            </a:pPr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加速比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148840"/>
            <a:ext cx="2455164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3200" b="1">
                <a:latin typeface="Segoe UI"/>
                <a:ea typeface="Microsoft YaHei"/>
                <a:solidFill>
                  <a:srgbClr val="E8622C"/>
                </a:solidFill>
              </a:rPr>
              <a:t>64.5ms</a:t>
            </a:r>
          </a:p>
          <a:p>
            <a:pPr algn="ctr">
              <a:spcBef>
                <a:spcPts val="400"/>
              </a:spcBef>
            </a:pPr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端到端 /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2540" y="2148840"/>
            <a:ext cx="2455164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</a:pPr>
            <a:r>
              <a:rPr sz="3200" b="1">
                <a:latin typeface="Segoe UI"/>
                <a:ea typeface="Microsoft YaHei"/>
                <a:solidFill>
                  <a:srgbClr val="E8622C"/>
                </a:solidFill>
              </a:rPr>
              <a:t>15.2</a:t>
            </a:r>
          </a:p>
          <a:p>
            <a:pPr algn="ctr">
              <a:spcBef>
                <a:spcPts val="400"/>
              </a:spcBef>
            </a:pPr>
            <a:r>
              <a:rPr sz="1200" b="0">
                <a:latin typeface="Segoe UI"/>
                <a:ea typeface="Microsoft YaHei"/>
                <a:solidFill>
                  <a:srgbClr val="6B7280"/>
                </a:solidFill>
              </a:rPr>
              <a:t>吞吐 pair/s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80560"/>
            <a:ext cx="10506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1700" b="0">
                <a:latin typeface="Segoe UI"/>
                <a:ea typeface="Microsoft YaHei"/>
                <a:solidFill>
                  <a:srgbClr val="1A2332"/>
                </a:solidFill>
              </a:rPr>
              <a:t>规模：约 24,000 行 C++ / CUDA，支持 SM80 / SM89 / SM90 三个平台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10506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latin typeface="Segoe UI"/>
                <a:ea typeface="Microsoft YaHei"/>
                <a:solidFill>
                  <a:srgbClr val="E8622C"/>
                </a:solidFill>
              </a:rPr>
              <a:t>总结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900" b="1">
                <a:latin typeface="Segoe UI"/>
                <a:ea typeface="Microsoft YaHei"/>
                <a:solidFill>
                  <a:srgbClr val="0E3A5E"/>
                </a:solidFill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868680" cy="54864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0645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100" b="0">
                <a:latin typeface="Segoe UI"/>
                <a:ea typeface="Microsoft YaHei"/>
                <a:solidFill>
                  <a:srgbClr val="1A2332"/>
                </a:solidFill>
              </a:rPr>
              <a:t>方法论：证据驱动的螺旋式优化，</a:t>
            </a: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每次只动一个变量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100" b="0">
                <a:latin typeface="Segoe UI"/>
                <a:ea typeface="Microsoft YaHei"/>
                <a:solidFill>
                  <a:srgbClr val="1A2332"/>
                </a:solidFill>
              </a:rPr>
              <a:t>关键数字：CFM 端到端 </a:t>
            </a: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1.79×</a:t>
            </a:r>
            <a:r>
              <a:rPr sz="2100" b="0">
                <a:latin typeface="Segoe UI"/>
                <a:ea typeface="Microsoft YaHei"/>
                <a:solidFill>
                  <a:srgbClr val="1A2332"/>
                </a:solidFill>
              </a:rPr>
              <a:t> / 显存 </a:t>
            </a: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−55%</a:t>
            </a:r>
            <a:r>
              <a:rPr sz="2100" b="0">
                <a:latin typeface="Segoe UI"/>
                <a:ea typeface="Microsoft YaHei"/>
                <a:solidFill>
                  <a:srgbClr val="1A2332"/>
                </a:solidFill>
              </a:rPr>
              <a:t>；Matcher </a:t>
            </a: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18.6×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latin typeface="Segoe UI"/>
                <a:ea typeface="Microsoft YaHei"/>
                <a:solidFill>
                  <a:srgbClr val="E8622C"/>
                </a:solidFill>
              </a:rPr>
              <a:t>▪  </a:t>
            </a:r>
            <a:r>
              <a:rPr sz="2100" b="0">
                <a:latin typeface="Segoe UI"/>
                <a:ea typeface="Microsoft YaHei"/>
                <a:solidFill>
                  <a:srgbClr val="1A2332"/>
                </a:solidFill>
              </a:rPr>
              <a:t>谢谢 · 欢迎提问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latin typeface="Segoe UI"/>
                <a:ea typeface="Microsoft YaHei"/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latin typeface="Segoe UI"/>
                <a:ea typeface="Microsoft YaHei"/>
                <a:solidFill>
                  <a:srgbClr val="6B7280"/>
                </a:solidFill>
              </a:rPr>
              <a:t>乐林风 · 推理优化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